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has a research question with a numeric threshold, stated before measurement. That is what lifts it above a plain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what happens when the result is a net loss: that IS the finding. It quantifies why hash functions parallelise badly within a single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Chaves 2006 is the paper to know. If asked how to shorten the critical path without unrolling, operation rescheduling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EVERY CITATION before the review. FIPS 180-4 is certain; the conference papers need year and venue confirmed on IEEE Xplore or IACR 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64592" cy="164592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118872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4" name="Shape 2"/>
          <p:cNvSpPr/>
          <p:nvPr/>
        </p:nvSpPr>
        <p:spPr>
          <a:xfrm>
            <a:off x="1170432" y="118872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118872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188720"/>
            <a:ext cx="164592" cy="164592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18872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8" name="Shape 6"/>
          <p:cNvSpPr/>
          <p:nvPr/>
        </p:nvSpPr>
        <p:spPr>
          <a:xfrm>
            <a:off x="2048256" y="118872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9" name="Shape 7"/>
          <p:cNvSpPr/>
          <p:nvPr/>
        </p:nvSpPr>
        <p:spPr>
          <a:xfrm>
            <a:off x="2267712" y="118872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731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FPGA-BASED SYSTEM DESIGN  ·  PROJECT REVIEW 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Unrolling Analysis of 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Hardware Accelerator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unrolling pay when the rounds are strictly sequential?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133088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2283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330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cycles vs 34 cycles  ·  zero DSP48  ·  FIPS 180-4 verified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5367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23BEC1368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DEVICE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5367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ZedBoard  ·  XC7Z020-1CLG484C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5367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2022.2  ·  Vitis 2022.2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5120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8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98280" y="5367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417320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4E9EE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16824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A39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26464" y="16002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26464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hashes resist parallelisation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4E9EE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4808" y="16824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A39B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0024" y="16002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0024" y="19202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inequality, stated before measuring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587752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26464" y="2770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26464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clusters, 22 works reviewed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587752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4808" y="28529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29" name="Text 27"/>
          <p:cNvSpPr/>
          <p:nvPr/>
        </p:nvSpPr>
        <p:spPr>
          <a:xfrm>
            <a:off x="6464808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50024" y="2770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0024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mature field — what I can honestly claim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758184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4023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26464" y="3941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Architecture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26464" y="42611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round, and two ways to build 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758184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64808" y="40233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39" name="Text 37"/>
          <p:cNvSpPr/>
          <p:nvPr/>
        </p:nvSpPr>
        <p:spPr>
          <a:xfrm>
            <a:off x="646480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50024" y="39410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&amp; RTL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50024" y="42611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goes into the fabric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4928616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1248" y="51937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5193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26464" y="51114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Spec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426464" y="54315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resources and toolchain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4928616"/>
            <a:ext cx="5349240" cy="969264"/>
          </a:xfrm>
          <a:prstGeom prst="roundRect">
            <a:avLst>
              <a:gd name="adj" fmla="val 3774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64808" y="51937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49" name="Text 47"/>
          <p:cNvSpPr/>
          <p:nvPr/>
        </p:nvSpPr>
        <p:spPr>
          <a:xfrm>
            <a:off x="6464808" y="5193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050024" y="511149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Timeline, Evaluation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50024" y="54315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180-4 conformance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first, before any solution is proposed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10972800" cy="1133856"/>
          </a:xfrm>
          <a:prstGeom prst="roundRect">
            <a:avLst>
              <a:gd name="adj" fmla="val 3226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1444752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5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 cipher in ECB mode unrolls and pipelines cleanly. </a:t>
            </a:r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075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hash function cannot — and that constraint is the whole project.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2706624"/>
            <a:ext cx="10972800" cy="100584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2990088"/>
            <a:ext cx="475488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9900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81328" y="2834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rounds are strictly data-dependent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81328" y="3136392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t+1 consumes the working variables produced by round t. Two unrolled rounds cannot be separated by a pipeline register without forfeiting the cycle-count saving that motivated unrolling in the first place.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58768"/>
            <a:ext cx="10972800" cy="100584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142232"/>
            <a:ext cx="475488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4223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1328" y="398678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chain through the hash value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81328" y="4288536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across 512-bit blocks the chaining value carries forward, so a single message cannot be split across parallel engines. Only INDEPENDENT messages parallelise.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010912"/>
            <a:ext cx="10972800" cy="100584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5294376"/>
            <a:ext cx="475488" cy="438912"/>
          </a:xfrm>
          <a:prstGeom prst="roundRect">
            <a:avLst>
              <a:gd name="adj" fmla="val 16667"/>
            </a:avLst>
          </a:prstGeom>
          <a:solidFill>
            <a:srgbClr val="2B4257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29437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81328" y="51389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is addition, and addition stacks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81328" y="5440680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rotations free and the logical functions shallow, the entire round delay is the five-input modulo-2³² sum forming T1. Unrolling puts two of those chains in series.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Question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inequality — declared before the measurement is taken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10972800" cy="1737360"/>
          </a:xfrm>
          <a:prstGeom prst="roundRect">
            <a:avLst>
              <a:gd name="adj" fmla="val 2105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14813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 needs 1.94× fewer cycles per block.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maximum frequency will be lower. Is the product a net gain?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128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6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Fmax(B)  /  Fmax(A)     &gt;     34 / 66     =     0.515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268833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threshold → unrolling is a net WIN    ·    below it → a net LOSS, which is a valid and reportable finding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10972800" cy="1371600"/>
          </a:xfrm>
          <a:prstGeom prst="roundRect">
            <a:avLst>
              <a:gd name="adj" fmla="val 2667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4381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block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— MEASURED IN SIM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20440" y="34381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52044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block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 — MEASURED IN SIM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343814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1.94×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1792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cycles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15400" y="34381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E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915400" y="4114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retention needed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BREAK-EVEN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882896"/>
            <a:ext cx="10972800" cy="1207008"/>
          </a:xfrm>
          <a:prstGeom prst="roundRect">
            <a:avLst>
              <a:gd name="adj" fmla="val 3030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9743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stating the threshold in advance matters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526694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implementation reports measure first and rationalise afterwards. Deriving the break-even condition from the cycle counts BEFORE synthesis turns this from a description into an experiment with a falsifiable prediction — and it means a negative result is still a result. Both configurations are built from the identical round module, so only unroll depth varies and the comparison is genuinely controlled.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has a pass/fail criterion, not a subjective one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44752"/>
          <a:ext cx="10972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892040"/>
                <a:gridCol w="5394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 success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the six logical functions and the K constant 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matches the golden model; K ROM matches FIPS 180-4 §4.2.2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the rolling sixteen-word message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W[0..63] matches the golden schedule for a known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Configuration A — iterative, one round per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digest for all NIST vectors; 66 cycles per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Configuration B — two rounds per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Bit-identical digest to Config A; 34 cycles per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over AXI4-Lite and AXI4-Stream / DMA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Arbitrary-length message hashed correctly on 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 whether unrolling 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Post-route Fmax and area for both; compared against 0.515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" y="5486400"/>
            <a:ext cx="10972800" cy="603504"/>
          </a:xfrm>
          <a:prstGeom prst="roundRect">
            <a:avLst>
              <a:gd name="adj" fmla="val 6061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548640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 </a:t>
            </a:r>
            <a:pPr indent="0" marL="0">
              <a:buNone/>
            </a:pPr>
            <a:r>
              <a:rPr lang="en-US" sz="11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ZedBoard hashes a message typed over UART and returns a digest matching the NIST reference, with both configurations synthesised under identical constraints and their frequencies compared against the stated threshold.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I — Specification &amp; Context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A: the authoritative ground truth this project verifies against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44752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4206240"/>
                <a:gridCol w="40233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FIPS PUB 180-4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Secure Hash Standard: padding §5.1.1, initial values §5.3.3, K constants §4.2.2, logical functions §4.1.2, compression §6.2.2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REFERENCE. The whole verification strategy derives from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CAVP — Secure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Hashing test vectors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Short-message, long-message and Monte Carlo vector 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long-message set exercises MULTI-BLOCK CHAINING, which single-block vectors do not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strengths and appropriate uses of approved hashes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SHA-256 specifically over SHA-1 or SHA-3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Wang, Yin &amp; Yu 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collision attack on full SHA-1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field migrated to SHA-2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Stevens et al. 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(SHAttered)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practical SHA-1 collision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motivational sentence: SHA-256 is necessary, not merely conventional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" y="5779008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5779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 constants are "nothing up my sleeve" numbers — the fractional cube roots of the first 64 primes, derived by a publicly verifiable procedure so no hidden trapdoor can be alleged.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II — Critical-Path Optimisation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B: every serious SHA-2 hardware paper is about shortening the adder chain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44752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397764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bears on 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Chaves, Kuzmanov,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Sousa &amp; Vassiliadis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 2006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RESCHEDULING — precompute part of T1 one cycle ahead so the adder chain splits across the register boundary, shortening the path without changing the round 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relevant paper. The obvious "how would you improve it" answer, and this project's documented future 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Dadda, Macchetti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Owen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2004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Carry-save adder trees in the compression function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five-input sum is the bottleneck; CSA is the standard remedy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McEvoy, Crowe,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Murphy &amp; Marnane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ISVLSI 2006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FPGA-specific optimisation: pipeline the message schedule separately from the compression and balance the two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the finding that the SCHEDULE unrolls for free while the COMPRESSION does not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Michail, Kakarountas,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Milidonis &amp; Goutis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TDSC 2009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top-down methodology for unrolling and pipelining hash cores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Design-space taxonomy and terminology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Sklavos &amp;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Koufopavlou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ISCAS 2003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comparative implementation across the SHA-2 family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area figures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III — Why Hashes Resist Unrolling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C: the structural argument at the centre of this project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408176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7780">
            <a:solidFill>
              <a:srgbClr val="00A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08176"/>
            <a:ext cx="5349240" cy="420624"/>
          </a:xfrm>
          <a:prstGeom prst="roundRect">
            <a:avLst>
              <a:gd name="adj" fmla="val 10870"/>
            </a:avLst>
          </a:prstGeom>
          <a:solidFill>
            <a:srgbClr val="00A39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08176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  ·  AES-ECB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one another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536" y="23957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 rounds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separated by registers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9536" y="2834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depth per stage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CONSTANT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9536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frequency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9536" y="3712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area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712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linearly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1408176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7780">
            <a:solidFill>
              <a:srgbClr val="DE9A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408176"/>
            <a:ext cx="5349240" cy="420624"/>
          </a:xfrm>
          <a:prstGeom prst="roundRect">
            <a:avLst>
              <a:gd name="adj" fmla="val 10870"/>
            </a:avLst>
          </a:prstGeom>
          <a:solidFill>
            <a:srgbClr val="DE9A3E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08176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FUNCTION  ·  SHA-256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83096" y="1956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06840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t+1 consumes round 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83096" y="23957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 rounds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00684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would forfeit the saving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83096" y="2834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depth per stage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006840" y="2834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83096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frequency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00684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FALL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83096" y="3712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area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06840" y="3712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project answers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4443984"/>
            <a:ext cx="10972800" cy="859536"/>
          </a:xfrm>
          <a:prstGeom prst="roundRect">
            <a:avLst>
              <a:gd name="adj" fmla="val 4255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68680" y="4443984"/>
            <a:ext cx="10515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DOES unroll for free:  </a:t>
            </a:r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schedule. W[t+16] and W[t+17] both depend only on the current sixteen-word window, so the two schedule adders run in parallel with no serial dependency. Compression is the bottleneck; the schedule is not. Identifying exactly where the dependency lives is a substantive part of the analysis.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449824"/>
            <a:ext cx="10972800" cy="749808"/>
          </a:xfrm>
          <a:prstGeom prst="roundRect">
            <a:avLst>
              <a:gd name="adj" fmla="val 4878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8680" y="544982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way to make a hash fast:  </a:t>
            </a:r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multi-stream interleaving. Independent MESSAGES have no dependency, so N of them pipeline perfectly through an N-stage round unit — N× throughput for N× registers but the same round logic. This is what high-throughput hashing hardware does, and it is this project's documented future work.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343B4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343B4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343B4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343B4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343B4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343B4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hardware is a mature field — here is what I can honestly claim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— NOT CLAIMED AS NOVEL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1828800"/>
            <a:ext cx="5303520" cy="530352"/>
          </a:xfrm>
          <a:prstGeom prst="roundRect">
            <a:avLst>
              <a:gd name="adj" fmla="val 6897"/>
            </a:avLst>
          </a:prstGeom>
          <a:solidFill>
            <a:srgbClr val="22283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18288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five-input T1 addition is the critical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5303520" cy="530352"/>
          </a:xfrm>
          <a:prstGeom prst="roundRect">
            <a:avLst>
              <a:gd name="adj" fmla="val 6897"/>
            </a:avLst>
          </a:prstGeom>
          <a:solidFill>
            <a:srgbClr val="22283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4688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rescheduling and CSA shorten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5303520" cy="530352"/>
          </a:xfrm>
          <a:prstGeom prst="roundRect">
            <a:avLst>
              <a:gd name="adj" fmla="val 6897"/>
            </a:avLst>
          </a:prstGeom>
          <a:solidFill>
            <a:srgbClr val="22283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1089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compression optimise differently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5303520" cy="530352"/>
          </a:xfrm>
          <a:prstGeom prst="roundRect">
            <a:avLst>
              <a:gd name="adj" fmla="val 6897"/>
            </a:avLst>
          </a:prstGeom>
          <a:solidFill>
            <a:srgbClr val="22283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490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iterative 1-round-per-cycle baseline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CONTRIBUTES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5303520" cy="2542032"/>
          </a:xfrm>
          <a:prstGeom prst="roundRect">
            <a:avLst>
              <a:gd name="adj" fmla="val 1799"/>
            </a:avLst>
          </a:prstGeom>
          <a:solidFill>
            <a:srgbClr val="262D36"/>
          </a:solidFill>
          <a:ln w="19050">
            <a:solidFill>
              <a:srgbClr val="00A3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20665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A39B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01168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falsifiable prediction with a numeric threshold, stated BEFORE measuring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37960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A39B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258775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comparison — both configs share the identical round module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37960" y="32186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A39B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16382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verification at eight levels, not end-to-end digest alone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3794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A39B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373989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of the modest software speedup, with the structural reason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4645152"/>
            <a:ext cx="10972800" cy="1463040"/>
          </a:xfrm>
          <a:prstGeom prst="roundRect">
            <a:avLst>
              <a:gd name="adj" fmla="val 3125"/>
            </a:avLst>
          </a:prstGeom>
          <a:solidFill>
            <a:srgbClr val="222831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645152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claim: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options for SHA-2 were mapped between 2002 and 2009. I claim no new architecture and no record throughput. I claim a stated hypothesis, a controlled experiment, exhaustive verification and honest measurement on current silicon — a claim that survives questioning, which an inflated one would not.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Compression Round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Sixty-four rounds — but six of the eight variable updates are free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10972800" cy="1463040"/>
          </a:xfrm>
          <a:prstGeom prst="roundRect">
            <a:avLst>
              <a:gd name="adj" fmla="val 2500"/>
            </a:avLst>
          </a:prstGeom>
          <a:solidFill>
            <a:srgbClr val="F9FAFC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1463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 =  h + Σ₁(e) + Ch(e,f,g) + K[t] + W[t]          ← the critical path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  =  Σ₀(a) + Maj(a,b,c)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h:=g   g:=f   f:=e   e:=d+T1   d:=c   c:=b   b:=a   a:=T1+T2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2615184" cy="1975104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5875">
            <a:solidFill>
              <a:srgbClr val="00A3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17520"/>
            <a:ext cx="2615184" cy="384048"/>
          </a:xfrm>
          <a:prstGeom prst="roundRect">
            <a:avLst>
              <a:gd name="adj" fmla="val 11905"/>
            </a:avLst>
          </a:prstGeom>
          <a:solidFill>
            <a:srgbClr val="00A39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Ch, Maj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511296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choose and majority. Ch is a 2:1 mux with x as select; Maj is a 3-input majority gate.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45537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LUT per bit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38144" y="3017520"/>
            <a:ext cx="2615184" cy="1975104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5875">
            <a:solidFill>
              <a:srgbClr val="00A3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3017520"/>
            <a:ext cx="2615184" cy="384048"/>
          </a:xfrm>
          <a:prstGeom prst="roundRect">
            <a:avLst>
              <a:gd name="adj" fmla="val 11905"/>
            </a:avLst>
          </a:prstGeom>
          <a:solidFill>
            <a:srgbClr val="00A39B"/>
          </a:solidFill>
          <a:ln/>
        </p:spPr>
      </p:sp>
      <p:sp>
        <p:nvSpPr>
          <p:cNvPr id="22" name="Text 20"/>
          <p:cNvSpPr/>
          <p:nvPr/>
        </p:nvSpPr>
        <p:spPr>
          <a:xfrm>
            <a:off x="3438144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Σ₀, Σ₁, σ₀, σ₁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21024" y="3511296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Three-input XOR of rewired copies of one operand. ROTR and SHR are fixed reorderings.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21024" y="45537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LUT each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3017520"/>
            <a:ext cx="2615184" cy="1975104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5875">
            <a:solidFill>
              <a:srgbClr val="DE9A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3017520"/>
            <a:ext cx="2615184" cy="384048"/>
          </a:xfrm>
          <a:prstGeom prst="roundRect">
            <a:avLst>
              <a:gd name="adj" fmla="val 11905"/>
            </a:avLst>
          </a:prstGeom>
          <a:solidFill>
            <a:srgbClr val="DE9A3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five-input add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19088" y="3511296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Modulo-2³² sum of five 32-bit terms. This dominates the round delay entirely.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19088" y="45537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34272" y="3017520"/>
            <a:ext cx="2615184" cy="1975104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15875">
            <a:solidFill>
              <a:srgbClr val="00A3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34272" y="3017520"/>
            <a:ext cx="2615184" cy="384048"/>
          </a:xfrm>
          <a:prstGeom prst="roundRect">
            <a:avLst>
              <a:gd name="adj" fmla="val 11905"/>
            </a:avLst>
          </a:prstGeom>
          <a:solidFill>
            <a:srgbClr val="00A39B"/>
          </a:solidFill>
          <a:ln/>
        </p:spPr>
      </p:sp>
      <p:sp>
        <p:nvSpPr>
          <p:cNvPr id="32" name="Text 30"/>
          <p:cNvSpPr/>
          <p:nvPr/>
        </p:nvSpPr>
        <p:spPr>
          <a:xfrm>
            <a:off x="9034272" y="30175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renames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17152" y="3511296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b:=a, c:=b, d:=c, f:=e, g:=f, h:=g are wire connections, not logic.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17152" y="45537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517550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17550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there are no DSP slices:  </a:t>
            </a:r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contains no multiplication anywhere. Only 32-bit addition, XOR, AND, and fixed bit reorderings. With the rotations free and the logical functions one LUT deep, the entire cost of the design is addition — which is precisely why unrolling is expensive.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Configurations, Identical Round Module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unroll depth and control differ — so the comparison is controlled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408176"/>
            <a:ext cx="5349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7780">
            <a:solidFill>
              <a:srgbClr val="00A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08176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00A39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463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171907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— 1 round / cycle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2121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instances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1214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with feedback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2487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block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487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  (1 load + 64 + 1 update)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8529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5-input adder chain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3218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@ 100 MHz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218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776 Mbps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3584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core LUT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5844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1,150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" y="3950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950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408176"/>
            <a:ext cx="5349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7780">
            <a:solidFill>
              <a:srgbClr val="DE9A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408176"/>
            <a:ext cx="5349240" cy="603504"/>
          </a:xfrm>
          <a:prstGeom prst="roundRect">
            <a:avLst>
              <a:gd name="adj" fmla="val 7576"/>
            </a:avLst>
          </a:prstGeom>
          <a:solidFill>
            <a:srgbClr val="DE9A3E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14630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46520" y="171907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unrolled — 2 rounds / cycle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83096" y="2121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instances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23960" y="21214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chained combinationally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83096" y="24871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per block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23960" y="2487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 (1 load + 32 + 1 update)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83096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3960" y="28529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chains in series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83096" y="32186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if Fmax held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823960" y="32186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1.51 Gbps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83096" y="3584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core LUT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823960" y="35844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1,950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83096" y="3950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823960" y="39502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4773168"/>
            <a:ext cx="10972800" cy="1316736"/>
          </a:xfrm>
          <a:prstGeom prst="roundRect">
            <a:avLst>
              <a:gd name="adj" fmla="val 2778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68680" y="4864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schedule, by contrast, unrolls for free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68680" y="5157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w_new1 = σ₁(w[14]) + w[9]  + σ₀(w[1]) + w[0]        w_new2 = σ₁(w[15]) + w[10] + σ₀(w[2]) + w[1]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68680" y="54681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depend only on the CURRENT window contents, so the two schedule adders run in parallel with no serial dependency. Only the compression rounds stack — which is exactly where the frequency cost comes from.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PS-PL co-design — Vivado for the fabric, Vitis for the processor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408176"/>
            <a:ext cx="3566160" cy="4480560"/>
          </a:xfrm>
          <a:prstGeom prst="roundRect">
            <a:avLst>
              <a:gd name="adj" fmla="val 1282"/>
            </a:avLst>
          </a:prstGeom>
          <a:solidFill>
            <a:srgbClr val="E4E9EE"/>
          </a:solidFill>
          <a:ln w="12700">
            <a:solidFill>
              <a:srgbClr val="2B42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SYSTEM (PS)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1865376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1901952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2688" y="213055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 MHz, bare-metal Vitis app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" y="2432304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46888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padding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2697480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180-4 §5.1.1, in software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2999232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03580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streaming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2688" y="3264408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512-bit blocks → AXI DMA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" y="3566160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602736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readback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3831336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bits over AXI4-Lite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" y="4133088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4169664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verification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688" y="4398264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reference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" y="4700016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736592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SHA-256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2688" y="4965192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speedup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" y="5266944"/>
            <a:ext cx="3200400" cy="484632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30352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report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2688" y="5532120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+ throughput, 115200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70832" y="1408176"/>
            <a:ext cx="1051560" cy="4480560"/>
          </a:xfrm>
          <a:prstGeom prst="roundRect">
            <a:avLst>
              <a:gd name="adj" fmla="val 4348"/>
            </a:avLst>
          </a:prstGeom>
          <a:solidFill>
            <a:srgbClr val="00A39B"/>
          </a:solidFill>
          <a:ln/>
        </p:spPr>
      </p:sp>
      <p:sp>
        <p:nvSpPr>
          <p:cNvPr id="37" name="Text 35"/>
          <p:cNvSpPr/>
          <p:nvPr/>
        </p:nvSpPr>
        <p:spPr>
          <a:xfrm>
            <a:off x="4370832" y="1408176"/>
            <a:ext cx="1051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digest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AXI DMA</a:t>
            </a:r>
            <a:endParaRPr lang="en-US" sz="950" dirty="0"/>
          </a:p>
          <a:p>
            <a:pPr algn="ctr" indent="0" marL="0">
              <a:buNone/>
            </a:pP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AXI-HP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86984" y="1408176"/>
            <a:ext cx="6025896" cy="4480560"/>
          </a:xfrm>
          <a:prstGeom prst="roundRect">
            <a:avLst>
              <a:gd name="adj" fmla="val 1020"/>
            </a:avLst>
          </a:prstGeom>
          <a:solidFill>
            <a:srgbClr val="E4E9EE"/>
          </a:solidFill>
          <a:ln w="12700">
            <a:solidFill>
              <a:srgbClr val="2B42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151790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LOGIC (PL)  —  XC7Z020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69864" y="1865376"/>
            <a:ext cx="566013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1920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Register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97880" y="2176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· start · status · digest[255:0]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769864" y="2523744"/>
            <a:ext cx="566013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25786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AXI4-Stream Slave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97880" y="28346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512-bit block in, TLAST framing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69864" y="3182112"/>
            <a:ext cx="5660136" cy="566928"/>
          </a:xfrm>
          <a:prstGeom prst="roundRect">
            <a:avLst>
              <a:gd name="adj" fmla="val 6452"/>
            </a:avLst>
          </a:prstGeom>
          <a:solidFill>
            <a:srgbClr val="E3F3F1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3236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SCHEDULE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97880" y="34930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16-word window · σ₀, σ₁ · 4-input add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69864" y="3840480"/>
            <a:ext cx="5660136" cy="566928"/>
          </a:xfrm>
          <a:prstGeom prst="roundRect">
            <a:avLst>
              <a:gd name="adj" fmla="val 6452"/>
            </a:avLst>
          </a:prstGeom>
          <a:solidFill>
            <a:srgbClr val="FBF3E6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38953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ROUND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415137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· Maj · Σ₀ · Σ₁ · T1 five-input add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769864" y="4498848"/>
            <a:ext cx="5660136" cy="566928"/>
          </a:xfrm>
          <a:prstGeom prst="roundRect">
            <a:avLst>
              <a:gd name="adj" fmla="val 6452"/>
            </a:avLst>
          </a:prstGeom>
          <a:solidFill>
            <a:srgbClr val="FBF3E6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45537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A: ×1     CONFIG B: ×2 chained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97880" y="48097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round module, different unroll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69864" y="5157216"/>
            <a:ext cx="566013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6CD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97880" y="52120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VALUE H0..H7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97880" y="546811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32-bit accumulate, carries across blocks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0080" y="6016752"/>
            <a:ext cx="10972800" cy="420624"/>
          </a:xfrm>
          <a:prstGeom prst="roundRect">
            <a:avLst>
              <a:gd name="adj" fmla="val 8696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68680" y="6016752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is performed by the PS, not the PL — a deliberate scope decision. Padding is byte-alignment bookkeeping; compression is the expensive part.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I — Ch and Maj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logical functions, exhaustively — one LUT per bit each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Ch(x,y,z) = (x AND y) XOR (NOT x AND z)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00784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640080"/>
                <a:gridCol w="28346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Behaviour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x=0 → select z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x=0 → select z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x=0 → select z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x=0 → select z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x=1 → select 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x=1 → select 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x=1 → select 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x=1 → select 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Maj(x,y,z) = (x·y) XOR (x·z) XOR (y·z)</a:t>
            </a:r>
            <a:endParaRPr lang="en-US" sz="12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700784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73152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Maj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Ones 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40080" y="4370832"/>
            <a:ext cx="5120640" cy="1719072"/>
          </a:xfrm>
          <a:prstGeom prst="roundRect">
            <a:avLst>
              <a:gd name="adj" fmla="val 2128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1248" y="448056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is a multiplexer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41248" y="4773168"/>
            <a:ext cx="4718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by the x column: when x = 0 the output tracks z exactly; when x = 1 it tracks 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is therefore a bitwise 2:1 multiplexer with x as the select line — 32 multiplexers, one LUT each.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4370832"/>
            <a:ext cx="5120640" cy="1719072"/>
          </a:xfrm>
          <a:prstGeom prst="roundRect">
            <a:avLst>
              <a:gd name="adj" fmla="val 2128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327648" y="448056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is a majority gate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27648" y="4773168"/>
            <a:ext cx="4718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1 exactly when two or more inputs are 1 — visible in the rightmost column.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3-input function fits one 6-LUT with three inputs to spare, so Maj also costs 32 LUTs for the full word.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II — Why Rotation Costs Nothing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 mapping for Σ₀, showing it is routing rather than logic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371600"/>
            <a:ext cx="10972800" cy="603504"/>
          </a:xfrm>
          <a:prstGeom prst="roundRect">
            <a:avLst>
              <a:gd name="adj" fmla="val 6061"/>
            </a:avLst>
          </a:prstGeom>
          <a:solidFill>
            <a:srgbClr val="F9FAFC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1371600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Σ₀(x)  =  ROTR²(x)  XOR  ROTR¹³(x)  XOR  ROTR²²(x)          out[i] = x[(i+2) mod 32] ⊕ x[(i+13) mod 32] ⊕ x[(i+22) mod 32]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040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280160"/>
                <a:gridCol w="1280160"/>
                <a:gridCol w="18745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 bit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 ROTR²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 ROTR¹³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 ROTR²²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Logic required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out[0]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x[13]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x[22]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3-input XOR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x[14]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x[23]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3-input XOR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out[9]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x[11]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x[22]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x[31]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3-input XOR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out[10]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x[12]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x[23]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x[0]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3-input XOR  ← wraps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out[31]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x[12]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x[21]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3-input XOR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882128" y="2103120"/>
            <a:ext cx="3730752" cy="2304288"/>
          </a:xfrm>
          <a:prstGeom prst="roundRect">
            <a:avLst>
              <a:gd name="adj" fmla="val 1984"/>
            </a:avLst>
          </a:prstGeom>
          <a:solidFill>
            <a:srgbClr val="E3F3F1"/>
          </a:solidFill>
          <a:ln/>
        </p:spPr>
      </p:sp>
      <p:sp>
        <p:nvSpPr>
          <p:cNvPr id="17" name="Text 14"/>
          <p:cNvSpPr/>
          <p:nvPr/>
        </p:nvSpPr>
        <p:spPr>
          <a:xfrm>
            <a:off x="8083296" y="221284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83296" y="2505456"/>
            <a:ext cx="332841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index is a COMPILE-TIME CONSTANT.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rotation itself is wires — zero LUTs, zero flip-flops, zero delay.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logic in a whole Σ function is one 3-input XOR per bit: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LUTs for the entire 32-bit function.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" y="45902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 differs only in the shifted-in bits</a:t>
            </a:r>
            <a:endParaRPr lang="en-US" sz="12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919472"/>
          <a:ext cx="7040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92024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out[i] for i ≤ 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out[i] for i &gt; 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ROTR³(x)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x[i+3]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x[i+3-32]  wraps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SHR³(x)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x[i+3]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hard 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882128" y="4590288"/>
            <a:ext cx="3730752" cy="1499616"/>
          </a:xfrm>
          <a:prstGeom prst="roundRect">
            <a:avLst>
              <a:gd name="adj" fmla="val 243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083296" y="470001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cost actually is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083296" y="4974336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rotations free and Ch, Maj, Σ all one LUT deep, the entire round delay is the five-input modulo-2³² addition forming T1.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unrolling costs frequency.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III — Control FSM &amp; Message Schedule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the core, and the rolling window that saves 1536 bits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Control FSM state transition table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00784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1737360"/>
                <a:gridCol w="45720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Present state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Condition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Next state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block_valid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 W[0..15]; a..h ← H  (or H(0) if init)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 &lt; 63  (A)  /  t &lt; 62  (B)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execute round(s); advance schedule window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 = 63  (A)  /  t = 62  (B)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last round complete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+= a..h;  assert digest_valid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The rolling sixteen-word message schedule</a:t>
            </a:r>
            <a:endParaRPr lang="en-US" sz="12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39312"/>
          <a:ext cx="7040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283464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 slot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Holds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Used for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Why kept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w[0]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current round, and the recurrence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W[t-16] term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W[t+1]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σ₀ input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W[t-15] term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w[9]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W[t+9]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direct addend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W[t-7] term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w[14]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W[t+14]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σ₁ input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W[t-2] term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w[15]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W[t+15]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receives the newly computed word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newest entry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7882128" y="3639312"/>
            <a:ext cx="3730752" cy="1865376"/>
          </a:xfrm>
          <a:prstGeom prst="roundRect">
            <a:avLst>
              <a:gd name="adj" fmla="val 2451"/>
            </a:avLst>
          </a:prstGeom>
          <a:solidFill>
            <a:srgbClr val="E3F3F1"/>
          </a:solidFill>
          <a:ln/>
        </p:spPr>
      </p:sp>
      <p:sp>
        <p:nvSpPr>
          <p:cNvPr id="18" name="Text 14"/>
          <p:cNvSpPr/>
          <p:nvPr/>
        </p:nvSpPr>
        <p:spPr>
          <a:xfrm>
            <a:off x="8083296" y="374904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words, not sixty-four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083296" y="4023360"/>
            <a:ext cx="3328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W[t] reaches back at most sixteen words, so a 16-deep shift register is sufficient.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full expanded schedule would cost 2048 bits instead of 512 — 1536 bits wasted for no functional benefit.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5632704"/>
            <a:ext cx="10972800" cy="566928"/>
          </a:xfrm>
          <a:prstGeom prst="roundRect">
            <a:avLst>
              <a:gd name="adj" fmla="val 6452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68680" y="56327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6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w_new  =  σ₁(w[14]) + w[9] + σ₀(w[1]) + w[0]     </a:t>
            </a:r>
            <a:pPr indent="0" marL="0">
              <a:buNone/>
            </a:pPr>
            <a:r>
              <a:rPr lang="en-US" sz="10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shift down by one and load w_new into w[15].  Config B computes two new words per cycle and shifts by two.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What Gets Implemented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 hierarchy — written, simulated and passing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26464"/>
          <a:ext cx="7406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40080"/>
                <a:gridCol w="347472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A3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sha256_ch.v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choose — 2:1 mux per 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A3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sha256_maj.v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majority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A3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sha256_big_sigma0/1.v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3-input XOR of rewired copies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LUT 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A3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sha256_small_sigma0/1.v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above, with SHR instead of one ROTR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LUT 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A3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sha256_k_rom.v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× 32-bit round constants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E9A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sha256_round_comb.v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full round: T1, T2, variable update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42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sha256_core_iter.v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 — 1 round/cycle, 66 cycles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~1,150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42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sha256_core_unroll2.v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B — 2 rounds/cycle, 34 cycles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~1,950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axi_lite_regs.v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control, status, digest readback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~450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axis_wrapper.v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AXI4-Stream slave, 512-bit blocks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LUT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sha256_top.v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Top-level IP for Vivado IP Integrator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229600" y="1426464"/>
            <a:ext cx="3383280" cy="2103120"/>
          </a:xfrm>
          <a:prstGeom prst="roundRect">
            <a:avLst>
              <a:gd name="adj" fmla="val 2174"/>
            </a:avLst>
          </a:prstGeom>
          <a:solidFill>
            <a:srgbClr val="F9FAFC"/>
          </a:solidFill>
          <a:ln w="12700">
            <a:solidFill>
              <a:srgbClr val="D2D9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30768" y="15361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budget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30768" y="1865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total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259568" y="186537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~3,700  (7%)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30768" y="2249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 total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259568" y="2249424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~4,500  (8%)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30768" y="2633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259568" y="2633472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5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of 140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430768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DSP48E1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259568" y="301752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of 220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229600" y="3694176"/>
            <a:ext cx="3383280" cy="1371600"/>
          </a:xfrm>
          <a:prstGeom prst="roundRect">
            <a:avLst>
              <a:gd name="adj" fmla="val 3333"/>
            </a:avLst>
          </a:prstGeom>
          <a:solidFill>
            <a:srgbClr val="E3F3F1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378561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5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21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822960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checks passing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 today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229600" y="5212080"/>
            <a:ext cx="3383280" cy="877824"/>
          </a:xfrm>
          <a:prstGeom prst="roundRect">
            <a:avLst>
              <a:gd name="adj" fmla="val 4167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430768" y="5212080"/>
            <a:ext cx="2980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cores already produce the correct NIST digests, including multi-block chaining.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Strategy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conformance against FIPS 180-4, not end-to-end digest alone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26464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8346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checked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against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Σ₀, Σ₁, σ₀, σ₁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values on a fixed operand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golden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Ch, Maj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 and majority 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 tables, slide 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constant ROM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entries K[0], K[15], K[32], K[63]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FIPS 180-4 §4.2.2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W[0..63] for a known block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schedule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ready, TODO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Per-round a..h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64 rounds of working variables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trace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ready, TODO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Single-block digest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"abc" and the empty 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vectors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Multi-block chaining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56-byte message spanning two blocks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vector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 vs Config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Bit-identical digest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other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and 34 per block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" y="4974336"/>
            <a:ext cx="5349240" cy="1115568"/>
          </a:xfrm>
          <a:prstGeom prst="roundRect">
            <a:avLst>
              <a:gd name="adj" fmla="val 3279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" y="5065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hierarchy matters here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41248" y="534009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bugs — a big-endian word swap, a schedule off-by-one, a missing final accumulation — all produce output that looks like a valid digest. End-to-end testing cannot localise them; per-round traces can.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63640" y="4974336"/>
            <a:ext cx="5349240" cy="1115568"/>
          </a:xfrm>
          <a:prstGeom prst="roundRect">
            <a:avLst>
              <a:gd name="adj" fmla="val 327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64808" y="50657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self-check needing no reference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64808" y="534009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A and B share the identical round module but differ in control and unroll depth. Requiring bit-identical digests from both is an independent check — a control-path error in either breaks the match immediately.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Specification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ZedBoard  ·  Zynq-7000 XC7Z020-1CLG484C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426464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5875">
            <a:solidFill>
              <a:srgbClr val="2B42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26464"/>
            <a:ext cx="5349240" cy="402336"/>
          </a:xfrm>
          <a:prstGeom prst="roundRect">
            <a:avLst>
              <a:gd name="adj" fmla="val 11364"/>
            </a:avLst>
          </a:prstGeom>
          <a:solidFill>
            <a:srgbClr val="2B42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26464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LOGIC (PL)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9536" y="1938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193852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Artix-7 equivalent, 28 nm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23225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cells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23225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" y="27066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6-input LUTs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70662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53,200   (A ≈ 7%, B ≈ 8%)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090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3090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106,400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9536" y="3474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474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× 36 Kb   (using 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9536" y="3858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DSP48E1 slices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38587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  (using 0)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" y="42428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clock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424281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oscillator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1426464"/>
            <a:ext cx="534924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5875">
            <a:solidFill>
              <a:srgbClr val="00A3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426464"/>
            <a:ext cx="5349240" cy="402336"/>
          </a:xfrm>
          <a:prstGeom prst="roundRect">
            <a:avLst>
              <a:gd name="adj" fmla="val 11364"/>
            </a:avLst>
          </a:prstGeom>
          <a:solidFill>
            <a:srgbClr val="00A39B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1426464"/>
            <a:ext cx="5349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SYSTEM (PS)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83096" y="19385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41080" y="193852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ARM Cortex-A9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83096" y="23225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41080" y="23225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 MHz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83096" y="27066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41080" y="270662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 DDR3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83096" y="3090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/ storage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41080" y="30906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Mb QSPI flash, SD card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83096" y="3474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reference clock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41080" y="3474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33.333 MHz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83096" y="3858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PS-PL interfaces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41080" y="38587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AXI-HP, 2 × AXI-GP, ACP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83096" y="42428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41080" y="424281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USB-UART, 115200 8N1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4864608"/>
            <a:ext cx="10972800" cy="1225296"/>
          </a:xfrm>
          <a:prstGeom prst="roundRect">
            <a:avLst>
              <a:gd name="adj" fmla="val 2985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68680" y="4956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frequency study, not an area study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68680" y="5248656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configurations occupy under 10% of the device and use no BRAM and no DSP. Area is simply not the binding constraint here — which is precisely what makes the unrolling question interesting. The trade is cycles against frequency, and the device has ample room for either answer. Whether the K constants live in LUT ROM (current) or BRAM is a secondary experiment worth measuring but not decisive.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Specification &amp; Toolchain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mandated tools are load-bearing — Vivado for the fabric, Vitis for the processor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426464"/>
            <a:ext cx="34747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5875">
            <a:solidFill>
              <a:srgbClr val="2B42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426464"/>
            <a:ext cx="3474720" cy="402336"/>
          </a:xfrm>
          <a:prstGeom prst="roundRect">
            <a:avLst>
              <a:gd name="adj" fmla="val 11364"/>
            </a:avLst>
          </a:prstGeom>
          <a:solidFill>
            <a:srgbClr val="2B425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264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2022.2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1956816"/>
            <a:ext cx="3035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synthesis and implementation, both configurations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Integrator block design (ZYNQ7 PS, AXI DMA)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closure and utilisation per configuration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Fmax comparison that answers the research question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capture for the report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426464"/>
            <a:ext cx="34747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5875">
            <a:solidFill>
              <a:srgbClr val="00A3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426464"/>
            <a:ext cx="3474720" cy="402336"/>
          </a:xfrm>
          <a:prstGeom prst="roundRect">
            <a:avLst>
              <a:gd name="adj" fmla="val 11364"/>
            </a:avLst>
          </a:prstGeom>
          <a:solidFill>
            <a:srgbClr val="00A39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4264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Vitis 2022.2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08576" y="1956816"/>
            <a:ext cx="3035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C application on Cortex-A9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180-4 message padding in software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 driver (xaxidma), BSP generation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global timer for throughput measurement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SHA-256 baseline and NIST verification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1426464"/>
            <a:ext cx="34747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5875">
            <a:solidFill>
              <a:srgbClr val="DE9A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426464"/>
            <a:ext cx="3474720" cy="402336"/>
          </a:xfrm>
          <a:prstGeom prst="roundRect">
            <a:avLst>
              <a:gd name="adj" fmla="val 11364"/>
            </a:avLst>
          </a:prstGeom>
          <a:solidFill>
            <a:srgbClr val="DE9A3E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4264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modelling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57616" y="1956816"/>
            <a:ext cx="3035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Icarus Verilog / ModelSim — RTL testbenches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— SHA-256 reference model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180-4 and CAVP test vectors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Per-round trace and schedule files as testbench input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 built BEFORE any RTL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46085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919472"/>
            <a:ext cx="2606040" cy="118872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029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Verilog HDL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321808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RTL — functions, schedule, both cores, AXI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4919472"/>
            <a:ext cx="2606040" cy="118872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11880" y="5029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(bare-metal)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11880" y="5321808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app, padding, DMA driver, verification, UART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919472"/>
            <a:ext cx="2606040" cy="118872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5029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321808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model, vector and trace generation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06840" y="4919472"/>
            <a:ext cx="2606040" cy="118872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89720" y="5029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89720" y="5321808"/>
            <a:ext cx="2240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build automation for both configurations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12-Week Plan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demonstrable by Week 9; Config B is the experiment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426464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58191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0A39B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15819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1872" y="1499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reference; K constants, vectors, per-round trace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61872" y="1792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passes all five FIPS 180-4 vectors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63640" y="1426464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158191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0A39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9944" y="15819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85432" y="1499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functions and K ROM in Verilog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85432" y="1792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verified against the model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236829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00A39B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23682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61872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sixteen-word message schedule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61872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W[0..63] matches the golden schedule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63640" y="2212848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2368296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2B425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9944" y="23682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85432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sha256_round_comb + Config A FSM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85432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matches the golden trace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2999232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315468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2B4257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3154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61872" y="30723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full hash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61872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digest, single and multi-block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2999232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E9ECEF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9944" y="3154680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98A2AC"/>
          </a:solidFill>
          <a:ln/>
        </p:spPr>
      </p:sp>
      <p:sp>
        <p:nvSpPr>
          <p:cNvPr id="40" name="Text 38"/>
          <p:cNvSpPr/>
          <p:nvPr/>
        </p:nvSpPr>
        <p:spPr>
          <a:xfrm>
            <a:off x="6409944" y="3154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85432" y="30723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WEEK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85432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no scheduled deliverable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0080" y="3785616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" y="394106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2B4257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39410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61872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+ AXI4-Stream wrappers, IP packaging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261872" y="4151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protocol checks clean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3785616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9944" y="3941064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2B4257"/>
          </a:solidFill>
          <a:ln/>
        </p:spPr>
      </p:sp>
      <p:sp>
        <p:nvSpPr>
          <p:cNvPr id="50" name="Text 48"/>
          <p:cNvSpPr/>
          <p:nvPr/>
        </p:nvSpPr>
        <p:spPr>
          <a:xfrm>
            <a:off x="6409944" y="39410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85432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design, DMA, Config A implementation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85432" y="4151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closed; area and Fmax recorded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" y="4572000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6384" y="472744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DE9A3E"/>
          </a:solidFill>
          <a:ln/>
        </p:spPr>
      </p:sp>
      <p:sp>
        <p:nvSpPr>
          <p:cNvPr id="55" name="Text 53"/>
          <p:cNvSpPr/>
          <p:nvPr/>
        </p:nvSpPr>
        <p:spPr>
          <a:xfrm>
            <a:off x="786384" y="47274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261872" y="4645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Vitis application; on-board verification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261872" y="4937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digest matches NIST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63640" y="4572000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9944" y="4727448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DE9A3E"/>
          </a:solidFill>
          <a:ln/>
        </p:spPr>
      </p:sp>
      <p:sp>
        <p:nvSpPr>
          <p:cNvPr id="60" name="Text 58"/>
          <p:cNvSpPr/>
          <p:nvPr/>
        </p:nvSpPr>
        <p:spPr>
          <a:xfrm>
            <a:off x="6409944" y="47274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885432" y="4645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B; implementation; THE Fmax comparison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85432" y="4937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evaluated against 0.515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0080" y="5358384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6384" y="551383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DE9A3E"/>
          </a:solidFill>
          <a:ln/>
        </p:spPr>
      </p:sp>
      <p:sp>
        <p:nvSpPr>
          <p:cNvPr id="65" name="Text 63"/>
          <p:cNvSpPr/>
          <p:nvPr/>
        </p:nvSpPr>
        <p:spPr>
          <a:xfrm>
            <a:off x="786384" y="5513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261872" y="5431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baseline; throughput; report drafting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261872" y="5724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measurement data collected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63640" y="5358384"/>
            <a:ext cx="5349240" cy="676656"/>
          </a:xfrm>
          <a:prstGeom prst="roundRect">
            <a:avLst>
              <a:gd name="adj" fmla="val 5405"/>
            </a:avLst>
          </a:prstGeom>
          <a:solidFill>
            <a:srgbClr val="F9FAFC"/>
          </a:solidFill>
          <a:ln w="9525">
            <a:solidFill>
              <a:srgbClr val="DAE0E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9944" y="5513832"/>
            <a:ext cx="384048" cy="365760"/>
          </a:xfrm>
          <a:prstGeom prst="roundRect">
            <a:avLst>
              <a:gd name="adj" fmla="val 17500"/>
            </a:avLst>
          </a:prstGeom>
          <a:solidFill>
            <a:srgbClr val="DE9A3E"/>
          </a:solidFill>
          <a:ln/>
        </p:spPr>
      </p:sp>
      <p:sp>
        <p:nvSpPr>
          <p:cNvPr id="70" name="Text 68"/>
          <p:cNvSpPr/>
          <p:nvPr/>
        </p:nvSpPr>
        <p:spPr>
          <a:xfrm>
            <a:off x="6409944" y="5513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885432" y="5431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Waveforms, demo, final submission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885432" y="5724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complete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 is scheduled at Week 10, after Config A works on hardware. A schedule slip degrades the project to a complete verified single-configuration deliverable, not a failure.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Expected Outcomes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measurements, each against a named baseline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26464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265176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expectation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2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correctness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vectors, hierarchical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FIPS 180-4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Bit-identical digest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 vs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per block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counter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and 34 (confirmed)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frequency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Post-route, identical constraints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 vs 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Fmax ratio vs 0.515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HEADLINE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throughput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× frequency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other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 / FF / BRAM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Post-implementation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configuration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≈ 7%, B ≈ 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DSP48E1 usage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 over software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global timer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Cortex-A9 software SHA-256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51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3× (see note)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40080" y="5230368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53218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modest software speedup — do not hide it, explain 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59612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is built from 32-bit addition, XOR and rotation — precisely the operations a general-purpose ALU executes in one cycle each. Unlike a block cipher, whose finite-field arithmetic a processor must emulate, there is nothing here the CPU is bad at. A ~3× speedup is expected and correct. The value of a SHA-256 accelerator is offload and deterministic latency, not raw throughput multiplication.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Boundaries &amp; Risk Register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excluded, why — and what could go wrong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1700784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EEF1F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17373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message padding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9476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Byte-alignment bookkeeping; the PS does it. Future work.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2359152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F9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3957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SHA-224 / 384 / 512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6060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is an IV change; 384/512 need a 64-bit datapath and 80 rounds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017520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EE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0540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2644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nested hashes plus key padding — a wrapper, not a modification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3675888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F9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7124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multi-stream interleaving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392277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way to get real hash throughput. Documented as the natural next step.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334256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EEF1F4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3708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resistance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5811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research field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63640" y="1371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1700784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EEF1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847088"/>
            <a:ext cx="292608" cy="292608"/>
          </a:xfrm>
          <a:prstGeom prst="ellipse">
            <a:avLst/>
          </a:prstGeom>
          <a:solidFill>
            <a:srgbClr val="DE9A3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03136" y="17373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Big-endian word ordering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966960" y="1737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03136" y="194767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hash bug. Golden model emits blocks in the exact expected order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2359152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F9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2505456"/>
            <a:ext cx="292608" cy="292608"/>
          </a:xfrm>
          <a:prstGeom prst="ellipse">
            <a:avLst/>
          </a:prstGeom>
          <a:solidFill>
            <a:srgbClr val="DE9A3E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03136" y="23957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window off-by-one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966960" y="23957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03136" y="2606040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schedule file compared word by word, not only at the digest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63640" y="3017520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EEF1F4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0" y="3163824"/>
            <a:ext cx="292608" cy="292608"/>
          </a:xfrm>
          <a:prstGeom prst="ellipse">
            <a:avLst/>
          </a:prstGeom>
          <a:solidFill>
            <a:srgbClr val="2B4257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03136" y="3054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final H accumulation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966960" y="30540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803136" y="3264408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immediately by the "abc" vector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3675888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F9FAFC"/>
          </a:solidFill>
          <a:ln/>
        </p:spPr>
      </p:sp>
      <p:sp>
        <p:nvSpPr>
          <p:cNvPr id="49" name="Shape 47"/>
          <p:cNvSpPr/>
          <p:nvPr/>
        </p:nvSpPr>
        <p:spPr>
          <a:xfrm>
            <a:off x="6400800" y="3822192"/>
            <a:ext cx="292608" cy="292608"/>
          </a:xfrm>
          <a:prstGeom prst="ellipse">
            <a:avLst/>
          </a:prstGeom>
          <a:solidFill>
            <a:srgbClr val="00A39B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03136" y="37124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 fails timing badly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966960" y="3712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03136" y="3922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RESULT, not a failure — it answers the question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63640" y="4334256"/>
            <a:ext cx="5349240" cy="585216"/>
          </a:xfrm>
          <a:prstGeom prst="roundRect">
            <a:avLst>
              <a:gd name="adj" fmla="val 6250"/>
            </a:avLst>
          </a:prstGeom>
          <a:solidFill>
            <a:srgbClr val="EEF1F4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0" y="4480560"/>
            <a:ext cx="292608" cy="292608"/>
          </a:xfrm>
          <a:prstGeom prst="ellipse">
            <a:avLst/>
          </a:prstGeom>
          <a:solidFill>
            <a:srgbClr val="2B4257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03136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not carried across blocks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966960" y="4370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03136" y="458114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tested by the 56-byte two-block NIST vector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0080" y="5138928"/>
            <a:ext cx="10972800" cy="950976"/>
          </a:xfrm>
          <a:prstGeom prst="roundRect">
            <a:avLst>
              <a:gd name="adj" fmla="val 3846"/>
            </a:avLst>
          </a:prstGeom>
          <a:solidFill>
            <a:srgbClr val="E3F3F1"/>
          </a:solidFill>
          <a:ln/>
          <a:effectLst>
            <a:outerShdw sx="100000" sy="100000" kx="0" ky="0" algn="bl" rotWithShape="0" blurRad="76200" dist="12700" dir="5400000">
              <a:srgbClr val="A6AFB8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68680" y="5138928"/>
            <a:ext cx="10515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deserves emphasis: if Configuration B loses more frequency than it saves in cycles, that is not a failed implementation — it is a quantified answer to the research question, and it explains why hash functions parallelise badly within a single message. The report is written to accommodate either outcome.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691286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5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4362" y="512064"/>
            <a:ext cx="91440" cy="91440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8" name="Shape 6"/>
          <p:cNvSpPr/>
          <p:nvPr/>
        </p:nvSpPr>
        <p:spPr>
          <a:xfrm>
            <a:off x="1313078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9" name="Shape 7"/>
          <p:cNvSpPr/>
          <p:nvPr/>
        </p:nvSpPr>
        <p:spPr>
          <a:xfrm>
            <a:off x="1437437" y="512064"/>
            <a:ext cx="91440" cy="91440"/>
          </a:xfrm>
          <a:prstGeom prst="rect">
            <a:avLst/>
          </a:prstGeom>
          <a:solidFill>
            <a:srgbClr val="C2CBD4"/>
          </a:solidFill>
          <a:ln/>
        </p:spPr>
      </p:sp>
      <p:sp>
        <p:nvSpPr>
          <p:cNvPr id="10" name="Text 8"/>
          <p:cNvSpPr/>
          <p:nvPr/>
        </p:nvSpPr>
        <p:spPr>
          <a:xfrm>
            <a:off x="1517904" y="3108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4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47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22 works reviewed across five clusters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NIST, "Secure Hash Standard (SHS)," FIPS PUB 180-4, August 2015.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NIST, Cryptographic Algorithm Validation Program — Secure Hashing test vectors.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NIST, "Recommendation for Applications Using Approved Hash Algorithms," SP 800-107.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X. Wang, Y. L. Yin and H. Yu, "Finding Collisions in the Full SHA-1," CRYPTO, 2005.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M. Stevens et al., "The First Collision for Full SHA-1," CRYPTO, 2017.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R. Chaves, G. Kuzmanov, L. Sousa and S. Vassiliadis, "Improving SHA-2 Hardware Implementations," CHES, 2006.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L. Dadda, M. Macchetti and J. Owen, "The Design of a High Speed ASIC Unit for the Hash Function SHA-256," DATE, 2004.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146304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R. P. McEvoy, F. M. Crowe, C. C. Murphy and W. P. Marnane, "Optimisation of the SHA-2 Family of Hash Functions on FPGAs," ISVLSI, 2006.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H. Michail, A. P. Kakarountas, A. Milidonis and C. E. Goutis, "A Top-Down Design Methodology for Ultrahigh-Performance Hashing Cores," IEEE TDSC, 2009.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K. K. Ting, S. C. L. Yuen, K.-H. Lee and P. H. W. Leong, "An FPGA Based SHA-256 Processor," FPL, 2002.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N. Sklavos and O. Koufopavlou, "On the Hardware Implementations of the SHA-2 Hash Functions," ISCAS, 2003.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ARM, AMBA AXI and ACE Protocol Specification, IHI 0022.</a:t>
            </a:r>
            <a:endParaRPr lang="en-US" sz="9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900" dirty="0">
                <a:solidFill>
                  <a:srgbClr val="15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Xilinx, AXI DMA Product Guide (PG021); Zynq-7000 TRM (UG585); Vivado Synthesis (UG901).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Amritha S  ·  23BEC1368  · 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64592" cy="164592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" y="137160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137160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137160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6" name="Shape 4"/>
          <p:cNvSpPr/>
          <p:nvPr/>
        </p:nvSpPr>
        <p:spPr>
          <a:xfrm>
            <a:off x="1700784" y="1371600"/>
            <a:ext cx="164592" cy="164592"/>
          </a:xfrm>
          <a:prstGeom prst="rect">
            <a:avLst/>
          </a:prstGeom>
          <a:solidFill>
            <a:srgbClr val="00A39B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37160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8" name="Shape 6"/>
          <p:cNvSpPr/>
          <p:nvPr/>
        </p:nvSpPr>
        <p:spPr>
          <a:xfrm>
            <a:off x="2139696" y="137160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9" name="Shape 7"/>
          <p:cNvSpPr/>
          <p:nvPr/>
        </p:nvSpPr>
        <p:spPr>
          <a:xfrm>
            <a:off x="2359152" y="1371600"/>
            <a:ext cx="164592" cy="164592"/>
          </a:xfrm>
          <a:prstGeom prst="rect">
            <a:avLst/>
          </a:prstGeom>
          <a:solidFill>
            <a:srgbClr val="2A30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SHA-256 in fabric two ways from the same round module, verify both exactly against the NIST vectors, and measure whether unrolling a strictly sequential hash is worth what it costs in frequency.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4352544"/>
            <a:ext cx="3383280" cy="1005840"/>
          </a:xfrm>
          <a:prstGeom prst="roundRect">
            <a:avLst>
              <a:gd name="adj" fmla="val 4545"/>
            </a:avLst>
          </a:prstGeom>
          <a:solidFill>
            <a:srgbClr val="22283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2416" y="4498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2416" y="47914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scope right for the weighting?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4352544"/>
            <a:ext cx="3383280" cy="1005840"/>
          </a:xfrm>
          <a:prstGeom prst="roundRect">
            <a:avLst>
              <a:gd name="adj" fmla="val 4545"/>
            </a:avLst>
          </a:prstGeom>
          <a:solidFill>
            <a:srgbClr val="222831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016" y="4498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access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47914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ZedBoard availability, Weeks 8-12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4352544"/>
            <a:ext cx="3383280" cy="1005840"/>
          </a:xfrm>
          <a:prstGeom prst="roundRect">
            <a:avLst>
              <a:gd name="adj" fmla="val 4545"/>
            </a:avLst>
          </a:prstGeom>
          <a:solidFill>
            <a:srgbClr val="222831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4498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57616" y="47914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3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or acceptable as upside?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632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23BEC1368  ·  amritha.s2023@vitstudent.ac.in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Unrolling Analysis of a SHA-256 Hardware Accelerator on Zynq-7000</dc:title>
  <dc:subject>PptxGenJS Presentation</dc:subject>
  <dc:creator>Amritha S</dc:creator>
  <cp:lastModifiedBy>Amritha S</cp:lastModifiedBy>
  <cp:revision>1</cp:revision>
  <dcterms:created xsi:type="dcterms:W3CDTF">2026-07-28T02:48:28Z</dcterms:created>
  <dcterms:modified xsi:type="dcterms:W3CDTF">2026-07-28T02:48:28Z</dcterms:modified>
</cp:coreProperties>
</file>