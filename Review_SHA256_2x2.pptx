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 is unroll depth, C is interleave depth. C and D hash two independent messages at once, so their per-block cost is the effective figure: 66 cycles retiring two blocks is 33 per block. Cycle counts are confirmed in simulation, not estimated.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0.624 is the system-level break-even: Config B wins only if it keeps more than 62.4% of Config A's frequency. It was derived from cycle counts and committed before synthesis. It can still fail, and that remains a valid reportable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replaces the Review 1 novelty slide. That one offered experimental method as the contribution and conceded a negative result was possible. This one offers a structural claim about the design space and keeps the falsifiable threshold intact.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answer to 'hasn't this been done'. Yes, and the published answers disagree with each other and with theory. Our construction removes the confound: identical round module, identical constraints, one device.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four-way agreement check is the strongest one: it needs no external reference. The four cores share a round module but differ in control, so any control-path error breaks the match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Throughput-per-LUT is the headline metric because the four configurations differ in area. State the caveat out loud: C and D need independent messages, and single-message latency is unchanged.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02336"/>
            <a:ext cx="146304" cy="1463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256032"/>
            <a:ext cx="9692640" cy="566928"/>
          </a:xfrm>
          <a:prstGeom prst="rect">
            <a:avLst/>
          </a:prstGeom>
          <a:noFill/>
        </p:spPr>
        <p:txBody>
          <a:bodyPr wrap="square" lIns="0" rIns="0" tIns="0" bIns="0" anchor="t">
            <a:spAutoFit/>
          </a:bodyPr>
          <a:lstStyle/>
          <a:p>
            <a:pPr algn="l"/>
            <a:r>
              <a:rPr sz="3200" b="1">
                <a:solidFill>
                  <a:srgbClr val="2B333C"/>
                </a:solidFill>
                <a:latin typeface="Century Schoolbook"/>
              </a:rPr>
              <a:t>The Design Space</a:t>
            </a:r>
          </a:p>
        </p:txBody>
      </p:sp>
      <p:sp>
        <p:nvSpPr>
          <p:cNvPr id="4" name="TextBox 3"/>
          <p:cNvSpPr txBox="1"/>
          <p:nvPr/>
        </p:nvSpPr>
        <p:spPr>
          <a:xfrm>
            <a:off x="11064240" y="310896"/>
            <a:ext cx="640080" cy="320040"/>
          </a:xfrm>
          <a:prstGeom prst="rect">
            <a:avLst/>
          </a:prstGeom>
          <a:noFill/>
        </p:spPr>
        <p:txBody>
          <a:bodyPr wrap="square" lIns="0" rIns="0" tIns="0" bIns="0" anchor="t">
            <a:spAutoFit/>
          </a:bodyPr>
          <a:lstStyle/>
          <a:p>
            <a:pPr algn="r"/>
            <a:r>
              <a:rPr sz="1100" b="1">
                <a:solidFill>
                  <a:srgbClr val="6B7078"/>
                </a:solidFill>
                <a:latin typeface="Calibri"/>
              </a:rPr>
              <a:t>04</a:t>
            </a:r>
          </a:p>
        </p:txBody>
      </p:sp>
      <p:sp>
        <p:nvSpPr>
          <p:cNvPr id="5" name="Rectangle 4"/>
          <p:cNvSpPr/>
          <p:nvPr/>
        </p:nvSpPr>
        <p:spPr>
          <a:xfrm>
            <a:off x="822960" y="1005840"/>
            <a:ext cx="10515600" cy="1051560"/>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234440"/>
            <a:ext cx="9875520" cy="640080"/>
          </a:xfrm>
          <a:prstGeom prst="rect">
            <a:avLst/>
          </a:prstGeom>
          <a:noFill/>
        </p:spPr>
        <p:txBody>
          <a:bodyPr wrap="square" lIns="0" rIns="0" tIns="0" bIns="0" anchor="ctr">
            <a:spAutoFit/>
          </a:bodyPr>
          <a:lstStyle/>
          <a:p>
            <a:pPr algn="l"/>
            <a:r>
              <a:rPr sz="1900" b="1">
                <a:solidFill>
                  <a:srgbClr val="C1440E"/>
                </a:solidFill>
                <a:latin typeface="Century Schoolbook"/>
              </a:rPr>
              <a:t>Unrolling is one lever. Interleaving is a second, independent one. This project measures both.</a:t>
            </a:r>
          </a:p>
        </p:txBody>
      </p:sp>
      <p:sp>
        <p:nvSpPr>
          <p:cNvPr id="7" name="TextBox 6"/>
          <p:cNvSpPr txBox="1"/>
          <p:nvPr/>
        </p:nvSpPr>
        <p:spPr>
          <a:xfrm>
            <a:off x="2560320" y="2286000"/>
            <a:ext cx="4297680" cy="292608"/>
          </a:xfrm>
          <a:prstGeom prst="rect">
            <a:avLst/>
          </a:prstGeom>
          <a:noFill/>
        </p:spPr>
        <p:txBody>
          <a:bodyPr wrap="square" lIns="0" rIns="0" tIns="0" bIns="0" anchor="t">
            <a:spAutoFit/>
          </a:bodyPr>
          <a:lstStyle/>
          <a:p>
            <a:pPr algn="l"/>
            <a:r>
              <a:rPr sz="1300" b="1">
                <a:solidFill>
                  <a:srgbClr val="2B333C"/>
                </a:solidFill>
                <a:latin typeface="Calibri"/>
              </a:rPr>
              <a:t>U = 1   one round per stage</a:t>
            </a:r>
          </a:p>
        </p:txBody>
      </p:sp>
      <p:sp>
        <p:nvSpPr>
          <p:cNvPr id="8" name="TextBox 7"/>
          <p:cNvSpPr txBox="1"/>
          <p:nvPr/>
        </p:nvSpPr>
        <p:spPr>
          <a:xfrm>
            <a:off x="7040880" y="2286000"/>
            <a:ext cx="4297680" cy="292608"/>
          </a:xfrm>
          <a:prstGeom prst="rect">
            <a:avLst/>
          </a:prstGeom>
          <a:noFill/>
        </p:spPr>
        <p:txBody>
          <a:bodyPr wrap="square" lIns="0" rIns="0" tIns="0" bIns="0" anchor="t">
            <a:spAutoFit/>
          </a:bodyPr>
          <a:lstStyle/>
          <a:p>
            <a:pPr algn="l"/>
            <a:r>
              <a:rPr sz="1300" b="1">
                <a:solidFill>
                  <a:srgbClr val="2B333C"/>
                </a:solidFill>
                <a:latin typeface="Calibri"/>
              </a:rPr>
              <a:t>U = 2   two rounds per stage</a:t>
            </a:r>
          </a:p>
        </p:txBody>
      </p:sp>
      <p:sp>
        <p:nvSpPr>
          <p:cNvPr id="9" name="TextBox 8"/>
          <p:cNvSpPr txBox="1"/>
          <p:nvPr/>
        </p:nvSpPr>
        <p:spPr>
          <a:xfrm>
            <a:off x="822960" y="3054096"/>
            <a:ext cx="1600200" cy="292608"/>
          </a:xfrm>
          <a:prstGeom prst="rect">
            <a:avLst/>
          </a:prstGeom>
          <a:noFill/>
        </p:spPr>
        <p:txBody>
          <a:bodyPr wrap="square" lIns="0" rIns="0" tIns="0" bIns="0" anchor="t">
            <a:spAutoFit/>
          </a:bodyPr>
          <a:lstStyle/>
          <a:p>
            <a:pPr algn="l"/>
            <a:r>
              <a:rPr sz="1700" b="1">
                <a:solidFill>
                  <a:srgbClr val="2B333C"/>
                </a:solidFill>
                <a:latin typeface="Century Schoolbook"/>
              </a:rPr>
              <a:t>C = 1</a:t>
            </a:r>
          </a:p>
        </p:txBody>
      </p:sp>
      <p:sp>
        <p:nvSpPr>
          <p:cNvPr id="10" name="TextBox 9"/>
          <p:cNvSpPr txBox="1"/>
          <p:nvPr/>
        </p:nvSpPr>
        <p:spPr>
          <a:xfrm>
            <a:off x="822960" y="3383280"/>
            <a:ext cx="1600200" cy="274320"/>
          </a:xfrm>
          <a:prstGeom prst="rect">
            <a:avLst/>
          </a:prstGeom>
          <a:noFill/>
        </p:spPr>
        <p:txBody>
          <a:bodyPr wrap="square" lIns="0" rIns="0" tIns="0" bIns="0" anchor="t">
            <a:spAutoFit/>
          </a:bodyPr>
          <a:lstStyle/>
          <a:p>
            <a:pPr algn="l"/>
            <a:r>
              <a:rPr sz="1250" b="0">
                <a:solidFill>
                  <a:srgbClr val="6B7078"/>
                </a:solidFill>
                <a:latin typeface="Calibri"/>
              </a:rPr>
              <a:t>one message</a:t>
            </a:r>
          </a:p>
        </p:txBody>
      </p:sp>
      <p:sp>
        <p:nvSpPr>
          <p:cNvPr id="11" name="TextBox 10"/>
          <p:cNvSpPr txBox="1"/>
          <p:nvPr/>
        </p:nvSpPr>
        <p:spPr>
          <a:xfrm>
            <a:off x="822960" y="4535424"/>
            <a:ext cx="1600200" cy="292608"/>
          </a:xfrm>
          <a:prstGeom prst="rect">
            <a:avLst/>
          </a:prstGeom>
          <a:noFill/>
        </p:spPr>
        <p:txBody>
          <a:bodyPr wrap="square" lIns="0" rIns="0" tIns="0" bIns="0" anchor="t">
            <a:spAutoFit/>
          </a:bodyPr>
          <a:lstStyle/>
          <a:p>
            <a:pPr algn="l"/>
            <a:r>
              <a:rPr sz="1700" b="1">
                <a:solidFill>
                  <a:srgbClr val="2B333C"/>
                </a:solidFill>
                <a:latin typeface="Century Schoolbook"/>
              </a:rPr>
              <a:t>C = 2</a:t>
            </a:r>
          </a:p>
        </p:txBody>
      </p:sp>
      <p:sp>
        <p:nvSpPr>
          <p:cNvPr id="12" name="TextBox 11"/>
          <p:cNvSpPr txBox="1"/>
          <p:nvPr/>
        </p:nvSpPr>
        <p:spPr>
          <a:xfrm>
            <a:off x="822960" y="4864608"/>
            <a:ext cx="1600200" cy="274320"/>
          </a:xfrm>
          <a:prstGeom prst="rect">
            <a:avLst/>
          </a:prstGeom>
          <a:noFill/>
        </p:spPr>
        <p:txBody>
          <a:bodyPr wrap="square" lIns="0" rIns="0" tIns="0" bIns="0" anchor="t">
            <a:spAutoFit/>
          </a:bodyPr>
          <a:lstStyle/>
          <a:p>
            <a:pPr algn="l"/>
            <a:r>
              <a:rPr sz="1250" b="0">
                <a:solidFill>
                  <a:srgbClr val="6B7078"/>
                </a:solidFill>
                <a:latin typeface="Calibri"/>
              </a:rPr>
              <a:t>two messages</a:t>
            </a:r>
          </a:p>
        </p:txBody>
      </p:sp>
      <p:sp>
        <p:nvSpPr>
          <p:cNvPr id="13" name="Rectangle 12"/>
          <p:cNvSpPr/>
          <p:nvPr/>
        </p:nvSpPr>
        <p:spPr>
          <a:xfrm>
            <a:off x="2560320" y="2670048"/>
            <a:ext cx="4297680" cy="1371600"/>
          </a:xfrm>
          <a:prstGeom prst="rect">
            <a:avLst/>
          </a:prstGeom>
          <a:solidFill>
            <a:srgbClr val="F2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16352" y="2944368"/>
            <a:ext cx="640080" cy="685800"/>
          </a:xfrm>
          <a:prstGeom prst="rect">
            <a:avLst/>
          </a:prstGeom>
          <a:noFill/>
        </p:spPr>
        <p:txBody>
          <a:bodyPr wrap="square" lIns="0" rIns="0" tIns="0" bIns="0" anchor="t">
            <a:spAutoFit/>
          </a:bodyPr>
          <a:lstStyle/>
          <a:p>
            <a:pPr algn="l"/>
            <a:r>
              <a:rPr sz="3000" b="1">
                <a:solidFill>
                  <a:srgbClr val="2B333C"/>
                </a:solidFill>
                <a:latin typeface="Century Schoolbook"/>
              </a:rPr>
              <a:t>A</a:t>
            </a:r>
          </a:p>
        </p:txBody>
      </p:sp>
      <p:sp>
        <p:nvSpPr>
          <p:cNvPr id="15" name="TextBox 14"/>
          <p:cNvSpPr txBox="1"/>
          <p:nvPr/>
        </p:nvSpPr>
        <p:spPr>
          <a:xfrm>
            <a:off x="3520439" y="2907791"/>
            <a:ext cx="3108960" cy="256032"/>
          </a:xfrm>
          <a:prstGeom prst="rect">
            <a:avLst/>
          </a:prstGeom>
          <a:noFill/>
        </p:spPr>
        <p:txBody>
          <a:bodyPr wrap="square" lIns="0" rIns="0" tIns="0" bIns="0" anchor="t">
            <a:spAutoFit/>
          </a:bodyPr>
          <a:lstStyle/>
          <a:p>
            <a:pPr algn="l"/>
            <a:r>
              <a:rPr sz="1250" b="1">
                <a:solidFill>
                  <a:srgbClr val="2B333C"/>
                </a:solidFill>
                <a:latin typeface="Calibri"/>
              </a:rPr>
              <a:t>BASELINE</a:t>
            </a:r>
          </a:p>
        </p:txBody>
      </p:sp>
      <p:sp>
        <p:nvSpPr>
          <p:cNvPr id="16" name="TextBox 15"/>
          <p:cNvSpPr txBox="1"/>
          <p:nvPr/>
        </p:nvSpPr>
        <p:spPr>
          <a:xfrm>
            <a:off x="3520439" y="3200400"/>
            <a:ext cx="3108960" cy="347472"/>
          </a:xfrm>
          <a:prstGeom prst="rect">
            <a:avLst/>
          </a:prstGeom>
          <a:noFill/>
        </p:spPr>
        <p:txBody>
          <a:bodyPr wrap="square" lIns="0" rIns="0" tIns="0" bIns="0" anchor="t">
            <a:spAutoFit/>
          </a:bodyPr>
          <a:lstStyle/>
          <a:p>
            <a:pPr algn="l"/>
            <a:r>
              <a:rPr sz="1900" b="1">
                <a:solidFill>
                  <a:srgbClr val="2B333C"/>
                </a:solidFill>
                <a:latin typeface="Century Schoolbook"/>
              </a:rPr>
              <a:t>66 cycles / block</a:t>
            </a:r>
          </a:p>
        </p:txBody>
      </p:sp>
      <p:sp>
        <p:nvSpPr>
          <p:cNvPr id="17" name="TextBox 16"/>
          <p:cNvSpPr txBox="1"/>
          <p:nvPr/>
        </p:nvSpPr>
        <p:spPr>
          <a:xfrm>
            <a:off x="3520439" y="3602736"/>
            <a:ext cx="3108960" cy="292608"/>
          </a:xfrm>
          <a:prstGeom prst="rect">
            <a:avLst/>
          </a:prstGeom>
          <a:noFill/>
        </p:spPr>
        <p:txBody>
          <a:bodyPr wrap="square" lIns="0" rIns="0" tIns="0" bIns="0" anchor="t">
            <a:spAutoFit/>
          </a:bodyPr>
          <a:lstStyle/>
          <a:p>
            <a:pPr algn="l"/>
            <a:r>
              <a:rPr sz="1250" b="0">
                <a:solidFill>
                  <a:srgbClr val="6B7078"/>
                </a:solidFill>
                <a:latin typeface="Calibri"/>
              </a:rPr>
              <a:t>critical path: 1 round</a:t>
            </a:r>
          </a:p>
        </p:txBody>
      </p:sp>
      <p:sp>
        <p:nvSpPr>
          <p:cNvPr id="18" name="Rectangle 17"/>
          <p:cNvSpPr/>
          <p:nvPr/>
        </p:nvSpPr>
        <p:spPr>
          <a:xfrm>
            <a:off x="7040880" y="2670048"/>
            <a:ext cx="4297680" cy="1371600"/>
          </a:xfrm>
          <a:prstGeom prst="rect">
            <a:avLst/>
          </a:prstGeom>
          <a:solidFill>
            <a:srgbClr val="ED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96912" y="2944368"/>
            <a:ext cx="640080" cy="685800"/>
          </a:xfrm>
          <a:prstGeom prst="rect">
            <a:avLst/>
          </a:prstGeom>
          <a:noFill/>
        </p:spPr>
        <p:txBody>
          <a:bodyPr wrap="square" lIns="0" rIns="0" tIns="0" bIns="0" anchor="t">
            <a:spAutoFit/>
          </a:bodyPr>
          <a:lstStyle/>
          <a:p>
            <a:pPr algn="l"/>
            <a:r>
              <a:rPr sz="3000" b="1">
                <a:solidFill>
                  <a:srgbClr val="2B333C"/>
                </a:solidFill>
                <a:latin typeface="Century Schoolbook"/>
              </a:rPr>
              <a:t>B</a:t>
            </a:r>
          </a:p>
        </p:txBody>
      </p:sp>
      <p:sp>
        <p:nvSpPr>
          <p:cNvPr id="20" name="TextBox 19"/>
          <p:cNvSpPr txBox="1"/>
          <p:nvPr/>
        </p:nvSpPr>
        <p:spPr>
          <a:xfrm>
            <a:off x="8001000" y="2907791"/>
            <a:ext cx="3108960" cy="256032"/>
          </a:xfrm>
          <a:prstGeom prst="rect">
            <a:avLst/>
          </a:prstGeom>
          <a:noFill/>
        </p:spPr>
        <p:txBody>
          <a:bodyPr wrap="square" lIns="0" rIns="0" tIns="0" bIns="0" anchor="t">
            <a:spAutoFit/>
          </a:bodyPr>
          <a:lstStyle/>
          <a:p>
            <a:pPr algn="l"/>
            <a:r>
              <a:rPr sz="1250" b="1">
                <a:solidFill>
                  <a:srgbClr val="2B333C"/>
                </a:solidFill>
                <a:latin typeface="Calibri"/>
              </a:rPr>
              <a:t>UNROLLED</a:t>
            </a:r>
          </a:p>
        </p:txBody>
      </p:sp>
      <p:sp>
        <p:nvSpPr>
          <p:cNvPr id="21" name="TextBox 20"/>
          <p:cNvSpPr txBox="1"/>
          <p:nvPr/>
        </p:nvSpPr>
        <p:spPr>
          <a:xfrm>
            <a:off x="8001000" y="3200400"/>
            <a:ext cx="3108960" cy="347472"/>
          </a:xfrm>
          <a:prstGeom prst="rect">
            <a:avLst/>
          </a:prstGeom>
          <a:noFill/>
        </p:spPr>
        <p:txBody>
          <a:bodyPr wrap="square" lIns="0" rIns="0" tIns="0" bIns="0" anchor="t">
            <a:spAutoFit/>
          </a:bodyPr>
          <a:lstStyle/>
          <a:p>
            <a:pPr algn="l"/>
            <a:r>
              <a:rPr sz="1900" b="1">
                <a:solidFill>
                  <a:srgbClr val="2B333C"/>
                </a:solidFill>
                <a:latin typeface="Century Schoolbook"/>
              </a:rPr>
              <a:t>34 cycles / block</a:t>
            </a:r>
          </a:p>
        </p:txBody>
      </p:sp>
      <p:sp>
        <p:nvSpPr>
          <p:cNvPr id="22" name="TextBox 21"/>
          <p:cNvSpPr txBox="1"/>
          <p:nvPr/>
        </p:nvSpPr>
        <p:spPr>
          <a:xfrm>
            <a:off x="8001000" y="3602736"/>
            <a:ext cx="3108960" cy="292608"/>
          </a:xfrm>
          <a:prstGeom prst="rect">
            <a:avLst/>
          </a:prstGeom>
          <a:noFill/>
        </p:spPr>
        <p:txBody>
          <a:bodyPr wrap="square" lIns="0" rIns="0" tIns="0" bIns="0" anchor="t">
            <a:spAutoFit/>
          </a:bodyPr>
          <a:lstStyle/>
          <a:p>
            <a:pPr algn="l"/>
            <a:r>
              <a:rPr sz="1250" b="0">
                <a:solidFill>
                  <a:srgbClr val="6B7078"/>
                </a:solidFill>
                <a:latin typeface="Calibri"/>
              </a:rPr>
              <a:t>critical path: 2 rounds</a:t>
            </a:r>
          </a:p>
        </p:txBody>
      </p:sp>
      <p:sp>
        <p:nvSpPr>
          <p:cNvPr id="23" name="Rectangle 22"/>
          <p:cNvSpPr/>
          <p:nvPr/>
        </p:nvSpPr>
        <p:spPr>
          <a:xfrm>
            <a:off x="2560320" y="4151376"/>
            <a:ext cx="4297680" cy="1371600"/>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16352" y="4425696"/>
            <a:ext cx="640080" cy="685800"/>
          </a:xfrm>
          <a:prstGeom prst="rect">
            <a:avLst/>
          </a:prstGeom>
          <a:noFill/>
        </p:spPr>
        <p:txBody>
          <a:bodyPr wrap="square" lIns="0" rIns="0" tIns="0" bIns="0" anchor="t">
            <a:spAutoFit/>
          </a:bodyPr>
          <a:lstStyle/>
          <a:p>
            <a:pPr algn="l"/>
            <a:r>
              <a:rPr sz="3000" b="1">
                <a:solidFill>
                  <a:srgbClr val="C1440E"/>
                </a:solidFill>
                <a:latin typeface="Century Schoolbook"/>
              </a:rPr>
              <a:t>C</a:t>
            </a:r>
          </a:p>
        </p:txBody>
      </p:sp>
      <p:sp>
        <p:nvSpPr>
          <p:cNvPr id="25" name="TextBox 24"/>
          <p:cNvSpPr txBox="1"/>
          <p:nvPr/>
        </p:nvSpPr>
        <p:spPr>
          <a:xfrm>
            <a:off x="3520439" y="4389120"/>
            <a:ext cx="3108960" cy="256032"/>
          </a:xfrm>
          <a:prstGeom prst="rect">
            <a:avLst/>
          </a:prstGeom>
          <a:noFill/>
        </p:spPr>
        <p:txBody>
          <a:bodyPr wrap="square" lIns="0" rIns="0" tIns="0" bIns="0" anchor="t">
            <a:spAutoFit/>
          </a:bodyPr>
          <a:lstStyle/>
          <a:p>
            <a:pPr algn="l"/>
            <a:r>
              <a:rPr sz="1250" b="1">
                <a:solidFill>
                  <a:srgbClr val="C1440E"/>
                </a:solidFill>
                <a:latin typeface="Calibri"/>
              </a:rPr>
              <a:t>INTERLEAVED</a:t>
            </a:r>
          </a:p>
        </p:txBody>
      </p:sp>
      <p:sp>
        <p:nvSpPr>
          <p:cNvPr id="26" name="TextBox 25"/>
          <p:cNvSpPr txBox="1"/>
          <p:nvPr/>
        </p:nvSpPr>
        <p:spPr>
          <a:xfrm>
            <a:off x="3520439" y="4681728"/>
            <a:ext cx="3108960" cy="347472"/>
          </a:xfrm>
          <a:prstGeom prst="rect">
            <a:avLst/>
          </a:prstGeom>
          <a:noFill/>
        </p:spPr>
        <p:txBody>
          <a:bodyPr wrap="square" lIns="0" rIns="0" tIns="0" bIns="0" anchor="t">
            <a:spAutoFit/>
          </a:bodyPr>
          <a:lstStyle/>
          <a:p>
            <a:pPr algn="l"/>
            <a:r>
              <a:rPr sz="1900" b="1">
                <a:solidFill>
                  <a:srgbClr val="2B333C"/>
                </a:solidFill>
                <a:latin typeface="Century Schoolbook"/>
              </a:rPr>
              <a:t>33 cycles / block</a:t>
            </a:r>
          </a:p>
        </p:txBody>
      </p:sp>
      <p:sp>
        <p:nvSpPr>
          <p:cNvPr id="27" name="TextBox 26"/>
          <p:cNvSpPr txBox="1"/>
          <p:nvPr/>
        </p:nvSpPr>
        <p:spPr>
          <a:xfrm>
            <a:off x="3520439" y="5084064"/>
            <a:ext cx="3108960" cy="292608"/>
          </a:xfrm>
          <a:prstGeom prst="rect">
            <a:avLst/>
          </a:prstGeom>
          <a:noFill/>
        </p:spPr>
        <p:txBody>
          <a:bodyPr wrap="square" lIns="0" rIns="0" tIns="0" bIns="0" anchor="t">
            <a:spAutoFit/>
          </a:bodyPr>
          <a:lstStyle/>
          <a:p>
            <a:pPr algn="l"/>
            <a:r>
              <a:rPr sz="1250" b="0">
                <a:solidFill>
                  <a:srgbClr val="6B7078"/>
                </a:solidFill>
                <a:latin typeface="Calibri"/>
              </a:rPr>
              <a:t>critical path: 1 round</a:t>
            </a:r>
          </a:p>
        </p:txBody>
      </p:sp>
      <p:sp>
        <p:nvSpPr>
          <p:cNvPr id="28" name="Rectangle 27"/>
          <p:cNvSpPr/>
          <p:nvPr/>
        </p:nvSpPr>
        <p:spPr>
          <a:xfrm>
            <a:off x="7040880" y="4151376"/>
            <a:ext cx="4297680" cy="1371600"/>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96912" y="4425696"/>
            <a:ext cx="640080" cy="685800"/>
          </a:xfrm>
          <a:prstGeom prst="rect">
            <a:avLst/>
          </a:prstGeom>
          <a:noFill/>
        </p:spPr>
        <p:txBody>
          <a:bodyPr wrap="square" lIns="0" rIns="0" tIns="0" bIns="0" anchor="t">
            <a:spAutoFit/>
          </a:bodyPr>
          <a:lstStyle/>
          <a:p>
            <a:pPr algn="l"/>
            <a:r>
              <a:rPr sz="3000" b="1">
                <a:solidFill>
                  <a:srgbClr val="C1440E"/>
                </a:solidFill>
                <a:latin typeface="Century Schoolbook"/>
              </a:rPr>
              <a:t>D</a:t>
            </a:r>
          </a:p>
        </p:txBody>
      </p:sp>
      <p:sp>
        <p:nvSpPr>
          <p:cNvPr id="30" name="TextBox 29"/>
          <p:cNvSpPr txBox="1"/>
          <p:nvPr/>
        </p:nvSpPr>
        <p:spPr>
          <a:xfrm>
            <a:off x="8001000" y="4389120"/>
            <a:ext cx="3108960" cy="256032"/>
          </a:xfrm>
          <a:prstGeom prst="rect">
            <a:avLst/>
          </a:prstGeom>
          <a:noFill/>
        </p:spPr>
        <p:txBody>
          <a:bodyPr wrap="square" lIns="0" rIns="0" tIns="0" bIns="0" anchor="t">
            <a:spAutoFit/>
          </a:bodyPr>
          <a:lstStyle/>
          <a:p>
            <a:pPr algn="l"/>
            <a:r>
              <a:rPr sz="1250" b="1">
                <a:solidFill>
                  <a:srgbClr val="C1440E"/>
                </a:solidFill>
                <a:latin typeface="Calibri"/>
              </a:rPr>
              <a:t>BOTH LEVERS</a:t>
            </a:r>
          </a:p>
        </p:txBody>
      </p:sp>
      <p:sp>
        <p:nvSpPr>
          <p:cNvPr id="31" name="TextBox 30"/>
          <p:cNvSpPr txBox="1"/>
          <p:nvPr/>
        </p:nvSpPr>
        <p:spPr>
          <a:xfrm>
            <a:off x="8001000" y="4681728"/>
            <a:ext cx="3108960" cy="347472"/>
          </a:xfrm>
          <a:prstGeom prst="rect">
            <a:avLst/>
          </a:prstGeom>
          <a:noFill/>
        </p:spPr>
        <p:txBody>
          <a:bodyPr wrap="square" lIns="0" rIns="0" tIns="0" bIns="0" anchor="t">
            <a:spAutoFit/>
          </a:bodyPr>
          <a:lstStyle/>
          <a:p>
            <a:pPr algn="l"/>
            <a:r>
              <a:rPr sz="1900" b="1">
                <a:solidFill>
                  <a:srgbClr val="2B333C"/>
                </a:solidFill>
                <a:latin typeface="Century Schoolbook"/>
              </a:rPr>
              <a:t>17 cycles / block</a:t>
            </a:r>
          </a:p>
        </p:txBody>
      </p:sp>
      <p:sp>
        <p:nvSpPr>
          <p:cNvPr id="32" name="TextBox 31"/>
          <p:cNvSpPr txBox="1"/>
          <p:nvPr/>
        </p:nvSpPr>
        <p:spPr>
          <a:xfrm>
            <a:off x="8001000" y="5084064"/>
            <a:ext cx="3108960" cy="292608"/>
          </a:xfrm>
          <a:prstGeom prst="rect">
            <a:avLst/>
          </a:prstGeom>
          <a:noFill/>
        </p:spPr>
        <p:txBody>
          <a:bodyPr wrap="square" lIns="0" rIns="0" tIns="0" bIns="0" anchor="t">
            <a:spAutoFit/>
          </a:bodyPr>
          <a:lstStyle/>
          <a:p>
            <a:pPr algn="l"/>
            <a:r>
              <a:rPr sz="1250" b="0">
                <a:solidFill>
                  <a:srgbClr val="6B7078"/>
                </a:solidFill>
                <a:latin typeface="Calibri"/>
              </a:rPr>
              <a:t>critical path: 2 rounds</a:t>
            </a:r>
          </a:p>
        </p:txBody>
      </p:sp>
      <p:sp>
        <p:nvSpPr>
          <p:cNvPr id="33" name="TextBox 32"/>
          <p:cNvSpPr txBox="1"/>
          <p:nvPr/>
        </p:nvSpPr>
        <p:spPr>
          <a:xfrm>
            <a:off x="822960" y="5742432"/>
            <a:ext cx="10515600" cy="274320"/>
          </a:xfrm>
          <a:prstGeom prst="rect">
            <a:avLst/>
          </a:prstGeom>
          <a:noFill/>
        </p:spPr>
        <p:txBody>
          <a:bodyPr wrap="square" lIns="0" rIns="0" tIns="0" bIns="0" anchor="t">
            <a:spAutoFit/>
          </a:bodyPr>
          <a:lstStyle/>
          <a:p>
            <a:pPr algn="l"/>
            <a:r>
              <a:rPr sz="1500" b="1">
                <a:solidFill>
                  <a:srgbClr val="2B333C"/>
                </a:solidFill>
                <a:latin typeface="Calibri"/>
              </a:rPr>
              <a:t>One round module, four configurations</a:t>
            </a:r>
          </a:p>
        </p:txBody>
      </p:sp>
      <p:sp>
        <p:nvSpPr>
          <p:cNvPr id="34" name="TextBox 33"/>
          <p:cNvSpPr txBox="1"/>
          <p:nvPr/>
        </p:nvSpPr>
        <p:spPr>
          <a:xfrm>
            <a:off x="822960" y="6053328"/>
            <a:ext cx="10515600" cy="384048"/>
          </a:xfrm>
          <a:prstGeom prst="rect">
            <a:avLst/>
          </a:prstGeom>
          <a:noFill/>
        </p:spPr>
        <p:txBody>
          <a:bodyPr wrap="square" lIns="0" rIns="0" tIns="0" bIns="0" anchor="t">
            <a:spAutoFit/>
          </a:bodyPr>
          <a:lstStyle/>
          <a:p>
            <a:pPr algn="l"/>
            <a:r>
              <a:rPr sz="1400" b="0">
                <a:solidFill>
                  <a:srgbClr val="6B7078"/>
                </a:solidFill>
                <a:latin typeface="Calibri"/>
              </a:rPr>
              <a:t>The number of round instances and the placement of registers are the only variables between them.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02336"/>
            <a:ext cx="146304" cy="1463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256032"/>
            <a:ext cx="9692640" cy="566928"/>
          </a:xfrm>
          <a:prstGeom prst="rect">
            <a:avLst/>
          </a:prstGeom>
          <a:noFill/>
        </p:spPr>
        <p:txBody>
          <a:bodyPr wrap="square" lIns="0" rIns="0" tIns="0" bIns="0" anchor="t">
            <a:spAutoFit/>
          </a:bodyPr>
          <a:lstStyle/>
          <a:p>
            <a:pPr algn="l"/>
            <a:r>
              <a:rPr sz="3200" b="1">
                <a:solidFill>
                  <a:srgbClr val="2B333C"/>
                </a:solidFill>
                <a:latin typeface="Century Schoolbook"/>
              </a:rPr>
              <a:t>Two Levers, Two Bargains</a:t>
            </a:r>
          </a:p>
        </p:txBody>
      </p:sp>
      <p:sp>
        <p:nvSpPr>
          <p:cNvPr id="4" name="TextBox 3"/>
          <p:cNvSpPr txBox="1"/>
          <p:nvPr/>
        </p:nvSpPr>
        <p:spPr>
          <a:xfrm>
            <a:off x="11064240" y="310896"/>
            <a:ext cx="640080" cy="320040"/>
          </a:xfrm>
          <a:prstGeom prst="rect">
            <a:avLst/>
          </a:prstGeom>
          <a:noFill/>
        </p:spPr>
        <p:txBody>
          <a:bodyPr wrap="square" lIns="0" rIns="0" tIns="0" bIns="0" anchor="t">
            <a:spAutoFit/>
          </a:bodyPr>
          <a:lstStyle/>
          <a:p>
            <a:pPr algn="r"/>
            <a:r>
              <a:rPr sz="1100" b="1">
                <a:solidFill>
                  <a:srgbClr val="6B7078"/>
                </a:solidFill>
                <a:latin typeface="Calibri"/>
              </a:rPr>
              <a:t>05</a:t>
            </a:r>
          </a:p>
        </p:txBody>
      </p:sp>
      <p:sp>
        <p:nvSpPr>
          <p:cNvPr id="5" name="Rectangle 4"/>
          <p:cNvSpPr/>
          <p:nvPr/>
        </p:nvSpPr>
        <p:spPr>
          <a:xfrm>
            <a:off x="822960" y="1005840"/>
            <a:ext cx="10515600" cy="1051560"/>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234440"/>
            <a:ext cx="9875520" cy="640080"/>
          </a:xfrm>
          <a:prstGeom prst="rect">
            <a:avLst/>
          </a:prstGeom>
          <a:noFill/>
        </p:spPr>
        <p:txBody>
          <a:bodyPr wrap="square" lIns="0" rIns="0" tIns="0" bIns="0" anchor="ctr">
            <a:spAutoFit/>
          </a:bodyPr>
          <a:lstStyle/>
          <a:p>
            <a:pPr algn="l"/>
            <a:r>
              <a:rPr sz="1900" b="1">
                <a:solidFill>
                  <a:srgbClr val="C1440E"/>
                </a:solidFill>
                <a:latin typeface="Century Schoolbook"/>
              </a:rPr>
              <a:t>Moving across the grid and moving down it are not the same trade.</a:t>
            </a:r>
          </a:p>
        </p:txBody>
      </p:sp>
      <p:sp>
        <p:nvSpPr>
          <p:cNvPr id="7" name="Rectangle 6"/>
          <p:cNvSpPr/>
          <p:nvPr/>
        </p:nvSpPr>
        <p:spPr>
          <a:xfrm>
            <a:off x="822960" y="2377440"/>
            <a:ext cx="5029200" cy="2286000"/>
          </a:xfrm>
          <a:prstGeom prst="rect">
            <a:avLst/>
          </a:prstGeom>
          <a:solidFill>
            <a:srgbClr val="F2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633472"/>
            <a:ext cx="4389120" cy="256032"/>
          </a:xfrm>
          <a:prstGeom prst="rect">
            <a:avLst/>
          </a:prstGeom>
          <a:noFill/>
        </p:spPr>
        <p:txBody>
          <a:bodyPr wrap="square" lIns="0" rIns="0" tIns="0" bIns="0" anchor="t">
            <a:spAutoFit/>
          </a:bodyPr>
          <a:lstStyle/>
          <a:p>
            <a:pPr algn="l"/>
            <a:r>
              <a:rPr sz="1250" b="1">
                <a:solidFill>
                  <a:srgbClr val="C1440E"/>
                </a:solidFill>
                <a:latin typeface="Calibri"/>
              </a:rPr>
              <a:t>ACROSS A ROW — UNROLLING</a:t>
            </a:r>
          </a:p>
        </p:txBody>
      </p:sp>
      <p:sp>
        <p:nvSpPr>
          <p:cNvPr id="9" name="TextBox 8"/>
          <p:cNvSpPr txBox="1"/>
          <p:nvPr/>
        </p:nvSpPr>
        <p:spPr>
          <a:xfrm>
            <a:off x="1143000" y="2944368"/>
            <a:ext cx="4389120" cy="329184"/>
          </a:xfrm>
          <a:prstGeom prst="rect">
            <a:avLst/>
          </a:prstGeom>
          <a:noFill/>
        </p:spPr>
        <p:txBody>
          <a:bodyPr wrap="square" lIns="0" rIns="0" tIns="0" bIns="0" anchor="t">
            <a:spAutoFit/>
          </a:bodyPr>
          <a:lstStyle/>
          <a:p>
            <a:pPr algn="l"/>
            <a:r>
              <a:rPr sz="2000" b="1">
                <a:solidFill>
                  <a:srgbClr val="2B333C"/>
                </a:solidFill>
                <a:latin typeface="Century Schoolbook"/>
              </a:rPr>
              <a:t>Buys cycles, pays frequency</a:t>
            </a:r>
          </a:p>
        </p:txBody>
      </p:sp>
      <p:sp>
        <p:nvSpPr>
          <p:cNvPr id="10" name="TextBox 9"/>
          <p:cNvSpPr txBox="1"/>
          <p:nvPr/>
        </p:nvSpPr>
        <p:spPr>
          <a:xfrm>
            <a:off x="1143000" y="3364992"/>
            <a:ext cx="4389120" cy="914400"/>
          </a:xfrm>
          <a:prstGeom prst="rect">
            <a:avLst/>
          </a:prstGeom>
          <a:noFill/>
        </p:spPr>
        <p:txBody>
          <a:bodyPr wrap="square" lIns="0" rIns="0" tIns="0" bIns="0" anchor="t">
            <a:spAutoFit/>
          </a:bodyPr>
          <a:lstStyle/>
          <a:p>
            <a:pPr algn="l"/>
            <a:r>
              <a:rPr sz="1350" b="0">
                <a:solidFill>
                  <a:srgbClr val="6B7078"/>
                </a:solidFill>
                <a:latin typeface="Calibri"/>
              </a:rPr>
              <a:t>Two rounds chained combinationally put two five-input adder chains in series. The critical path doubles, so the clock must slow. Whether the cycle saving outweighs it is a real question.</a:t>
            </a:r>
          </a:p>
        </p:txBody>
      </p:sp>
      <p:sp>
        <p:nvSpPr>
          <p:cNvPr id="11" name="TextBox 10"/>
          <p:cNvSpPr txBox="1"/>
          <p:nvPr/>
        </p:nvSpPr>
        <p:spPr>
          <a:xfrm>
            <a:off x="1143000" y="4297680"/>
            <a:ext cx="4389120" cy="256032"/>
          </a:xfrm>
          <a:prstGeom prst="rect">
            <a:avLst/>
          </a:prstGeom>
          <a:noFill/>
        </p:spPr>
        <p:txBody>
          <a:bodyPr wrap="square" lIns="0" rIns="0" tIns="0" bIns="0" anchor="t">
            <a:spAutoFit/>
          </a:bodyPr>
          <a:lstStyle/>
          <a:p>
            <a:pPr algn="l"/>
            <a:r>
              <a:rPr sz="1350" b="1">
                <a:solidFill>
                  <a:srgbClr val="C1440E"/>
                </a:solidFill>
                <a:latin typeface="Calibri"/>
              </a:rPr>
              <a:t>May lose.  Break-even at 0.624.</a:t>
            </a:r>
          </a:p>
        </p:txBody>
      </p:sp>
      <p:sp>
        <p:nvSpPr>
          <p:cNvPr id="12" name="Rectangle 11"/>
          <p:cNvSpPr/>
          <p:nvPr/>
        </p:nvSpPr>
        <p:spPr>
          <a:xfrm>
            <a:off x="6309360" y="2377440"/>
            <a:ext cx="5029200" cy="2286000"/>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633472"/>
            <a:ext cx="4389120" cy="256032"/>
          </a:xfrm>
          <a:prstGeom prst="rect">
            <a:avLst/>
          </a:prstGeom>
          <a:noFill/>
        </p:spPr>
        <p:txBody>
          <a:bodyPr wrap="square" lIns="0" rIns="0" tIns="0" bIns="0" anchor="t">
            <a:spAutoFit/>
          </a:bodyPr>
          <a:lstStyle/>
          <a:p>
            <a:pPr algn="l"/>
            <a:r>
              <a:rPr sz="1250" b="1">
                <a:solidFill>
                  <a:srgbClr val="C1440E"/>
                </a:solidFill>
                <a:latin typeface="Calibri"/>
              </a:rPr>
              <a:t>DOWN A COLUMN — INTERLEAVING</a:t>
            </a:r>
          </a:p>
        </p:txBody>
      </p:sp>
      <p:sp>
        <p:nvSpPr>
          <p:cNvPr id="14" name="TextBox 13"/>
          <p:cNvSpPr txBox="1"/>
          <p:nvPr/>
        </p:nvSpPr>
        <p:spPr>
          <a:xfrm>
            <a:off x="6629400" y="2944368"/>
            <a:ext cx="4389120" cy="329184"/>
          </a:xfrm>
          <a:prstGeom prst="rect">
            <a:avLst/>
          </a:prstGeom>
          <a:noFill/>
        </p:spPr>
        <p:txBody>
          <a:bodyPr wrap="square" lIns="0" rIns="0" tIns="0" bIns="0" anchor="t">
            <a:spAutoFit/>
          </a:bodyPr>
          <a:lstStyle/>
          <a:p>
            <a:pPr algn="l"/>
            <a:r>
              <a:rPr sz="2000" b="1">
                <a:solidFill>
                  <a:srgbClr val="2B333C"/>
                </a:solidFill>
                <a:latin typeface="Century Schoolbook"/>
              </a:rPr>
              <a:t>Buys cycles, pays area</a:t>
            </a:r>
          </a:p>
        </p:txBody>
      </p:sp>
      <p:sp>
        <p:nvSpPr>
          <p:cNvPr id="15" name="TextBox 14"/>
          <p:cNvSpPr txBox="1"/>
          <p:nvPr/>
        </p:nvSpPr>
        <p:spPr>
          <a:xfrm>
            <a:off x="6629400" y="3364992"/>
            <a:ext cx="4389120" cy="914400"/>
          </a:xfrm>
          <a:prstGeom prst="rect">
            <a:avLst/>
          </a:prstGeom>
          <a:noFill/>
        </p:spPr>
        <p:txBody>
          <a:bodyPr wrap="square" lIns="0" rIns="0" tIns="0" bIns="0" anchor="t">
            <a:spAutoFit/>
          </a:bodyPr>
          <a:lstStyle/>
          <a:p>
            <a:pPr algn="l"/>
            <a:r>
              <a:rPr sz="1350" b="0">
                <a:solidFill>
                  <a:srgbClr val="6B7078"/>
                </a:solidFill>
                <a:latin typeface="Calibri"/>
              </a:rPr>
              <a:t>A register between the round instances is legal because the two messages are independent. The critical path is unchanged, so no frequency is traded. The cost is a second set of registers.</a:t>
            </a:r>
          </a:p>
        </p:txBody>
      </p:sp>
      <p:sp>
        <p:nvSpPr>
          <p:cNvPr id="16" name="TextBox 15"/>
          <p:cNvSpPr txBox="1"/>
          <p:nvPr/>
        </p:nvSpPr>
        <p:spPr>
          <a:xfrm>
            <a:off x="6629400" y="4297680"/>
            <a:ext cx="4389120" cy="256032"/>
          </a:xfrm>
          <a:prstGeom prst="rect">
            <a:avLst/>
          </a:prstGeom>
          <a:noFill/>
        </p:spPr>
        <p:txBody>
          <a:bodyPr wrap="square" lIns="0" rIns="0" tIns="0" bIns="0" anchor="t">
            <a:spAutoFit/>
          </a:bodyPr>
          <a:lstStyle/>
          <a:p>
            <a:pPr algn="l"/>
            <a:r>
              <a:rPr sz="1350" b="1">
                <a:solidFill>
                  <a:srgbClr val="C1440E"/>
                </a:solidFill>
                <a:latin typeface="Calibri"/>
              </a:rPr>
              <a:t>Cannot lose, absent a build error.</a:t>
            </a:r>
          </a:p>
        </p:txBody>
      </p:sp>
      <p:sp>
        <p:nvSpPr>
          <p:cNvPr id="17" name="TextBox 16"/>
          <p:cNvSpPr txBox="1"/>
          <p:nvPr/>
        </p:nvSpPr>
        <p:spPr>
          <a:xfrm>
            <a:off x="822960" y="4983480"/>
            <a:ext cx="10515600" cy="274320"/>
          </a:xfrm>
          <a:prstGeom prst="rect">
            <a:avLst/>
          </a:prstGeom>
          <a:noFill/>
        </p:spPr>
        <p:txBody>
          <a:bodyPr wrap="square" lIns="0" rIns="0" tIns="0" bIns="0" anchor="t">
            <a:spAutoFit/>
          </a:bodyPr>
          <a:lstStyle/>
          <a:p>
            <a:pPr algn="l"/>
            <a:r>
              <a:rPr sz="1500" b="1">
                <a:solidFill>
                  <a:srgbClr val="2B333C"/>
                </a:solidFill>
                <a:latin typeface="Calibri"/>
              </a:rPr>
              <a:t>The prediction</a:t>
            </a:r>
          </a:p>
        </p:txBody>
      </p:sp>
      <p:sp>
        <p:nvSpPr>
          <p:cNvPr id="18" name="TextBox 17"/>
          <p:cNvSpPr txBox="1"/>
          <p:nvPr/>
        </p:nvSpPr>
        <p:spPr>
          <a:xfrm>
            <a:off x="822960" y="5294376"/>
            <a:ext cx="10515600" cy="868680"/>
          </a:xfrm>
          <a:prstGeom prst="rect">
            <a:avLst/>
          </a:prstGeom>
          <a:noFill/>
        </p:spPr>
        <p:txBody>
          <a:bodyPr wrap="square" lIns="0" rIns="0" tIns="0" bIns="0" anchor="t">
            <a:spAutoFit/>
          </a:bodyPr>
          <a:lstStyle/>
          <a:p>
            <a:pPr algn="l"/>
            <a:r>
              <a:rPr sz="1400" b="0">
                <a:solidFill>
                  <a:srgbClr val="6B7078"/>
                </a:solidFill>
                <a:latin typeface="Calibri"/>
              </a:rPr>
              <a:t>Because the interleave register never touches the combinational path, the gain down a column should not depend on which column it is: A→C and B→D should both be close to 2×, whatever unrolling does. That independence is the claim the measurement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02336"/>
            <a:ext cx="146304" cy="1463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256032"/>
            <a:ext cx="9692640" cy="566928"/>
          </a:xfrm>
          <a:prstGeom prst="rect">
            <a:avLst/>
          </a:prstGeom>
          <a:noFill/>
        </p:spPr>
        <p:txBody>
          <a:bodyPr wrap="square" lIns="0" rIns="0" tIns="0" bIns="0" anchor="t">
            <a:spAutoFit/>
          </a:bodyPr>
          <a:lstStyle/>
          <a:p>
            <a:pPr algn="l"/>
            <a:r>
              <a:rPr sz="3200" b="1">
                <a:solidFill>
                  <a:srgbClr val="2B333C"/>
                </a:solidFill>
                <a:latin typeface="Century Schoolbook"/>
              </a:rPr>
              <a:t>Novelty and Contribution</a:t>
            </a:r>
          </a:p>
        </p:txBody>
      </p:sp>
      <p:sp>
        <p:nvSpPr>
          <p:cNvPr id="4" name="TextBox 3"/>
          <p:cNvSpPr txBox="1"/>
          <p:nvPr/>
        </p:nvSpPr>
        <p:spPr>
          <a:xfrm>
            <a:off x="11064240" y="310896"/>
            <a:ext cx="640080" cy="320040"/>
          </a:xfrm>
          <a:prstGeom prst="rect">
            <a:avLst/>
          </a:prstGeom>
          <a:noFill/>
        </p:spPr>
        <p:txBody>
          <a:bodyPr wrap="square" lIns="0" rIns="0" tIns="0" bIns="0" anchor="t">
            <a:spAutoFit/>
          </a:bodyPr>
          <a:lstStyle/>
          <a:p>
            <a:pPr algn="r"/>
            <a:r>
              <a:rPr sz="1100" b="1">
                <a:solidFill>
                  <a:srgbClr val="6B7078"/>
                </a:solidFill>
                <a:latin typeface="Calibri"/>
              </a:rPr>
              <a:t>06</a:t>
            </a:r>
          </a:p>
        </p:txBody>
      </p:sp>
      <p:sp>
        <p:nvSpPr>
          <p:cNvPr id="5" name="Rectangle 4"/>
          <p:cNvSpPr/>
          <p:nvPr/>
        </p:nvSpPr>
        <p:spPr>
          <a:xfrm>
            <a:off x="822960" y="1005840"/>
            <a:ext cx="10515600" cy="1051560"/>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234440"/>
            <a:ext cx="9875520" cy="640080"/>
          </a:xfrm>
          <a:prstGeom prst="rect">
            <a:avLst/>
          </a:prstGeom>
          <a:noFill/>
        </p:spPr>
        <p:txBody>
          <a:bodyPr wrap="square" lIns="0" rIns="0" tIns="0" bIns="0" anchor="ctr">
            <a:spAutoFit/>
          </a:bodyPr>
          <a:lstStyle/>
          <a:p>
            <a:pPr algn="l"/>
            <a:r>
              <a:rPr sz="1900" b="1">
                <a:solidFill>
                  <a:srgbClr val="C1440E"/>
                </a:solidFill>
                <a:latin typeface="Century Schoolbook"/>
              </a:rPr>
              <a:t>The contribution is a controlled re-test of a published result that contradicts theory.</a:t>
            </a:r>
          </a:p>
        </p:txBody>
      </p:sp>
      <p:sp>
        <p:nvSpPr>
          <p:cNvPr id="7" name="Rectangle 6"/>
          <p:cNvSpPr/>
          <p:nvPr/>
        </p:nvSpPr>
        <p:spPr>
          <a:xfrm>
            <a:off x="822960" y="2423160"/>
            <a:ext cx="146304" cy="1463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331720"/>
            <a:ext cx="548640" cy="274320"/>
          </a:xfrm>
          <a:prstGeom prst="rect">
            <a:avLst/>
          </a:prstGeom>
          <a:noFill/>
        </p:spPr>
        <p:txBody>
          <a:bodyPr wrap="square" lIns="0" rIns="0" tIns="0" bIns="0" anchor="t">
            <a:spAutoFit/>
          </a:bodyPr>
          <a:lstStyle/>
          <a:p>
            <a:pPr algn="l"/>
            <a:r>
              <a:rPr sz="1300" b="1">
                <a:solidFill>
                  <a:srgbClr val="C1440E"/>
                </a:solidFill>
                <a:latin typeface="Calibri"/>
              </a:rPr>
              <a:t>01</a:t>
            </a:r>
          </a:p>
        </p:txBody>
      </p:sp>
      <p:sp>
        <p:nvSpPr>
          <p:cNvPr id="9" name="TextBox 8"/>
          <p:cNvSpPr txBox="1"/>
          <p:nvPr/>
        </p:nvSpPr>
        <p:spPr>
          <a:xfrm>
            <a:off x="1783080" y="2295144"/>
            <a:ext cx="8961120" cy="292608"/>
          </a:xfrm>
          <a:prstGeom prst="rect">
            <a:avLst/>
          </a:prstGeom>
          <a:noFill/>
        </p:spPr>
        <p:txBody>
          <a:bodyPr wrap="square" lIns="0" rIns="0" tIns="0" bIns="0" anchor="t">
            <a:spAutoFit/>
          </a:bodyPr>
          <a:lstStyle/>
          <a:p>
            <a:pPr algn="l"/>
            <a:r>
              <a:rPr sz="1800" b="1">
                <a:solidFill>
                  <a:srgbClr val="2B333C"/>
                </a:solidFill>
                <a:latin typeface="Century Schoolbook"/>
              </a:rPr>
              <a:t>A re-test of a contradictory result</a:t>
            </a:r>
          </a:p>
        </p:txBody>
      </p:sp>
      <p:sp>
        <p:nvSpPr>
          <p:cNvPr id="10" name="TextBox 9"/>
          <p:cNvSpPr txBox="1"/>
          <p:nvPr/>
        </p:nvSpPr>
        <p:spPr>
          <a:xfrm>
            <a:off x="1783080" y="2660903"/>
            <a:ext cx="8961120" cy="640080"/>
          </a:xfrm>
          <a:prstGeom prst="rect">
            <a:avLst/>
          </a:prstGeom>
          <a:noFill/>
        </p:spPr>
        <p:txBody>
          <a:bodyPr wrap="square" lIns="0" rIns="0" tIns="0" bIns="0" anchor="t">
            <a:spAutoFit/>
          </a:bodyPr>
          <a:lstStyle/>
          <a:p>
            <a:pPr algn="l"/>
            <a:r>
              <a:rPr sz="1350" b="0">
                <a:solidFill>
                  <a:srgbClr val="6B7078"/>
                </a:solidFill>
                <a:latin typeface="Calibri"/>
              </a:rPr>
              <a:t>Suhaili &amp; Julai (2022) report the same 64-to-34-cycle design improving Fmax, against theory and the classical literature. Their designs were built separately, so architecture, device and toolchain cannot be told apart.</a:t>
            </a:r>
          </a:p>
        </p:txBody>
      </p:sp>
      <p:sp>
        <p:nvSpPr>
          <p:cNvPr id="11" name="Rectangle 10"/>
          <p:cNvSpPr/>
          <p:nvPr/>
        </p:nvSpPr>
        <p:spPr>
          <a:xfrm>
            <a:off x="822960" y="3566160"/>
            <a:ext cx="146304" cy="1463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3474720"/>
            <a:ext cx="548640" cy="274320"/>
          </a:xfrm>
          <a:prstGeom prst="rect">
            <a:avLst/>
          </a:prstGeom>
          <a:noFill/>
        </p:spPr>
        <p:txBody>
          <a:bodyPr wrap="square" lIns="0" rIns="0" tIns="0" bIns="0" anchor="t">
            <a:spAutoFit/>
          </a:bodyPr>
          <a:lstStyle/>
          <a:p>
            <a:pPr algn="l"/>
            <a:r>
              <a:rPr sz="1300" b="1">
                <a:solidFill>
                  <a:srgbClr val="C1440E"/>
                </a:solidFill>
                <a:latin typeface="Calibri"/>
              </a:rPr>
              <a:t>02</a:t>
            </a:r>
          </a:p>
        </p:txBody>
      </p:sp>
      <p:sp>
        <p:nvSpPr>
          <p:cNvPr id="13" name="TextBox 12"/>
          <p:cNvSpPr txBox="1"/>
          <p:nvPr/>
        </p:nvSpPr>
        <p:spPr>
          <a:xfrm>
            <a:off x="1783080" y="3438144"/>
            <a:ext cx="8961120" cy="292608"/>
          </a:xfrm>
          <a:prstGeom prst="rect">
            <a:avLst/>
          </a:prstGeom>
          <a:noFill/>
        </p:spPr>
        <p:txBody>
          <a:bodyPr wrap="square" lIns="0" rIns="0" tIns="0" bIns="0" anchor="t">
            <a:spAutoFit/>
          </a:bodyPr>
          <a:lstStyle/>
          <a:p>
            <a:pPr algn="l"/>
            <a:r>
              <a:rPr sz="1800" b="1">
                <a:solidFill>
                  <a:srgbClr val="2B333C"/>
                </a:solidFill>
                <a:latin typeface="Century Schoolbook"/>
              </a:rPr>
              <a:t>A controlled 2×2 measurement</a:t>
            </a:r>
          </a:p>
        </p:txBody>
      </p:sp>
      <p:sp>
        <p:nvSpPr>
          <p:cNvPr id="14" name="TextBox 13"/>
          <p:cNvSpPr txBox="1"/>
          <p:nvPr/>
        </p:nvSpPr>
        <p:spPr>
          <a:xfrm>
            <a:off x="1783080" y="3803904"/>
            <a:ext cx="8961120" cy="640080"/>
          </a:xfrm>
          <a:prstGeom prst="rect">
            <a:avLst/>
          </a:prstGeom>
          <a:noFill/>
        </p:spPr>
        <p:txBody>
          <a:bodyPr wrap="square" lIns="0" rIns="0" tIns="0" bIns="0" anchor="t">
            <a:spAutoFit/>
          </a:bodyPr>
          <a:lstStyle/>
          <a:p>
            <a:pPr algn="l"/>
            <a:r>
              <a:rPr sz="1350" b="0">
                <a:solidFill>
                  <a:srgbClr val="6B7078"/>
                </a:solidFill>
                <a:latin typeface="Calibri"/>
              </a:rPr>
              <a:t>Four cores, one round module, one script, one constraint set, one device. It also tests whether the interleave gain stays independent of unroll depth on real fabric, as C-slow retiming theory predicts.</a:t>
            </a:r>
          </a:p>
        </p:txBody>
      </p:sp>
      <p:sp>
        <p:nvSpPr>
          <p:cNvPr id="15" name="Rectangle 14"/>
          <p:cNvSpPr/>
          <p:nvPr/>
        </p:nvSpPr>
        <p:spPr>
          <a:xfrm>
            <a:off x="822960" y="4709159"/>
            <a:ext cx="146304" cy="1463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617720"/>
            <a:ext cx="548640" cy="274320"/>
          </a:xfrm>
          <a:prstGeom prst="rect">
            <a:avLst/>
          </a:prstGeom>
          <a:noFill/>
        </p:spPr>
        <p:txBody>
          <a:bodyPr wrap="square" lIns="0" rIns="0" tIns="0" bIns="0" anchor="t">
            <a:spAutoFit/>
          </a:bodyPr>
          <a:lstStyle/>
          <a:p>
            <a:pPr algn="l"/>
            <a:r>
              <a:rPr sz="1300" b="1">
                <a:solidFill>
                  <a:srgbClr val="C1440E"/>
                </a:solidFill>
                <a:latin typeface="Calibri"/>
              </a:rPr>
              <a:t>03</a:t>
            </a:r>
          </a:p>
        </p:txBody>
      </p:sp>
      <p:sp>
        <p:nvSpPr>
          <p:cNvPr id="17" name="TextBox 16"/>
          <p:cNvSpPr txBox="1"/>
          <p:nvPr/>
        </p:nvSpPr>
        <p:spPr>
          <a:xfrm>
            <a:off x="1783080" y="4581144"/>
            <a:ext cx="8961120" cy="292608"/>
          </a:xfrm>
          <a:prstGeom prst="rect">
            <a:avLst/>
          </a:prstGeom>
          <a:noFill/>
        </p:spPr>
        <p:txBody>
          <a:bodyPr wrap="square" lIns="0" rIns="0" tIns="0" bIns="0" anchor="t">
            <a:spAutoFit/>
          </a:bodyPr>
          <a:lstStyle/>
          <a:p>
            <a:pPr algn="l"/>
            <a:r>
              <a:rPr sz="1800" b="1">
                <a:solidFill>
                  <a:srgbClr val="2B333C"/>
                </a:solidFill>
                <a:latin typeface="Century Schoolbook"/>
              </a:rPr>
              <a:t>A threshold that can still fail</a:t>
            </a:r>
          </a:p>
        </p:txBody>
      </p:sp>
      <p:sp>
        <p:nvSpPr>
          <p:cNvPr id="18" name="TextBox 17"/>
          <p:cNvSpPr txBox="1"/>
          <p:nvPr/>
        </p:nvSpPr>
        <p:spPr>
          <a:xfrm>
            <a:off x="1783080" y="4946904"/>
            <a:ext cx="8961120" cy="640080"/>
          </a:xfrm>
          <a:prstGeom prst="rect">
            <a:avLst/>
          </a:prstGeom>
          <a:noFill/>
        </p:spPr>
        <p:txBody>
          <a:bodyPr wrap="square" lIns="0" rIns="0" tIns="0" bIns="0" anchor="t">
            <a:spAutoFit/>
          </a:bodyPr>
          <a:lstStyle/>
          <a:p>
            <a:pPr algn="l"/>
            <a:r>
              <a:rPr sz="1350" b="0">
                <a:solidFill>
                  <a:srgbClr val="6B7078"/>
                </a:solidFill>
                <a:latin typeface="Calibri"/>
              </a:rPr>
              <a:t>Config B's break-even was fixed before synthesis and may be missed. Adding C and D gives a positive result without softening that.</a:t>
            </a:r>
          </a:p>
        </p:txBody>
      </p:sp>
      <p:sp>
        <p:nvSpPr>
          <p:cNvPr id="19" name="Rectangle 18"/>
          <p:cNvSpPr/>
          <p:nvPr/>
        </p:nvSpPr>
        <p:spPr>
          <a:xfrm>
            <a:off x="822960" y="5742432"/>
            <a:ext cx="10515600" cy="731520"/>
          </a:xfrm>
          <a:prstGeom prst="rect">
            <a:avLst/>
          </a:prstGeom>
          <a:solidFill>
            <a:srgbClr val="F2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5907024"/>
            <a:ext cx="9875520" cy="475488"/>
          </a:xfrm>
          <a:prstGeom prst="rect">
            <a:avLst/>
          </a:prstGeom>
          <a:noFill/>
        </p:spPr>
        <p:txBody>
          <a:bodyPr wrap="square" lIns="0" rIns="0" tIns="0" bIns="0" anchor="t">
            <a:spAutoFit/>
          </a:bodyPr>
          <a:lstStyle/>
          <a:p>
            <a:pPr algn="l"/>
            <a:r>
              <a:rPr sz="1350" b="1">
                <a:solidFill>
                  <a:srgbClr val="2B333C"/>
                </a:solidFill>
                <a:latin typeface="Calibri"/>
              </a:rPr>
              <a:t>No novelty is claimed in unrolling, interleaving or pipelining. </a:t>
            </a:r>
            <a:r>
              <a:rPr sz="1350" b="0">
                <a:solidFill>
                  <a:srgbClr val="6B7078"/>
                </a:solidFill>
                <a:latin typeface="Calibri"/>
              </a:rPr>
              <a:t>All three are published, and the independence of the two axes follows from C-slow retiming theory. What is new is the controlled re-test.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02336"/>
            <a:ext cx="146304" cy="1463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256032"/>
            <a:ext cx="9692640" cy="566928"/>
          </a:xfrm>
          <a:prstGeom prst="rect">
            <a:avLst/>
          </a:prstGeom>
          <a:noFill/>
        </p:spPr>
        <p:txBody>
          <a:bodyPr wrap="square" lIns="0" rIns="0" tIns="0" bIns="0" anchor="t">
            <a:spAutoFit/>
          </a:bodyPr>
          <a:lstStyle/>
          <a:p>
            <a:pPr algn="l"/>
            <a:r>
              <a:rPr sz="3200" b="1">
                <a:solidFill>
                  <a:srgbClr val="2B333C"/>
                </a:solidFill>
                <a:latin typeface="Century Schoolbook"/>
              </a:rPr>
              <a:t>What the Literature Says</a:t>
            </a:r>
          </a:p>
        </p:txBody>
      </p:sp>
      <p:sp>
        <p:nvSpPr>
          <p:cNvPr id="4" name="TextBox 3"/>
          <p:cNvSpPr txBox="1"/>
          <p:nvPr/>
        </p:nvSpPr>
        <p:spPr>
          <a:xfrm>
            <a:off x="11064240" y="310896"/>
            <a:ext cx="640080" cy="320040"/>
          </a:xfrm>
          <a:prstGeom prst="rect">
            <a:avLst/>
          </a:prstGeom>
          <a:noFill/>
        </p:spPr>
        <p:txBody>
          <a:bodyPr wrap="square" lIns="0" rIns="0" tIns="0" bIns="0" anchor="t">
            <a:spAutoFit/>
          </a:bodyPr>
          <a:lstStyle/>
          <a:p>
            <a:pPr algn="r"/>
            <a:r>
              <a:rPr sz="1100" b="1">
                <a:solidFill>
                  <a:srgbClr val="6B7078"/>
                </a:solidFill>
                <a:latin typeface="Calibri"/>
              </a:rPr>
              <a:t>07</a:t>
            </a:r>
          </a:p>
        </p:txBody>
      </p:sp>
      <p:sp>
        <p:nvSpPr>
          <p:cNvPr id="5" name="Rectangle 4"/>
          <p:cNvSpPr/>
          <p:nvPr/>
        </p:nvSpPr>
        <p:spPr>
          <a:xfrm>
            <a:off x="822960" y="1005840"/>
            <a:ext cx="10515600" cy="1051560"/>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234440"/>
            <a:ext cx="9875520" cy="640080"/>
          </a:xfrm>
          <a:prstGeom prst="rect">
            <a:avLst/>
          </a:prstGeom>
          <a:noFill/>
        </p:spPr>
        <p:txBody>
          <a:bodyPr wrap="square" lIns="0" rIns="0" tIns="0" bIns="0" anchor="ctr">
            <a:spAutoFit/>
          </a:bodyPr>
          <a:lstStyle/>
          <a:p>
            <a:pPr algn="l"/>
            <a:r>
              <a:rPr sz="1900" b="1">
                <a:solidFill>
                  <a:srgbClr val="C1440E"/>
                </a:solidFill>
                <a:latin typeface="Century Schoolbook"/>
              </a:rPr>
              <a:t>A 2022 result contradicts the structural theory. That is the gap.</a:t>
            </a:r>
          </a:p>
        </p:txBody>
      </p:sp>
      <p:sp>
        <p:nvSpPr>
          <p:cNvPr id="7" name="Rectangle 6"/>
          <p:cNvSpPr/>
          <p:nvPr/>
        </p:nvSpPr>
        <p:spPr>
          <a:xfrm>
            <a:off x="822960" y="2331720"/>
            <a:ext cx="5029200" cy="1783080"/>
          </a:xfrm>
          <a:prstGeom prst="rect">
            <a:avLst/>
          </a:prstGeom>
          <a:solidFill>
            <a:srgbClr val="F2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569463"/>
            <a:ext cx="4389120" cy="256032"/>
          </a:xfrm>
          <a:prstGeom prst="rect">
            <a:avLst/>
          </a:prstGeom>
          <a:noFill/>
        </p:spPr>
        <p:txBody>
          <a:bodyPr wrap="square" lIns="0" rIns="0" tIns="0" bIns="0" anchor="t">
            <a:spAutoFit/>
          </a:bodyPr>
          <a:lstStyle/>
          <a:p>
            <a:pPr algn="l"/>
            <a:r>
              <a:rPr sz="1150" b="1">
                <a:solidFill>
                  <a:srgbClr val="C1440E"/>
                </a:solidFill>
                <a:latin typeface="Calibri"/>
              </a:rPr>
              <a:t>SUHAILI &amp; JULAI, 2022  ·  ARRIA II GX</a:t>
            </a:r>
          </a:p>
        </p:txBody>
      </p:sp>
      <p:sp>
        <p:nvSpPr>
          <p:cNvPr id="9" name="TextBox 8"/>
          <p:cNvSpPr txBox="1"/>
          <p:nvPr/>
        </p:nvSpPr>
        <p:spPr>
          <a:xfrm>
            <a:off x="1143000" y="2880360"/>
            <a:ext cx="4389120" cy="329184"/>
          </a:xfrm>
          <a:prstGeom prst="rect">
            <a:avLst/>
          </a:prstGeom>
          <a:noFill/>
        </p:spPr>
        <p:txBody>
          <a:bodyPr wrap="square" lIns="0" rIns="0" tIns="0" bIns="0" anchor="t">
            <a:spAutoFit/>
          </a:bodyPr>
          <a:lstStyle/>
          <a:p>
            <a:pPr algn="l"/>
            <a:r>
              <a:rPr sz="1900" b="1">
                <a:solidFill>
                  <a:srgbClr val="2B333C"/>
                </a:solidFill>
                <a:latin typeface="Century Schoolbook"/>
              </a:rPr>
              <a:t>Unrolling improved Fmax</a:t>
            </a:r>
          </a:p>
        </p:txBody>
      </p:sp>
      <p:sp>
        <p:nvSpPr>
          <p:cNvPr id="10" name="TextBox 9"/>
          <p:cNvSpPr txBox="1"/>
          <p:nvPr/>
        </p:nvSpPr>
        <p:spPr>
          <a:xfrm>
            <a:off x="1143000" y="3300984"/>
            <a:ext cx="4389120" cy="777240"/>
          </a:xfrm>
          <a:prstGeom prst="rect">
            <a:avLst/>
          </a:prstGeom>
          <a:noFill/>
        </p:spPr>
        <p:txBody>
          <a:bodyPr wrap="square" lIns="0" rIns="0" tIns="0" bIns="0" anchor="t">
            <a:spAutoFit/>
          </a:bodyPr>
          <a:lstStyle/>
          <a:p>
            <a:pPr algn="l"/>
            <a:r>
              <a:rPr sz="1300" b="0">
                <a:solidFill>
                  <a:srgbClr val="6B7078"/>
                </a:solidFill>
                <a:latin typeface="Calibri"/>
              </a:rPr>
              <a:t>Builds the same unfolding-by-two design, 64 rounds in 34 cycles, and reports that it surpassed the iterative design on maximum frequency.</a:t>
            </a:r>
          </a:p>
        </p:txBody>
      </p:sp>
      <p:sp>
        <p:nvSpPr>
          <p:cNvPr id="11" name="Rectangle 10"/>
          <p:cNvSpPr/>
          <p:nvPr/>
        </p:nvSpPr>
        <p:spPr>
          <a:xfrm>
            <a:off x="6309360" y="2331720"/>
            <a:ext cx="5029200" cy="1783080"/>
          </a:xfrm>
          <a:prstGeom prst="rect">
            <a:avLst/>
          </a:prstGeom>
          <a:solidFill>
            <a:srgbClr val="ED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569463"/>
            <a:ext cx="4389120" cy="256032"/>
          </a:xfrm>
          <a:prstGeom prst="rect">
            <a:avLst/>
          </a:prstGeom>
          <a:noFill/>
        </p:spPr>
        <p:txBody>
          <a:bodyPr wrap="square" lIns="0" rIns="0" tIns="0" bIns="0" anchor="t">
            <a:spAutoFit/>
          </a:bodyPr>
          <a:lstStyle/>
          <a:p>
            <a:pPr algn="l"/>
            <a:r>
              <a:rPr sz="1150" b="1">
                <a:solidFill>
                  <a:srgbClr val="C1440E"/>
                </a:solidFill>
                <a:latin typeface="Calibri"/>
              </a:rPr>
              <a:t>THE STRUCTURAL ARGUMENT</a:t>
            </a:r>
          </a:p>
        </p:txBody>
      </p:sp>
      <p:sp>
        <p:nvSpPr>
          <p:cNvPr id="13" name="TextBox 12"/>
          <p:cNvSpPr txBox="1"/>
          <p:nvPr/>
        </p:nvSpPr>
        <p:spPr>
          <a:xfrm>
            <a:off x="6629400" y="2880360"/>
            <a:ext cx="4389120" cy="329184"/>
          </a:xfrm>
          <a:prstGeom prst="rect">
            <a:avLst/>
          </a:prstGeom>
          <a:noFill/>
        </p:spPr>
        <p:txBody>
          <a:bodyPr wrap="square" lIns="0" rIns="0" tIns="0" bIns="0" anchor="t">
            <a:spAutoFit/>
          </a:bodyPr>
          <a:lstStyle/>
          <a:p>
            <a:pPr algn="l"/>
            <a:r>
              <a:rPr sz="1900" b="1">
                <a:solidFill>
                  <a:srgbClr val="2B333C"/>
                </a:solidFill>
                <a:latin typeface="Century Schoolbook"/>
              </a:rPr>
              <a:t>Fmax must fall</a:t>
            </a:r>
          </a:p>
        </p:txBody>
      </p:sp>
      <p:sp>
        <p:nvSpPr>
          <p:cNvPr id="14" name="TextBox 13"/>
          <p:cNvSpPr txBox="1"/>
          <p:nvPr/>
        </p:nvSpPr>
        <p:spPr>
          <a:xfrm>
            <a:off x="6629400" y="3300984"/>
            <a:ext cx="4389120" cy="777240"/>
          </a:xfrm>
          <a:prstGeom prst="rect">
            <a:avLst/>
          </a:prstGeom>
          <a:noFill/>
        </p:spPr>
        <p:txBody>
          <a:bodyPr wrap="square" lIns="0" rIns="0" tIns="0" bIns="0" anchor="t">
            <a:spAutoFit/>
          </a:bodyPr>
          <a:lstStyle/>
          <a:p>
            <a:pPr algn="l"/>
            <a:r>
              <a:rPr sz="1300" b="0">
                <a:solidFill>
                  <a:srgbClr val="6B7078"/>
                </a:solidFill>
                <a:latin typeface="Calibri"/>
              </a:rPr>
              <a:t>Two adder chains in series cannot be separated by a register without losing the cycle saving. The critical path doubles, so the clock slows.</a:t>
            </a:r>
          </a:p>
        </p:txBody>
      </p:sp>
      <p:sp>
        <p:nvSpPr>
          <p:cNvPr id="15" name="TextBox 14"/>
          <p:cNvSpPr txBox="1"/>
          <p:nvPr/>
        </p:nvSpPr>
        <p:spPr>
          <a:xfrm>
            <a:off x="822960" y="4370832"/>
            <a:ext cx="10515600" cy="274320"/>
          </a:xfrm>
          <a:prstGeom prst="rect">
            <a:avLst/>
          </a:prstGeom>
          <a:noFill/>
        </p:spPr>
        <p:txBody>
          <a:bodyPr wrap="square" lIns="0" rIns="0" tIns="0" bIns="0" anchor="t">
            <a:spAutoFit/>
          </a:bodyPr>
          <a:lstStyle/>
          <a:p>
            <a:pPr algn="l"/>
            <a:r>
              <a:rPr sz="1500" b="1">
                <a:solidFill>
                  <a:srgbClr val="2B333C"/>
                </a:solidFill>
                <a:latin typeface="Calibri"/>
              </a:rPr>
              <a:t>Why it is still open</a:t>
            </a:r>
          </a:p>
        </p:txBody>
      </p:sp>
      <p:sp>
        <p:nvSpPr>
          <p:cNvPr id="16" name="TextBox 15"/>
          <p:cNvSpPr txBox="1"/>
          <p:nvPr/>
        </p:nvSpPr>
        <p:spPr>
          <a:xfrm>
            <a:off x="822960" y="4709160"/>
            <a:ext cx="10515600" cy="1737360"/>
          </a:xfrm>
          <a:prstGeom prst="rect">
            <a:avLst/>
          </a:prstGeom>
          <a:noFill/>
        </p:spPr>
        <p:txBody>
          <a:bodyPr wrap="square" lIns="0" rIns="0" tIns="0" bIns="0">
            <a:spAutoFit/>
          </a:bodyPr>
          <a:lstStyle/>
          <a:p>
            <a:pPr>
              <a:spcAft>
                <a:spcPts val="900"/>
              </a:spcAft>
            </a:pPr>
            <a:r>
              <a:rPr sz="1350" b="1">
                <a:solidFill>
                  <a:srgbClr val="2B333C"/>
                </a:solidFill>
                <a:latin typeface="Calibri"/>
              </a:rPr>
              <a:t>Their three designs were built separately, </a:t>
            </a:r>
            <a:r>
              <a:rPr sz="1350" b="0">
                <a:solidFill>
                  <a:srgbClr val="6B7078"/>
                </a:solidFill>
                <a:latin typeface="Calibri"/>
              </a:rPr>
              <a:t>so a frequency difference cannot be attributed to unroll depth rather than to the device or the toolchain.</a:t>
            </a:r>
          </a:p>
          <a:p>
            <a:pPr>
              <a:spcAft>
                <a:spcPts val="900"/>
              </a:spcAft>
            </a:pPr>
            <a:r>
              <a:rPr sz="1350" b="1">
                <a:solidFill>
                  <a:srgbClr val="2B333C"/>
                </a:solidFill>
                <a:latin typeface="Calibri"/>
              </a:rPr>
              <a:t>Arria II GX is not Zynq-7020. </a:t>
            </a:r>
            <a:r>
              <a:rPr sz="1350" b="0">
                <a:solidFill>
                  <a:srgbClr val="6B7078"/>
                </a:solidFill>
                <a:latin typeface="Calibri"/>
              </a:rPr>
              <a:t>Whether a second adder chain fits the timing budget is a device question. An Altera answer does not transfer to Xilinx fabric.</a:t>
            </a:r>
          </a:p>
          <a:p>
            <a:pPr>
              <a:spcAft>
                <a:spcPts val="900"/>
              </a:spcAft>
            </a:pPr>
            <a:r>
              <a:rPr sz="1350" b="1">
                <a:solidFill>
                  <a:srgbClr val="2B333C"/>
                </a:solidFill>
                <a:latin typeface="Calibri"/>
              </a:rPr>
              <a:t>The field is active, not settled. </a:t>
            </a:r>
            <a:r>
              <a:rPr sz="1350" b="0">
                <a:solidFill>
                  <a:srgbClr val="6B7078"/>
                </a:solidFill>
                <a:latin typeface="Calibri"/>
              </a:rPr>
              <a:t>Two 2026 papers place SHA-256 on Zynq-7000, one on the ZedBoard itself.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02336"/>
            <a:ext cx="146304" cy="1463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256032"/>
            <a:ext cx="9692640" cy="566928"/>
          </a:xfrm>
          <a:prstGeom prst="rect">
            <a:avLst/>
          </a:prstGeom>
          <a:noFill/>
        </p:spPr>
        <p:txBody>
          <a:bodyPr wrap="square" lIns="0" rIns="0" tIns="0" bIns="0" anchor="t">
            <a:spAutoFit/>
          </a:bodyPr>
          <a:lstStyle/>
          <a:p>
            <a:pPr algn="l"/>
            <a:r>
              <a:rPr sz="3200" b="1">
                <a:solidFill>
                  <a:srgbClr val="2B333C"/>
                </a:solidFill>
                <a:latin typeface="Century Schoolbook"/>
              </a:rPr>
              <a:t>Verification Status</a:t>
            </a:r>
          </a:p>
        </p:txBody>
      </p:sp>
      <p:sp>
        <p:nvSpPr>
          <p:cNvPr id="4" name="TextBox 3"/>
          <p:cNvSpPr txBox="1"/>
          <p:nvPr/>
        </p:nvSpPr>
        <p:spPr>
          <a:xfrm>
            <a:off x="11064240" y="310896"/>
            <a:ext cx="640080" cy="320040"/>
          </a:xfrm>
          <a:prstGeom prst="rect">
            <a:avLst/>
          </a:prstGeom>
          <a:noFill/>
        </p:spPr>
        <p:txBody>
          <a:bodyPr wrap="square" lIns="0" rIns="0" tIns="0" bIns="0" anchor="t">
            <a:spAutoFit/>
          </a:bodyPr>
          <a:lstStyle/>
          <a:p>
            <a:pPr algn="r"/>
            <a:r>
              <a:rPr sz="1100" b="1">
                <a:solidFill>
                  <a:srgbClr val="6B7078"/>
                </a:solidFill>
                <a:latin typeface="Calibri"/>
              </a:rPr>
              <a:t>08</a:t>
            </a:r>
          </a:p>
        </p:txBody>
      </p:sp>
      <p:sp>
        <p:nvSpPr>
          <p:cNvPr id="5" name="Rectangle 4"/>
          <p:cNvSpPr/>
          <p:nvPr/>
        </p:nvSpPr>
        <p:spPr>
          <a:xfrm>
            <a:off x="822960" y="1005840"/>
            <a:ext cx="10515600" cy="1051560"/>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234440"/>
            <a:ext cx="9875520" cy="640080"/>
          </a:xfrm>
          <a:prstGeom prst="rect">
            <a:avLst/>
          </a:prstGeom>
          <a:noFill/>
        </p:spPr>
        <p:txBody>
          <a:bodyPr wrap="square" lIns="0" rIns="0" tIns="0" bIns="0" anchor="ctr">
            <a:spAutoFit/>
          </a:bodyPr>
          <a:lstStyle/>
          <a:p>
            <a:pPr algn="l"/>
            <a:r>
              <a:rPr sz="1900" b="1">
                <a:solidFill>
                  <a:srgbClr val="C1440E"/>
                </a:solidFill>
                <a:latin typeface="Century Schoolbook"/>
              </a:rPr>
              <a:t>69 RTL checks and 10 software checks, all passing.</a:t>
            </a:r>
          </a:p>
        </p:txBody>
      </p:sp>
      <p:sp>
        <p:nvSpPr>
          <p:cNvPr id="7" name="Rectangle 6"/>
          <p:cNvSpPr/>
          <p:nvPr/>
        </p:nvSpPr>
        <p:spPr>
          <a:xfrm>
            <a:off x="822960" y="2331720"/>
            <a:ext cx="2423160" cy="1097280"/>
          </a:xfrm>
          <a:prstGeom prst="rect">
            <a:avLst/>
          </a:prstGeom>
          <a:solidFill>
            <a:srgbClr val="F2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87168"/>
            <a:ext cx="1874519" cy="548640"/>
          </a:xfrm>
          <a:prstGeom prst="rect">
            <a:avLst/>
          </a:prstGeom>
          <a:noFill/>
        </p:spPr>
        <p:txBody>
          <a:bodyPr wrap="square" lIns="0" rIns="0" tIns="0" bIns="0" anchor="t">
            <a:spAutoFit/>
          </a:bodyPr>
          <a:lstStyle/>
          <a:p>
            <a:pPr algn="l"/>
            <a:r>
              <a:rPr sz="3400" b="1">
                <a:solidFill>
                  <a:srgbClr val="C1440E"/>
                </a:solidFill>
                <a:latin typeface="Century Schoolbook"/>
              </a:rPr>
              <a:t>69</a:t>
            </a:r>
          </a:p>
        </p:txBody>
      </p:sp>
      <p:sp>
        <p:nvSpPr>
          <p:cNvPr id="9" name="TextBox 8"/>
          <p:cNvSpPr txBox="1"/>
          <p:nvPr/>
        </p:nvSpPr>
        <p:spPr>
          <a:xfrm>
            <a:off x="1097280" y="3072384"/>
            <a:ext cx="1874519" cy="256032"/>
          </a:xfrm>
          <a:prstGeom prst="rect">
            <a:avLst/>
          </a:prstGeom>
          <a:noFill/>
        </p:spPr>
        <p:txBody>
          <a:bodyPr wrap="square" lIns="0" rIns="0" tIns="0" bIns="0" anchor="t">
            <a:spAutoFit/>
          </a:bodyPr>
          <a:lstStyle/>
          <a:p>
            <a:pPr algn="l"/>
            <a:r>
              <a:rPr sz="1250" b="0">
                <a:solidFill>
                  <a:srgbClr val="6B7078"/>
                </a:solidFill>
                <a:latin typeface="Calibri"/>
              </a:rPr>
              <a:t>RTL checks</a:t>
            </a:r>
          </a:p>
        </p:txBody>
      </p:sp>
      <p:sp>
        <p:nvSpPr>
          <p:cNvPr id="10" name="Rectangle 9"/>
          <p:cNvSpPr/>
          <p:nvPr/>
        </p:nvSpPr>
        <p:spPr>
          <a:xfrm>
            <a:off x="3520440" y="2331720"/>
            <a:ext cx="2423160" cy="1097280"/>
          </a:xfrm>
          <a:prstGeom prst="rect">
            <a:avLst/>
          </a:prstGeom>
          <a:solidFill>
            <a:srgbClr val="F2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60" y="2487168"/>
            <a:ext cx="1874519" cy="548640"/>
          </a:xfrm>
          <a:prstGeom prst="rect">
            <a:avLst/>
          </a:prstGeom>
          <a:noFill/>
        </p:spPr>
        <p:txBody>
          <a:bodyPr wrap="square" lIns="0" rIns="0" tIns="0" bIns="0" anchor="t">
            <a:spAutoFit/>
          </a:bodyPr>
          <a:lstStyle/>
          <a:p>
            <a:pPr algn="l"/>
            <a:r>
              <a:rPr sz="3400" b="1">
                <a:solidFill>
                  <a:srgbClr val="C1440E"/>
                </a:solidFill>
                <a:latin typeface="Century Schoolbook"/>
              </a:rPr>
              <a:t>10</a:t>
            </a:r>
          </a:p>
        </p:txBody>
      </p:sp>
      <p:sp>
        <p:nvSpPr>
          <p:cNvPr id="12" name="TextBox 11"/>
          <p:cNvSpPr txBox="1"/>
          <p:nvPr/>
        </p:nvSpPr>
        <p:spPr>
          <a:xfrm>
            <a:off x="3794760" y="3072384"/>
            <a:ext cx="1874519" cy="256032"/>
          </a:xfrm>
          <a:prstGeom prst="rect">
            <a:avLst/>
          </a:prstGeom>
          <a:noFill/>
        </p:spPr>
        <p:txBody>
          <a:bodyPr wrap="square" lIns="0" rIns="0" tIns="0" bIns="0" anchor="t">
            <a:spAutoFit/>
          </a:bodyPr>
          <a:lstStyle/>
          <a:p>
            <a:pPr algn="l"/>
            <a:r>
              <a:rPr sz="1250" b="0">
                <a:solidFill>
                  <a:srgbClr val="6B7078"/>
                </a:solidFill>
                <a:latin typeface="Calibri"/>
              </a:rPr>
              <a:t>software checks</a:t>
            </a:r>
          </a:p>
        </p:txBody>
      </p:sp>
      <p:sp>
        <p:nvSpPr>
          <p:cNvPr id="13" name="Rectangle 12"/>
          <p:cNvSpPr/>
          <p:nvPr/>
        </p:nvSpPr>
        <p:spPr>
          <a:xfrm>
            <a:off x="6217920" y="2331720"/>
            <a:ext cx="2423160" cy="1097280"/>
          </a:xfrm>
          <a:prstGeom prst="rect">
            <a:avLst/>
          </a:prstGeom>
          <a:solidFill>
            <a:srgbClr val="F2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487168"/>
            <a:ext cx="1874519" cy="548640"/>
          </a:xfrm>
          <a:prstGeom prst="rect">
            <a:avLst/>
          </a:prstGeom>
          <a:noFill/>
        </p:spPr>
        <p:txBody>
          <a:bodyPr wrap="square" lIns="0" rIns="0" tIns="0" bIns="0" anchor="t">
            <a:spAutoFit/>
          </a:bodyPr>
          <a:lstStyle/>
          <a:p>
            <a:pPr algn="l"/>
            <a:r>
              <a:rPr sz="3400" b="1">
                <a:solidFill>
                  <a:srgbClr val="C1440E"/>
                </a:solidFill>
                <a:latin typeface="Century Schoolbook"/>
              </a:rPr>
              <a:t>64</a:t>
            </a:r>
          </a:p>
        </p:txBody>
      </p:sp>
      <p:sp>
        <p:nvSpPr>
          <p:cNvPr id="15" name="TextBox 14"/>
          <p:cNvSpPr txBox="1"/>
          <p:nvPr/>
        </p:nvSpPr>
        <p:spPr>
          <a:xfrm>
            <a:off x="6492240" y="3072384"/>
            <a:ext cx="1874519" cy="256032"/>
          </a:xfrm>
          <a:prstGeom prst="rect">
            <a:avLst/>
          </a:prstGeom>
          <a:noFill/>
        </p:spPr>
        <p:txBody>
          <a:bodyPr wrap="square" lIns="0" rIns="0" tIns="0" bIns="0" anchor="t">
            <a:spAutoFit/>
          </a:bodyPr>
          <a:lstStyle/>
          <a:p>
            <a:pPr algn="l"/>
            <a:r>
              <a:rPr sz="1250" b="0">
                <a:solidFill>
                  <a:srgbClr val="6B7078"/>
                </a:solidFill>
                <a:latin typeface="Calibri"/>
              </a:rPr>
              <a:t>rounds traced</a:t>
            </a:r>
          </a:p>
        </p:txBody>
      </p:sp>
      <p:sp>
        <p:nvSpPr>
          <p:cNvPr id="16" name="Rectangle 15"/>
          <p:cNvSpPr/>
          <p:nvPr/>
        </p:nvSpPr>
        <p:spPr>
          <a:xfrm>
            <a:off x="8915400" y="2331720"/>
            <a:ext cx="2423160" cy="1097280"/>
          </a:xfrm>
          <a:prstGeom prst="rect">
            <a:avLst/>
          </a:prstGeom>
          <a:solidFill>
            <a:srgbClr val="F2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2487168"/>
            <a:ext cx="1874519" cy="548640"/>
          </a:xfrm>
          <a:prstGeom prst="rect">
            <a:avLst/>
          </a:prstGeom>
          <a:noFill/>
        </p:spPr>
        <p:txBody>
          <a:bodyPr wrap="square" lIns="0" rIns="0" tIns="0" bIns="0" anchor="t">
            <a:spAutoFit/>
          </a:bodyPr>
          <a:lstStyle/>
          <a:p>
            <a:pPr algn="l"/>
            <a:r>
              <a:rPr sz="3400" b="1">
                <a:solidFill>
                  <a:srgbClr val="C1440E"/>
                </a:solidFill>
                <a:latin typeface="Century Schoolbook"/>
              </a:rPr>
              <a:t>0</a:t>
            </a:r>
          </a:p>
        </p:txBody>
      </p:sp>
      <p:sp>
        <p:nvSpPr>
          <p:cNvPr id="18" name="TextBox 17"/>
          <p:cNvSpPr txBox="1"/>
          <p:nvPr/>
        </p:nvSpPr>
        <p:spPr>
          <a:xfrm>
            <a:off x="9189720" y="3072384"/>
            <a:ext cx="1874519" cy="256032"/>
          </a:xfrm>
          <a:prstGeom prst="rect">
            <a:avLst/>
          </a:prstGeom>
          <a:noFill/>
        </p:spPr>
        <p:txBody>
          <a:bodyPr wrap="square" lIns="0" rIns="0" tIns="0" bIns="0" anchor="t">
            <a:spAutoFit/>
          </a:bodyPr>
          <a:lstStyle/>
          <a:p>
            <a:pPr algn="l"/>
            <a:r>
              <a:rPr sz="1250" b="0">
                <a:solidFill>
                  <a:srgbClr val="6B7078"/>
                </a:solidFill>
                <a:latin typeface="Calibri"/>
              </a:rPr>
              <a:t>failures</a:t>
            </a:r>
          </a:p>
        </p:txBody>
      </p:sp>
      <p:sp>
        <p:nvSpPr>
          <p:cNvPr id="19" name="TextBox 18"/>
          <p:cNvSpPr txBox="1"/>
          <p:nvPr/>
        </p:nvSpPr>
        <p:spPr>
          <a:xfrm>
            <a:off x="822960" y="3749039"/>
            <a:ext cx="10515600" cy="274320"/>
          </a:xfrm>
          <a:prstGeom prst="rect">
            <a:avLst/>
          </a:prstGeom>
          <a:noFill/>
        </p:spPr>
        <p:txBody>
          <a:bodyPr wrap="square" lIns="0" rIns="0" tIns="0" bIns="0" anchor="t">
            <a:spAutoFit/>
          </a:bodyPr>
          <a:lstStyle/>
          <a:p>
            <a:pPr algn="l"/>
            <a:r>
              <a:rPr sz="1500" b="1">
                <a:solidFill>
                  <a:srgbClr val="2B333C"/>
                </a:solidFill>
                <a:latin typeface="Calibri"/>
              </a:rPr>
              <a:t>What is checked</a:t>
            </a:r>
          </a:p>
        </p:txBody>
      </p:sp>
      <p:sp>
        <p:nvSpPr>
          <p:cNvPr id="20" name="TextBox 19"/>
          <p:cNvSpPr txBox="1"/>
          <p:nvPr/>
        </p:nvSpPr>
        <p:spPr>
          <a:xfrm>
            <a:off x="822960" y="4087368"/>
            <a:ext cx="4846320" cy="1828800"/>
          </a:xfrm>
          <a:prstGeom prst="rect">
            <a:avLst/>
          </a:prstGeom>
          <a:noFill/>
        </p:spPr>
        <p:txBody>
          <a:bodyPr wrap="square" lIns="0" rIns="0" tIns="0" bIns="0">
            <a:spAutoFit/>
          </a:bodyPr>
          <a:lstStyle/>
          <a:p>
            <a:pPr>
              <a:spcAft>
                <a:spcPts val="900"/>
              </a:spcAft>
            </a:pPr>
            <a:r>
              <a:rPr sz="1350" b="1">
                <a:solidFill>
                  <a:srgbClr val="2B333C"/>
                </a:solidFill>
                <a:latin typeface="Calibri"/>
              </a:rPr>
              <a:t>Logical functions and K ROM </a:t>
            </a:r>
            <a:r>
              <a:rPr sz="1350" b="0">
                <a:solidFill>
                  <a:srgbClr val="6B7078"/>
                </a:solidFill>
                <a:latin typeface="Calibri"/>
              </a:rPr>
              <a:t>against the Python model</a:t>
            </a:r>
          </a:p>
          <a:p>
            <a:pPr>
              <a:spcAft>
                <a:spcPts val="900"/>
              </a:spcAft>
            </a:pPr>
            <a:r>
              <a:rPr sz="1350" b="1">
                <a:solidFill>
                  <a:srgbClr val="2B333C"/>
                </a:solidFill>
                <a:latin typeface="Calibri"/>
              </a:rPr>
              <a:t>Message schedule </a:t>
            </a:r>
            <a:r>
              <a:rPr sz="1350" b="0">
                <a:solidFill>
                  <a:srgbClr val="6B7078"/>
                </a:solidFill>
                <a:latin typeface="Calibri"/>
              </a:rPr>
              <a:t>W[0..63] at all 64 rounds</a:t>
            </a:r>
          </a:p>
          <a:p>
            <a:pPr>
              <a:spcAft>
                <a:spcPts val="900"/>
              </a:spcAft>
            </a:pPr>
            <a:r>
              <a:rPr sz="1350" b="1">
                <a:solidFill>
                  <a:srgbClr val="2B333C"/>
                </a:solidFill>
                <a:latin typeface="Calibri"/>
              </a:rPr>
              <a:t>Per-round a..h </a:t>
            </a:r>
            <a:r>
              <a:rPr sz="1350" b="0">
                <a:solidFill>
                  <a:srgbClr val="6B7078"/>
                </a:solidFill>
                <a:latin typeface="Calibri"/>
              </a:rPr>
              <a:t>at all 64 rounds</a:t>
            </a:r>
          </a:p>
          <a:p>
            <a:pPr>
              <a:spcAft>
                <a:spcPts val="900"/>
              </a:spcAft>
            </a:pPr>
            <a:r>
              <a:rPr sz="1350" b="1">
                <a:solidFill>
                  <a:srgbClr val="2B333C"/>
                </a:solidFill>
                <a:latin typeface="Calibri"/>
              </a:rPr>
              <a:t>NIST vectors </a:t>
            </a:r>
            <a:r>
              <a:rPr sz="1350" b="0">
                <a:solidFill>
                  <a:srgbClr val="6B7078"/>
                </a:solidFill>
                <a:latin typeface="Calibri"/>
              </a:rPr>
              <a:t>including multi-block chaining</a:t>
            </a:r>
          </a:p>
        </p:txBody>
      </p:sp>
      <p:sp>
        <p:nvSpPr>
          <p:cNvPr id="21" name="TextBox 20"/>
          <p:cNvSpPr txBox="1"/>
          <p:nvPr/>
        </p:nvSpPr>
        <p:spPr>
          <a:xfrm>
            <a:off x="6309360" y="4087368"/>
            <a:ext cx="5029200" cy="1828800"/>
          </a:xfrm>
          <a:prstGeom prst="rect">
            <a:avLst/>
          </a:prstGeom>
          <a:noFill/>
        </p:spPr>
        <p:txBody>
          <a:bodyPr wrap="square" lIns="0" rIns="0" tIns="0" bIns="0">
            <a:spAutoFit/>
          </a:bodyPr>
          <a:lstStyle/>
          <a:p>
            <a:pPr>
              <a:spcAft>
                <a:spcPts val="900"/>
              </a:spcAft>
            </a:pPr>
            <a:r>
              <a:rPr sz="1350" b="1">
                <a:solidFill>
                  <a:srgbClr val="2B333C"/>
                </a:solidFill>
                <a:latin typeface="Calibri"/>
              </a:rPr>
              <a:t>Soak: 12 messages </a:t>
            </a:r>
            <a:r>
              <a:rPr sz="1350" b="0">
                <a:solidFill>
                  <a:srgbClr val="6B7078"/>
                </a:solidFill>
                <a:latin typeface="Calibri"/>
              </a:rPr>
              <a:t>at 55, 56, 63, 64 and 65 bytes — the padding boundaries that break most designs</a:t>
            </a:r>
          </a:p>
          <a:p>
            <a:pPr>
              <a:spcAft>
                <a:spcPts val="900"/>
              </a:spcAft>
            </a:pPr>
            <a:r>
              <a:rPr sz="1350" b="1">
                <a:solidFill>
                  <a:srgbClr val="2B333C"/>
                </a:solidFill>
                <a:latin typeface="Calibri"/>
              </a:rPr>
              <a:t>Four-way agreement: </a:t>
            </a:r>
            <a:r>
              <a:rPr sz="1350" b="0">
                <a:solidFill>
                  <a:srgbClr val="6B7078"/>
                </a:solidFill>
                <a:latin typeface="Calibri"/>
              </a:rPr>
              <a:t>A, B and both streams of C and D must produce bit-identical digests</a:t>
            </a:r>
          </a:p>
          <a:p>
            <a:pPr>
              <a:spcAft>
                <a:spcPts val="900"/>
              </a:spcAft>
            </a:pPr>
            <a:r>
              <a:rPr sz="1350" b="1">
                <a:solidFill>
                  <a:srgbClr val="2B333C"/>
                </a:solidFill>
                <a:latin typeface="Calibri"/>
              </a:rPr>
              <a:t>Cycle counts </a:t>
            </a:r>
            <a:r>
              <a:rPr sz="1350" b="0">
                <a:solidFill>
                  <a:srgbClr val="6B7078"/>
                </a:solidFill>
                <a:latin typeface="Calibri"/>
              </a:rPr>
              <a:t>66, 34, 33 and 17 confirmed in simulation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02336"/>
            <a:ext cx="146304" cy="1463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256032"/>
            <a:ext cx="9692640" cy="566928"/>
          </a:xfrm>
          <a:prstGeom prst="rect">
            <a:avLst/>
          </a:prstGeom>
          <a:noFill/>
        </p:spPr>
        <p:txBody>
          <a:bodyPr wrap="square" lIns="0" rIns="0" tIns="0" bIns="0" anchor="t">
            <a:spAutoFit/>
          </a:bodyPr>
          <a:lstStyle/>
          <a:p>
            <a:pPr algn="l"/>
            <a:r>
              <a:rPr sz="3200" b="1">
                <a:solidFill>
                  <a:srgbClr val="2B333C"/>
                </a:solidFill>
                <a:latin typeface="Century Schoolbook"/>
              </a:rPr>
              <a:t>The Measurement</a:t>
            </a:r>
          </a:p>
        </p:txBody>
      </p:sp>
      <p:sp>
        <p:nvSpPr>
          <p:cNvPr id="4" name="TextBox 3"/>
          <p:cNvSpPr txBox="1"/>
          <p:nvPr/>
        </p:nvSpPr>
        <p:spPr>
          <a:xfrm>
            <a:off x="11064240" y="310896"/>
            <a:ext cx="640080" cy="320040"/>
          </a:xfrm>
          <a:prstGeom prst="rect">
            <a:avLst/>
          </a:prstGeom>
          <a:noFill/>
        </p:spPr>
        <p:txBody>
          <a:bodyPr wrap="square" lIns="0" rIns="0" tIns="0" bIns="0" anchor="t">
            <a:spAutoFit/>
          </a:bodyPr>
          <a:lstStyle/>
          <a:p>
            <a:pPr algn="r"/>
            <a:r>
              <a:rPr sz="1100" b="1">
                <a:solidFill>
                  <a:srgbClr val="6B7078"/>
                </a:solidFill>
                <a:latin typeface="Calibri"/>
              </a:rPr>
              <a:t>09</a:t>
            </a:r>
          </a:p>
        </p:txBody>
      </p:sp>
      <p:sp>
        <p:nvSpPr>
          <p:cNvPr id="5" name="Rectangle 4"/>
          <p:cNvSpPr/>
          <p:nvPr/>
        </p:nvSpPr>
        <p:spPr>
          <a:xfrm>
            <a:off x="822960" y="1005840"/>
            <a:ext cx="10515600" cy="1051560"/>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234440"/>
            <a:ext cx="9875520" cy="640080"/>
          </a:xfrm>
          <a:prstGeom prst="rect">
            <a:avLst/>
          </a:prstGeom>
          <a:noFill/>
        </p:spPr>
        <p:txBody>
          <a:bodyPr wrap="square" lIns="0" rIns="0" tIns="0" bIns="0" anchor="ctr">
            <a:spAutoFit/>
          </a:bodyPr>
          <a:lstStyle/>
          <a:p>
            <a:pPr algn="l"/>
            <a:r>
              <a:rPr sz="1900" b="1">
                <a:solidFill>
                  <a:srgbClr val="C1440E"/>
                </a:solidFill>
                <a:latin typeface="Century Schoolbook"/>
              </a:rPr>
              <a:t>Four out-of-context builds, one script, one constraint set.</a:t>
            </a:r>
          </a:p>
        </p:txBody>
      </p:sp>
      <p:sp>
        <p:nvSpPr>
          <p:cNvPr id="7" name="TextBox 6"/>
          <p:cNvSpPr txBox="1"/>
          <p:nvPr/>
        </p:nvSpPr>
        <p:spPr>
          <a:xfrm>
            <a:off x="822960" y="2286000"/>
            <a:ext cx="10515600" cy="274320"/>
          </a:xfrm>
          <a:prstGeom prst="rect">
            <a:avLst/>
          </a:prstGeom>
          <a:noFill/>
        </p:spPr>
        <p:txBody>
          <a:bodyPr wrap="square" lIns="0" rIns="0" tIns="0" bIns="0" anchor="t">
            <a:spAutoFit/>
          </a:bodyPr>
          <a:lstStyle/>
          <a:p>
            <a:pPr algn="l"/>
            <a:r>
              <a:rPr sz="1500" b="1">
                <a:solidFill>
                  <a:srgbClr val="2B333C"/>
                </a:solidFill>
                <a:latin typeface="Calibri"/>
              </a:rPr>
              <a:t>Why the timing constraint is deliberately unreachable</a:t>
            </a:r>
          </a:p>
        </p:txBody>
      </p:sp>
      <p:sp>
        <p:nvSpPr>
          <p:cNvPr id="8" name="TextBox 7"/>
          <p:cNvSpPr txBox="1"/>
          <p:nvPr/>
        </p:nvSpPr>
        <p:spPr>
          <a:xfrm>
            <a:off x="822960" y="2624328"/>
            <a:ext cx="10515600" cy="868680"/>
          </a:xfrm>
          <a:prstGeom prst="rect">
            <a:avLst/>
          </a:prstGeom>
          <a:noFill/>
        </p:spPr>
        <p:txBody>
          <a:bodyPr wrap="square" lIns="0" rIns="0" tIns="0" bIns="0" anchor="t">
            <a:spAutoFit/>
          </a:bodyPr>
          <a:lstStyle/>
          <a:p>
            <a:pPr algn="l"/>
            <a:r>
              <a:rPr sz="1350" b="0">
                <a:solidFill>
                  <a:srgbClr val="6B7078"/>
                </a:solidFill>
                <a:latin typeface="Calibri"/>
              </a:rPr>
              <a:t>Vivado stops optimising once timing is met, so at 100 MHz all four would meet it with slack and the result would record where the tool chose to stop. The target is set at 250 MHz instead, pushing every configuration to its own limit under the same pressure. Negative slack is the measurement, not a failure.</a:t>
            </a:r>
          </a:p>
        </p:txBody>
      </p:sp>
      <p:sp>
        <p:nvSpPr>
          <p:cNvPr id="9" name="Rectangle 8"/>
          <p:cNvSpPr/>
          <p:nvPr/>
        </p:nvSpPr>
        <p:spPr>
          <a:xfrm>
            <a:off x="822960" y="3639312"/>
            <a:ext cx="10515600" cy="694944"/>
          </a:xfrm>
          <a:prstGeom prst="rect">
            <a:avLst/>
          </a:prstGeom>
          <a:solidFill>
            <a:srgbClr val="F2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858768"/>
            <a:ext cx="3017520" cy="274320"/>
          </a:xfrm>
          <a:prstGeom prst="rect">
            <a:avLst/>
          </a:prstGeom>
          <a:noFill/>
        </p:spPr>
        <p:txBody>
          <a:bodyPr wrap="square" lIns="0" rIns="0" tIns="0" bIns="0" anchor="t">
            <a:spAutoFit/>
          </a:bodyPr>
          <a:lstStyle/>
          <a:p>
            <a:pPr algn="l"/>
            <a:r>
              <a:rPr sz="1350" b="1">
                <a:solidFill>
                  <a:srgbClr val="2B333C"/>
                </a:solidFill>
                <a:latin typeface="Calibri"/>
              </a:rPr>
              <a:t>Config B clears 0.624</a:t>
            </a:r>
          </a:p>
        </p:txBody>
      </p:sp>
      <p:sp>
        <p:nvSpPr>
          <p:cNvPr id="11" name="TextBox 10"/>
          <p:cNvSpPr txBox="1"/>
          <p:nvPr/>
        </p:nvSpPr>
        <p:spPr>
          <a:xfrm>
            <a:off x="4389120" y="3858768"/>
            <a:ext cx="6675120" cy="457200"/>
          </a:xfrm>
          <a:prstGeom prst="rect">
            <a:avLst/>
          </a:prstGeom>
          <a:noFill/>
        </p:spPr>
        <p:txBody>
          <a:bodyPr wrap="square" lIns="0" rIns="0" tIns="0" bIns="0" anchor="t">
            <a:spAutoFit/>
          </a:bodyPr>
          <a:lstStyle/>
          <a:p>
            <a:pPr algn="l"/>
            <a:r>
              <a:rPr sz="1350" b="0">
                <a:solidFill>
                  <a:srgbClr val="6B7078"/>
                </a:solidFill>
                <a:latin typeface="Calibri"/>
              </a:rPr>
              <a:t>Unrolling pays. Report the gain and the ratio.</a:t>
            </a:r>
          </a:p>
        </p:txBody>
      </p:sp>
      <p:sp>
        <p:nvSpPr>
          <p:cNvPr id="12" name="Rectangle 11"/>
          <p:cNvSpPr/>
          <p:nvPr/>
        </p:nvSpPr>
        <p:spPr>
          <a:xfrm>
            <a:off x="822960" y="4443984"/>
            <a:ext cx="10515600" cy="694944"/>
          </a:xfrm>
          <a:prstGeom prst="rect">
            <a:avLst/>
          </a:prstGeom>
          <a:solidFill>
            <a:srgbClr val="ED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663440"/>
            <a:ext cx="3017520" cy="274320"/>
          </a:xfrm>
          <a:prstGeom prst="rect">
            <a:avLst/>
          </a:prstGeom>
          <a:noFill/>
        </p:spPr>
        <p:txBody>
          <a:bodyPr wrap="square" lIns="0" rIns="0" tIns="0" bIns="0" anchor="t">
            <a:spAutoFit/>
          </a:bodyPr>
          <a:lstStyle/>
          <a:p>
            <a:pPr algn="l"/>
            <a:r>
              <a:rPr sz="1350" b="1">
                <a:solidFill>
                  <a:srgbClr val="2B333C"/>
                </a:solidFill>
                <a:latin typeface="Calibri"/>
              </a:rPr>
              <a:t>Config B misses 0.624</a:t>
            </a:r>
          </a:p>
        </p:txBody>
      </p:sp>
      <p:sp>
        <p:nvSpPr>
          <p:cNvPr id="14" name="TextBox 13"/>
          <p:cNvSpPr txBox="1"/>
          <p:nvPr/>
        </p:nvSpPr>
        <p:spPr>
          <a:xfrm>
            <a:off x="4389120" y="4663440"/>
            <a:ext cx="6675120" cy="457200"/>
          </a:xfrm>
          <a:prstGeom prst="rect">
            <a:avLst/>
          </a:prstGeom>
          <a:noFill/>
        </p:spPr>
        <p:txBody>
          <a:bodyPr wrap="square" lIns="0" rIns="0" tIns="0" bIns="0" anchor="t">
            <a:spAutoFit/>
          </a:bodyPr>
          <a:lstStyle/>
          <a:p>
            <a:pPr algn="l"/>
            <a:r>
              <a:rPr sz="1350" b="0">
                <a:solidFill>
                  <a:srgbClr val="6B7078"/>
                </a:solidFill>
                <a:latin typeface="Calibri"/>
              </a:rPr>
              <a:t>A net loss on this device — the stated falsifiable outcome, and a valid finding.</a:t>
            </a:r>
          </a:p>
        </p:txBody>
      </p:sp>
      <p:sp>
        <p:nvSpPr>
          <p:cNvPr id="15" name="Rectangle 14"/>
          <p:cNvSpPr/>
          <p:nvPr/>
        </p:nvSpPr>
        <p:spPr>
          <a:xfrm>
            <a:off x="822960" y="5248656"/>
            <a:ext cx="10515600" cy="694944"/>
          </a:xfrm>
          <a:prstGeom prst="rect">
            <a:avLst/>
          </a:prstGeom>
          <a:solidFill>
            <a:srgbClr val="FB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468112"/>
            <a:ext cx="3017520" cy="274320"/>
          </a:xfrm>
          <a:prstGeom prst="rect">
            <a:avLst/>
          </a:prstGeom>
          <a:noFill/>
        </p:spPr>
        <p:txBody>
          <a:bodyPr wrap="square" lIns="0" rIns="0" tIns="0" bIns="0" anchor="t">
            <a:spAutoFit/>
          </a:bodyPr>
          <a:lstStyle/>
          <a:p>
            <a:pPr algn="l"/>
            <a:r>
              <a:rPr sz="1350" b="1">
                <a:solidFill>
                  <a:srgbClr val="2B333C"/>
                </a:solidFill>
                <a:latin typeface="Calibri"/>
              </a:rPr>
              <a:t>A→C and B→D agree</a:t>
            </a:r>
          </a:p>
        </p:txBody>
      </p:sp>
      <p:sp>
        <p:nvSpPr>
          <p:cNvPr id="17" name="TextBox 16"/>
          <p:cNvSpPr txBox="1"/>
          <p:nvPr/>
        </p:nvSpPr>
        <p:spPr>
          <a:xfrm>
            <a:off x="4389120" y="5468112"/>
            <a:ext cx="6675120" cy="457200"/>
          </a:xfrm>
          <a:prstGeom prst="rect">
            <a:avLst/>
          </a:prstGeom>
          <a:noFill/>
        </p:spPr>
        <p:txBody>
          <a:bodyPr wrap="square" lIns="0" rIns="0" tIns="0" bIns="0" anchor="t">
            <a:spAutoFit/>
          </a:bodyPr>
          <a:lstStyle/>
          <a:p>
            <a:pPr algn="l"/>
            <a:r>
              <a:rPr sz="1350" b="0">
                <a:solidFill>
                  <a:srgbClr val="6B7078"/>
                </a:solidFill>
                <a:latin typeface="Calibri"/>
              </a:rPr>
              <a:t>The two axes are independent. The orthogonality claim is confirmed.</a:t>
            </a:r>
          </a:p>
        </p:txBody>
      </p:sp>
      <p:sp>
        <p:nvSpPr>
          <p:cNvPr id="18" name="TextBox 17"/>
          <p:cNvSpPr txBox="1"/>
          <p:nvPr/>
        </p:nvSpPr>
        <p:spPr>
          <a:xfrm>
            <a:off x="822960" y="6199632"/>
            <a:ext cx="10515600" cy="292608"/>
          </a:xfrm>
          <a:prstGeom prst="rect">
            <a:avLst/>
          </a:prstGeom>
          <a:noFill/>
        </p:spPr>
        <p:txBody>
          <a:bodyPr wrap="square" lIns="0" rIns="0" tIns="0" bIns="0" anchor="t">
            <a:spAutoFit/>
          </a:bodyPr>
          <a:lstStyle/>
          <a:p>
            <a:pPr algn="l"/>
            <a:r>
              <a:rPr sz="1350" b="1">
                <a:solidFill>
                  <a:srgbClr val="C1440E"/>
                </a:solidFill>
                <a:latin typeface="Calibri"/>
              </a:rPr>
              <a:t>Every outcome is reportable. </a:t>
            </a:r>
            <a:r>
              <a:rPr sz="1350" b="0">
                <a:solidFill>
                  <a:srgbClr val="6B7078"/>
                </a:solidFill>
                <a:latin typeface="Calibri"/>
              </a:rPr>
              <a:t>The project does not depend on any one of them landing a particular 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