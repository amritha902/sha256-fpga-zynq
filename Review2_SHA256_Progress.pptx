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2 is a progress review. Lead with what is measured, be explicit about what is not yet measured, and present the new finding on slide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spend time on. It is a genuine finding that emerged from doing the integration work rather than from the original analysis, and it makes the Review 1 prediction more demanding rather than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91F"/>
        </a:solidFill>
      </p:bgPr>
    </p:bg>
    <p:spTree>
      <p:nvGrpSpPr>
        <p:cNvPr id="1" name=""/>
        <p:cNvGrpSpPr/>
        <p:nvPr/>
      </p:nvGrpSpPr>
      <p:grpSpPr>
        <a:xfrm>
          <a:off x="0" y="0"/>
          <a:ext cx="0" cy="0"/>
          <a:chOff x="0" y="0"/>
          <a:chExt cx="0" cy="0"/>
        </a:xfrm>
      </p:grpSpPr>
      <p:sp>
        <p:nvSpPr>
          <p:cNvPr id="2" name="Shape 0"/>
          <p:cNvSpPr/>
          <p:nvPr/>
        </p:nvSpPr>
        <p:spPr>
          <a:xfrm>
            <a:off x="731520" y="1188720"/>
            <a:ext cx="164592" cy="164592"/>
          </a:xfrm>
          <a:prstGeom prst="rect">
            <a:avLst/>
          </a:prstGeom>
          <a:solidFill>
            <a:srgbClr val="00A39B"/>
          </a:solidFill>
          <a:ln/>
        </p:spPr>
      </p:sp>
      <p:sp>
        <p:nvSpPr>
          <p:cNvPr id="3" name="Shape 1"/>
          <p:cNvSpPr/>
          <p:nvPr/>
        </p:nvSpPr>
        <p:spPr>
          <a:xfrm>
            <a:off x="950976" y="1188720"/>
            <a:ext cx="164592" cy="164592"/>
          </a:xfrm>
          <a:prstGeom prst="rect">
            <a:avLst/>
          </a:prstGeom>
          <a:solidFill>
            <a:srgbClr val="2A3038"/>
          </a:solidFill>
          <a:ln/>
        </p:spPr>
      </p:sp>
      <p:sp>
        <p:nvSpPr>
          <p:cNvPr id="4" name="Shape 2"/>
          <p:cNvSpPr/>
          <p:nvPr/>
        </p:nvSpPr>
        <p:spPr>
          <a:xfrm>
            <a:off x="1170432" y="1188720"/>
            <a:ext cx="164592" cy="164592"/>
          </a:xfrm>
          <a:prstGeom prst="rect">
            <a:avLst/>
          </a:prstGeom>
          <a:solidFill>
            <a:srgbClr val="2A3038"/>
          </a:solidFill>
          <a:ln/>
        </p:spPr>
      </p:sp>
      <p:sp>
        <p:nvSpPr>
          <p:cNvPr id="5" name="Shape 3"/>
          <p:cNvSpPr/>
          <p:nvPr/>
        </p:nvSpPr>
        <p:spPr>
          <a:xfrm>
            <a:off x="1389888" y="1188720"/>
            <a:ext cx="164592" cy="164592"/>
          </a:xfrm>
          <a:prstGeom prst="rect">
            <a:avLst/>
          </a:prstGeom>
          <a:solidFill>
            <a:srgbClr val="2A3038"/>
          </a:solidFill>
          <a:ln/>
        </p:spPr>
      </p:sp>
      <p:sp>
        <p:nvSpPr>
          <p:cNvPr id="6" name="Shape 4"/>
          <p:cNvSpPr/>
          <p:nvPr/>
        </p:nvSpPr>
        <p:spPr>
          <a:xfrm>
            <a:off x="1609344" y="1188720"/>
            <a:ext cx="164592" cy="164592"/>
          </a:xfrm>
          <a:prstGeom prst="rect">
            <a:avLst/>
          </a:prstGeom>
          <a:solidFill>
            <a:srgbClr val="00A39B"/>
          </a:solidFill>
          <a:ln/>
        </p:spPr>
      </p:sp>
      <p:sp>
        <p:nvSpPr>
          <p:cNvPr id="7" name="Shape 5"/>
          <p:cNvSpPr/>
          <p:nvPr/>
        </p:nvSpPr>
        <p:spPr>
          <a:xfrm>
            <a:off x="1828800" y="1188720"/>
            <a:ext cx="164592" cy="164592"/>
          </a:xfrm>
          <a:prstGeom prst="rect">
            <a:avLst/>
          </a:prstGeom>
          <a:solidFill>
            <a:srgbClr val="2A3038"/>
          </a:solidFill>
          <a:ln/>
        </p:spPr>
      </p:sp>
      <p:sp>
        <p:nvSpPr>
          <p:cNvPr id="8" name="Shape 6"/>
          <p:cNvSpPr/>
          <p:nvPr/>
        </p:nvSpPr>
        <p:spPr>
          <a:xfrm>
            <a:off x="2048256" y="1188720"/>
            <a:ext cx="164592" cy="164592"/>
          </a:xfrm>
          <a:prstGeom prst="rect">
            <a:avLst/>
          </a:prstGeom>
          <a:solidFill>
            <a:srgbClr val="2A3038"/>
          </a:solidFill>
          <a:ln/>
        </p:spPr>
      </p:sp>
      <p:sp>
        <p:nvSpPr>
          <p:cNvPr id="9" name="Shape 7"/>
          <p:cNvSpPr/>
          <p:nvPr/>
        </p:nvSpPr>
        <p:spPr>
          <a:xfrm>
            <a:off x="2267712" y="1188720"/>
            <a:ext cx="164592" cy="164592"/>
          </a:xfrm>
          <a:prstGeom prst="rect">
            <a:avLst/>
          </a:prstGeom>
          <a:solidFill>
            <a:srgbClr val="2A3038"/>
          </a:solidFill>
          <a:ln/>
        </p:spPr>
      </p:sp>
      <p:sp>
        <p:nvSpPr>
          <p:cNvPr id="10" name="Text 8"/>
          <p:cNvSpPr/>
          <p:nvPr/>
        </p:nvSpPr>
        <p:spPr>
          <a:xfrm>
            <a:off x="731520" y="731520"/>
            <a:ext cx="10789920" cy="320040"/>
          </a:xfrm>
          <a:prstGeom prst="rect">
            <a:avLst/>
          </a:prstGeom>
          <a:noFill/>
          <a:ln/>
        </p:spPr>
        <p:txBody>
          <a:bodyPr wrap="square" lIns="0" tIns="0" rIns="0" bIns="0" rtlCol="0" anchor="ctr"/>
          <a:lstStyle/>
          <a:p>
            <a:pPr indent="0" marL="0">
              <a:buNone/>
            </a:pPr>
            <a:r>
              <a:rPr lang="en-US" sz="1250" b="1" spc="200" kern="0" dirty="0">
                <a:solidFill>
                  <a:srgbClr val="00A39B"/>
                </a:solidFill>
                <a:latin typeface="Calibri" pitchFamily="34" charset="0"/>
                <a:ea typeface="Calibri" pitchFamily="34" charset="-122"/>
                <a:cs typeface="Calibri" pitchFamily="34" charset="-120"/>
              </a:rPr>
              <a:t>FPGA-BASED SYSTEM DESIGN  ·  PROJECT REVIEW 2</a:t>
            </a:r>
            <a:endParaRPr lang="en-US" sz="1250" dirty="0"/>
          </a:p>
        </p:txBody>
      </p:sp>
      <p:sp>
        <p:nvSpPr>
          <p:cNvPr id="11" name="Text 9"/>
          <p:cNvSpPr/>
          <p:nvPr/>
        </p:nvSpPr>
        <p:spPr>
          <a:xfrm>
            <a:off x="731520" y="1920240"/>
            <a:ext cx="10789920" cy="1463040"/>
          </a:xfrm>
          <a:prstGeom prst="rect">
            <a:avLst/>
          </a:prstGeom>
          <a:noFill/>
          <a:ln/>
        </p:spPr>
        <p:txBody>
          <a:bodyPr wrap="square" lIns="0" tIns="0" rIns="0" bIns="0" rtlCol="0" anchor="ctr"/>
          <a:lstStyle/>
          <a:p>
            <a:pPr indent="0" marL="0">
              <a:lnSpc>
                <a:spcPts val="4400"/>
              </a:lnSpc>
              <a:buNone/>
            </a:pPr>
            <a:r>
              <a:rPr lang="en-US" sz="4000" b="1" dirty="0">
                <a:solidFill>
                  <a:srgbClr val="FFFFFF"/>
                </a:solidFill>
                <a:latin typeface="Cambria" pitchFamily="34" charset="0"/>
                <a:ea typeface="Cambria" pitchFamily="34" charset="-122"/>
                <a:cs typeface="Cambria" pitchFamily="34" charset="-120"/>
              </a:rPr>
              <a:t>SHA-256 Accelerator</a:t>
            </a:r>
            <a:endParaRPr lang="en-US" sz="4000" dirty="0"/>
          </a:p>
          <a:p>
            <a:pPr indent="0" marL="0">
              <a:lnSpc>
                <a:spcPts val="4400"/>
              </a:lnSpc>
              <a:buNone/>
            </a:pPr>
            <a:r>
              <a:rPr lang="en-US" sz="4000" b="1" dirty="0">
                <a:solidFill>
                  <a:srgbClr val="FFFFFF"/>
                </a:solidFill>
                <a:latin typeface="Cambria" pitchFamily="34" charset="0"/>
                <a:ea typeface="Cambria" pitchFamily="34" charset="-122"/>
                <a:cs typeface="Cambria" pitchFamily="34" charset="-120"/>
              </a:rPr>
              <a:t>Progress Review</a:t>
            </a:r>
            <a:endParaRPr lang="en-US" sz="4000" dirty="0"/>
          </a:p>
        </p:txBody>
      </p:sp>
      <p:sp>
        <p:nvSpPr>
          <p:cNvPr id="12" name="Text 10"/>
          <p:cNvSpPr/>
          <p:nvPr/>
        </p:nvSpPr>
        <p:spPr>
          <a:xfrm>
            <a:off x="731520" y="3474720"/>
            <a:ext cx="10789920" cy="411480"/>
          </a:xfrm>
          <a:prstGeom prst="rect">
            <a:avLst/>
          </a:prstGeom>
          <a:noFill/>
          <a:ln/>
        </p:spPr>
        <p:txBody>
          <a:bodyPr wrap="square" lIns="0" tIns="0" rIns="0" bIns="0" rtlCol="0" anchor="ctr"/>
          <a:lstStyle/>
          <a:p>
            <a:pPr indent="0" marL="0">
              <a:buNone/>
            </a:pPr>
            <a:r>
              <a:rPr lang="en-US" sz="1800" dirty="0">
                <a:solidFill>
                  <a:srgbClr val="D3DBE2"/>
                </a:solidFill>
                <a:latin typeface="Calibri" pitchFamily="34" charset="0"/>
                <a:ea typeface="Calibri" pitchFamily="34" charset="-122"/>
                <a:cs typeface="Calibri" pitchFamily="34" charset="-120"/>
              </a:rPr>
              <a:t>RTL and verification complete · integration measured · synthesis next</a:t>
            </a:r>
            <a:endParaRPr lang="en-US" sz="1800" dirty="0"/>
          </a:p>
        </p:txBody>
      </p:sp>
      <p:sp>
        <p:nvSpPr>
          <p:cNvPr id="13" name="Shape 11"/>
          <p:cNvSpPr/>
          <p:nvPr/>
        </p:nvSpPr>
        <p:spPr>
          <a:xfrm>
            <a:off x="731520" y="4133088"/>
            <a:ext cx="7680960" cy="402336"/>
          </a:xfrm>
          <a:prstGeom prst="roundRect">
            <a:avLst>
              <a:gd name="adj" fmla="val 18182"/>
            </a:avLst>
          </a:prstGeom>
          <a:solidFill>
            <a:srgbClr val="222831"/>
          </a:solidFill>
          <a:ln/>
        </p:spPr>
      </p:sp>
      <p:sp>
        <p:nvSpPr>
          <p:cNvPr id="14" name="Text 12"/>
          <p:cNvSpPr/>
          <p:nvPr/>
        </p:nvSpPr>
        <p:spPr>
          <a:xfrm>
            <a:off x="731520" y="4133088"/>
            <a:ext cx="7680960" cy="402336"/>
          </a:xfrm>
          <a:prstGeom prst="rect">
            <a:avLst/>
          </a:prstGeom>
          <a:noFill/>
          <a:ln/>
        </p:spPr>
        <p:txBody>
          <a:bodyPr wrap="square" lIns="0" tIns="0" rIns="0" bIns="0" rtlCol="0" anchor="ctr"/>
          <a:lstStyle/>
          <a:p>
            <a:pPr algn="ctr" indent="0" marL="0">
              <a:buNone/>
            </a:pPr>
            <a:r>
              <a:rPr lang="en-US" sz="1150" b="1" dirty="0">
                <a:solidFill>
                  <a:srgbClr val="00A39B"/>
                </a:solidFill>
                <a:latin typeface="Calibri" pitchFamily="34" charset="0"/>
                <a:ea typeface="Calibri" pitchFamily="34" charset="-122"/>
                <a:cs typeface="Calibri" pitchFamily="34" charset="-120"/>
              </a:rPr>
              <a:t>44 RTL verification checks passing  ·  0 failures  ·  both configurations</a:t>
            </a:r>
            <a:endParaRPr lang="en-US" sz="1150" dirty="0"/>
          </a:p>
        </p:txBody>
      </p:sp>
      <p:sp>
        <p:nvSpPr>
          <p:cNvPr id="15" name="Text 13"/>
          <p:cNvSpPr/>
          <p:nvPr/>
        </p:nvSpPr>
        <p:spPr>
          <a:xfrm>
            <a:off x="731520" y="5120640"/>
            <a:ext cx="2651760" cy="237744"/>
          </a:xfrm>
          <a:prstGeom prst="rect">
            <a:avLst/>
          </a:prstGeom>
          <a:noFill/>
          <a:ln/>
        </p:spPr>
        <p:txBody>
          <a:bodyPr wrap="square" lIns="0" tIns="0" rIns="0" bIns="0" rtlCol="0" anchor="ctr"/>
          <a:lstStyle/>
          <a:p>
            <a:pPr indent="0" marL="0">
              <a:buNone/>
            </a:pPr>
            <a:r>
              <a:rPr lang="en-US" sz="900" b="1" spc="100" kern="0" dirty="0">
                <a:solidFill>
                  <a:srgbClr val="7A848E"/>
                </a:solidFill>
                <a:latin typeface="Calibri" pitchFamily="34" charset="0"/>
                <a:ea typeface="Calibri" pitchFamily="34" charset="-122"/>
                <a:cs typeface="Calibri" pitchFamily="34" charset="-120"/>
              </a:rPr>
              <a:t>PRESENTED BY</a:t>
            </a:r>
            <a:endParaRPr lang="en-US" sz="900" dirty="0"/>
          </a:p>
        </p:txBody>
      </p:sp>
      <p:sp>
        <p:nvSpPr>
          <p:cNvPr id="16" name="Text 14"/>
          <p:cNvSpPr/>
          <p:nvPr/>
        </p:nvSpPr>
        <p:spPr>
          <a:xfrm>
            <a:off x="731520" y="5367528"/>
            <a:ext cx="265176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Amritha S  ·  23BEC1368</a:t>
            </a:r>
            <a:endParaRPr lang="en-US" sz="1200" dirty="0"/>
          </a:p>
        </p:txBody>
      </p:sp>
      <p:sp>
        <p:nvSpPr>
          <p:cNvPr id="17" name="Text 15"/>
          <p:cNvSpPr/>
          <p:nvPr/>
        </p:nvSpPr>
        <p:spPr>
          <a:xfrm>
            <a:off x="3520440" y="5120640"/>
            <a:ext cx="2651760" cy="237744"/>
          </a:xfrm>
          <a:prstGeom prst="rect">
            <a:avLst/>
          </a:prstGeom>
          <a:noFill/>
          <a:ln/>
        </p:spPr>
        <p:txBody>
          <a:bodyPr wrap="square" lIns="0" tIns="0" rIns="0" bIns="0" rtlCol="0" anchor="ctr"/>
          <a:lstStyle/>
          <a:p>
            <a:pPr indent="0" marL="0">
              <a:buNone/>
            </a:pPr>
            <a:r>
              <a:rPr lang="en-US" sz="900" b="1" spc="100" kern="0" dirty="0">
                <a:solidFill>
                  <a:srgbClr val="7A848E"/>
                </a:solidFill>
                <a:latin typeface="Calibri" pitchFamily="34" charset="0"/>
                <a:ea typeface="Calibri" pitchFamily="34" charset="-122"/>
                <a:cs typeface="Calibri" pitchFamily="34" charset="-120"/>
              </a:rPr>
              <a:t>TARGET DEVICE</a:t>
            </a:r>
            <a:endParaRPr lang="en-US" sz="900" dirty="0"/>
          </a:p>
        </p:txBody>
      </p:sp>
      <p:sp>
        <p:nvSpPr>
          <p:cNvPr id="18" name="Text 16"/>
          <p:cNvSpPr/>
          <p:nvPr/>
        </p:nvSpPr>
        <p:spPr>
          <a:xfrm>
            <a:off x="3520440" y="5367528"/>
            <a:ext cx="265176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ZedBoard  ·  XC7Z020-1CLG484C</a:t>
            </a:r>
            <a:endParaRPr lang="en-US" sz="1200" dirty="0"/>
          </a:p>
        </p:txBody>
      </p:sp>
      <p:sp>
        <p:nvSpPr>
          <p:cNvPr id="19" name="Text 17"/>
          <p:cNvSpPr/>
          <p:nvPr/>
        </p:nvSpPr>
        <p:spPr>
          <a:xfrm>
            <a:off x="6309360" y="5120640"/>
            <a:ext cx="2651760" cy="237744"/>
          </a:xfrm>
          <a:prstGeom prst="rect">
            <a:avLst/>
          </a:prstGeom>
          <a:noFill/>
          <a:ln/>
        </p:spPr>
        <p:txBody>
          <a:bodyPr wrap="square" lIns="0" tIns="0" rIns="0" bIns="0" rtlCol="0" anchor="ctr"/>
          <a:lstStyle/>
          <a:p>
            <a:pPr indent="0" marL="0">
              <a:buNone/>
            </a:pPr>
            <a:r>
              <a:rPr lang="en-US" sz="900" b="1" spc="100" kern="0" dirty="0">
                <a:solidFill>
                  <a:srgbClr val="7A848E"/>
                </a:solidFill>
                <a:latin typeface="Calibri" pitchFamily="34" charset="0"/>
                <a:ea typeface="Calibri" pitchFamily="34" charset="-122"/>
                <a:cs typeface="Calibri" pitchFamily="34" charset="-120"/>
              </a:rPr>
              <a:t>TOOLCHAIN</a:t>
            </a:r>
            <a:endParaRPr lang="en-US" sz="900" dirty="0"/>
          </a:p>
        </p:txBody>
      </p:sp>
      <p:sp>
        <p:nvSpPr>
          <p:cNvPr id="20" name="Text 18"/>
          <p:cNvSpPr/>
          <p:nvPr/>
        </p:nvSpPr>
        <p:spPr>
          <a:xfrm>
            <a:off x="6309360" y="5367528"/>
            <a:ext cx="265176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Vivado 2022.2  ·  Vitis 2022.2</a:t>
            </a:r>
            <a:endParaRPr lang="en-US" sz="1200" dirty="0"/>
          </a:p>
        </p:txBody>
      </p:sp>
      <p:sp>
        <p:nvSpPr>
          <p:cNvPr id="21" name="Text 19"/>
          <p:cNvSpPr/>
          <p:nvPr/>
        </p:nvSpPr>
        <p:spPr>
          <a:xfrm>
            <a:off x="9098280" y="5120640"/>
            <a:ext cx="2651760" cy="237744"/>
          </a:xfrm>
          <a:prstGeom prst="rect">
            <a:avLst/>
          </a:prstGeom>
          <a:noFill/>
          <a:ln/>
        </p:spPr>
        <p:txBody>
          <a:bodyPr wrap="square" lIns="0" tIns="0" rIns="0" bIns="0" rtlCol="0" anchor="ctr"/>
          <a:lstStyle/>
          <a:p>
            <a:pPr indent="0" marL="0">
              <a:buNone/>
            </a:pPr>
            <a:r>
              <a:rPr lang="en-US" sz="900" b="1" spc="100" kern="0" dirty="0">
                <a:solidFill>
                  <a:srgbClr val="7A848E"/>
                </a:solidFill>
                <a:latin typeface="Calibri" pitchFamily="34" charset="0"/>
                <a:ea typeface="Calibri" pitchFamily="34" charset="-122"/>
                <a:cs typeface="Calibri" pitchFamily="34" charset="-120"/>
              </a:rPr>
              <a:t>STATUS</a:t>
            </a:r>
            <a:endParaRPr lang="en-US" sz="900" dirty="0"/>
          </a:p>
        </p:txBody>
      </p:sp>
      <p:sp>
        <p:nvSpPr>
          <p:cNvPr id="22" name="Text 20"/>
          <p:cNvSpPr/>
          <p:nvPr/>
        </p:nvSpPr>
        <p:spPr>
          <a:xfrm>
            <a:off x="9098280" y="5367528"/>
            <a:ext cx="265176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Week 8 of 12</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66928" y="512064"/>
            <a:ext cx="91440" cy="91440"/>
          </a:xfrm>
          <a:prstGeom prst="rect">
            <a:avLst/>
          </a:prstGeom>
          <a:solidFill>
            <a:srgbClr val="00A39B"/>
          </a:solidFill>
          <a:ln/>
        </p:spPr>
      </p:sp>
      <p:sp>
        <p:nvSpPr>
          <p:cNvPr id="3" name="Shape 1"/>
          <p:cNvSpPr/>
          <p:nvPr/>
        </p:nvSpPr>
        <p:spPr>
          <a:xfrm>
            <a:off x="691286" y="512064"/>
            <a:ext cx="91440" cy="91440"/>
          </a:xfrm>
          <a:prstGeom prst="rect">
            <a:avLst/>
          </a:prstGeom>
          <a:solidFill>
            <a:srgbClr val="C2CBD4"/>
          </a:solidFill>
          <a:ln/>
        </p:spPr>
      </p:sp>
      <p:sp>
        <p:nvSpPr>
          <p:cNvPr id="4" name="Shape 2"/>
          <p:cNvSpPr/>
          <p:nvPr/>
        </p:nvSpPr>
        <p:spPr>
          <a:xfrm>
            <a:off x="815645" y="512064"/>
            <a:ext cx="91440" cy="91440"/>
          </a:xfrm>
          <a:prstGeom prst="rect">
            <a:avLst/>
          </a:prstGeom>
          <a:solidFill>
            <a:srgbClr val="C2CBD4"/>
          </a:solidFill>
          <a:ln/>
        </p:spPr>
      </p:sp>
      <p:sp>
        <p:nvSpPr>
          <p:cNvPr id="5" name="Shape 3"/>
          <p:cNvSpPr/>
          <p:nvPr/>
        </p:nvSpPr>
        <p:spPr>
          <a:xfrm>
            <a:off x="940003" y="512064"/>
            <a:ext cx="91440" cy="91440"/>
          </a:xfrm>
          <a:prstGeom prst="rect">
            <a:avLst/>
          </a:prstGeom>
          <a:solidFill>
            <a:srgbClr val="C2CBD4"/>
          </a:solidFill>
          <a:ln/>
        </p:spPr>
      </p:sp>
      <p:sp>
        <p:nvSpPr>
          <p:cNvPr id="6" name="Shape 4"/>
          <p:cNvSpPr/>
          <p:nvPr/>
        </p:nvSpPr>
        <p:spPr>
          <a:xfrm>
            <a:off x="1064362" y="512064"/>
            <a:ext cx="91440" cy="91440"/>
          </a:xfrm>
          <a:prstGeom prst="rect">
            <a:avLst/>
          </a:prstGeom>
          <a:solidFill>
            <a:srgbClr val="00A39B"/>
          </a:solidFill>
          <a:ln/>
        </p:spPr>
      </p:sp>
      <p:sp>
        <p:nvSpPr>
          <p:cNvPr id="7" name="Shape 5"/>
          <p:cNvSpPr/>
          <p:nvPr/>
        </p:nvSpPr>
        <p:spPr>
          <a:xfrm>
            <a:off x="1188720" y="512064"/>
            <a:ext cx="91440" cy="91440"/>
          </a:xfrm>
          <a:prstGeom prst="rect">
            <a:avLst/>
          </a:prstGeom>
          <a:solidFill>
            <a:srgbClr val="C2CBD4"/>
          </a:solidFill>
          <a:ln/>
        </p:spPr>
      </p:sp>
      <p:sp>
        <p:nvSpPr>
          <p:cNvPr id="8" name="Shape 6"/>
          <p:cNvSpPr/>
          <p:nvPr/>
        </p:nvSpPr>
        <p:spPr>
          <a:xfrm>
            <a:off x="1313078" y="512064"/>
            <a:ext cx="91440" cy="91440"/>
          </a:xfrm>
          <a:prstGeom prst="rect">
            <a:avLst/>
          </a:prstGeom>
          <a:solidFill>
            <a:srgbClr val="C2CBD4"/>
          </a:solidFill>
          <a:ln/>
        </p:spPr>
      </p:sp>
      <p:sp>
        <p:nvSpPr>
          <p:cNvPr id="9" name="Shape 7"/>
          <p:cNvSpPr/>
          <p:nvPr/>
        </p:nvSpPr>
        <p:spPr>
          <a:xfrm>
            <a:off x="1437437" y="512064"/>
            <a:ext cx="91440" cy="91440"/>
          </a:xfrm>
          <a:prstGeom prst="rect">
            <a:avLst/>
          </a:prstGeom>
          <a:solidFill>
            <a:srgbClr val="C2CBD4"/>
          </a:solidFill>
          <a:ln/>
        </p:spPr>
      </p:sp>
      <p:sp>
        <p:nvSpPr>
          <p:cNvPr id="10" name="Text 8"/>
          <p:cNvSpPr/>
          <p:nvPr/>
        </p:nvSpPr>
        <p:spPr>
          <a:xfrm>
            <a:off x="1517904" y="310896"/>
            <a:ext cx="10058400" cy="530352"/>
          </a:xfrm>
          <a:prstGeom prst="rect">
            <a:avLst/>
          </a:prstGeom>
          <a:noFill/>
          <a:ln/>
        </p:spPr>
        <p:txBody>
          <a:bodyPr wrap="square" lIns="0" tIns="0" rIns="0" bIns="0" rtlCol="0" anchor="ctr"/>
          <a:lstStyle/>
          <a:p>
            <a:pPr algn="l" indent="0" marL="0">
              <a:buNone/>
            </a:pPr>
            <a:r>
              <a:rPr lang="en-US" sz="2600" b="1" dirty="0">
                <a:solidFill>
                  <a:srgbClr val="2B4257"/>
                </a:solidFill>
                <a:latin typeface="Cambria" pitchFamily="34" charset="0"/>
                <a:ea typeface="Cambria" pitchFamily="34" charset="-122"/>
                <a:cs typeface="Cambria" pitchFamily="34" charset="-120"/>
              </a:rPr>
              <a:t>Where the Project Stands</a:t>
            </a:r>
            <a:endParaRPr lang="en-US" sz="2600" dirty="0"/>
          </a:p>
        </p:txBody>
      </p:sp>
      <p:sp>
        <p:nvSpPr>
          <p:cNvPr id="11" name="Text 9"/>
          <p:cNvSpPr/>
          <p:nvPr/>
        </p:nvSpPr>
        <p:spPr>
          <a:xfrm>
            <a:off x="10972800" y="347472"/>
            <a:ext cx="640080" cy="365760"/>
          </a:xfrm>
          <a:prstGeom prst="rect">
            <a:avLst/>
          </a:prstGeom>
          <a:noFill/>
          <a:ln/>
        </p:spPr>
        <p:txBody>
          <a:bodyPr wrap="square" lIns="0" tIns="0" rIns="0" bIns="0" rtlCol="0" anchor="ctr"/>
          <a:lstStyle/>
          <a:p>
            <a:pPr algn="r" indent="0" marL="0">
              <a:buNone/>
            </a:pPr>
            <a:r>
              <a:rPr lang="en-US" sz="1100" b="1" dirty="0">
                <a:solidFill>
                  <a:srgbClr val="00A39B"/>
                </a:solidFill>
                <a:latin typeface="Calibri" pitchFamily="34" charset="0"/>
                <a:ea typeface="Calibri" pitchFamily="34" charset="-122"/>
                <a:cs typeface="Calibri" pitchFamily="34" charset="-120"/>
              </a:rPr>
              <a:t>01</a:t>
            </a:r>
            <a:endParaRPr lang="en-US" sz="1100" dirty="0"/>
          </a:p>
        </p:txBody>
      </p:sp>
      <p:sp>
        <p:nvSpPr>
          <p:cNvPr id="12" name="Text 10"/>
          <p:cNvSpPr/>
          <p:nvPr/>
        </p:nvSpPr>
        <p:spPr>
          <a:xfrm>
            <a:off x="1536192" y="841248"/>
            <a:ext cx="10058400" cy="274320"/>
          </a:xfrm>
          <a:prstGeom prst="rect">
            <a:avLst/>
          </a:prstGeom>
          <a:noFill/>
          <a:ln/>
        </p:spPr>
        <p:txBody>
          <a:bodyPr wrap="square" lIns="0" tIns="0" rIns="0" bIns="0" rtlCol="0" anchor="ctr"/>
          <a:lstStyle/>
          <a:p>
            <a:pPr algn="l" indent="0" marL="0">
              <a:buNone/>
            </a:pPr>
            <a:r>
              <a:rPr lang="en-US" sz="1250" i="1" dirty="0">
                <a:solidFill>
                  <a:srgbClr val="5F6B76"/>
                </a:solidFill>
                <a:latin typeface="Calibri" pitchFamily="34" charset="0"/>
                <a:ea typeface="Calibri" pitchFamily="34" charset="-122"/>
                <a:cs typeface="Calibri" pitchFamily="34" charset="-120"/>
              </a:rPr>
              <a:t>Green is measured, amber is running, red is not started</a:t>
            </a:r>
            <a:endParaRPr lang="en-US" sz="1250" dirty="0"/>
          </a:p>
        </p:txBody>
      </p:sp>
      <p:sp>
        <p:nvSpPr>
          <p:cNvPr id="13" name="Shape 11"/>
          <p:cNvSpPr/>
          <p:nvPr/>
        </p:nvSpPr>
        <p:spPr>
          <a:xfrm>
            <a:off x="640080" y="1371600"/>
            <a:ext cx="10972800" cy="1371600"/>
          </a:xfrm>
          <a:prstGeom prst="roundRect">
            <a:avLst>
              <a:gd name="adj" fmla="val 2667"/>
            </a:avLst>
          </a:prstGeom>
          <a:solidFill>
            <a:srgbClr val="EEF1F4"/>
          </a:solidFill>
          <a:ln/>
          <a:effectLst>
            <a:outerShdw sx="100000" sy="100000" kx="0" ky="0" algn="bl" rotWithShape="0" blurRad="76200" dist="12700" dir="5400000">
              <a:srgbClr val="A6AFB8">
                <a:alpha val="25000"/>
              </a:srgbClr>
            </a:outerShdw>
          </a:effectLst>
        </p:spPr>
      </p:sp>
      <p:sp>
        <p:nvSpPr>
          <p:cNvPr id="14" name="Text 12"/>
          <p:cNvSpPr/>
          <p:nvPr/>
        </p:nvSpPr>
        <p:spPr>
          <a:xfrm>
            <a:off x="822960" y="1499616"/>
            <a:ext cx="2468880" cy="658368"/>
          </a:xfrm>
          <a:prstGeom prst="rect">
            <a:avLst/>
          </a:prstGeom>
          <a:noFill/>
          <a:ln/>
        </p:spPr>
        <p:txBody>
          <a:bodyPr wrap="square" lIns="0" tIns="0" rIns="0" bIns="0" rtlCol="0" anchor="ctr"/>
          <a:lstStyle/>
          <a:p>
            <a:pPr algn="ctr" indent="0" marL="0">
              <a:buNone/>
            </a:pPr>
            <a:r>
              <a:rPr lang="en-US" sz="3400" b="1" dirty="0">
                <a:solidFill>
                  <a:srgbClr val="00A39B"/>
                </a:solidFill>
                <a:latin typeface="Cambria" pitchFamily="34" charset="0"/>
                <a:ea typeface="Cambria" pitchFamily="34" charset="-122"/>
                <a:cs typeface="Cambria" pitchFamily="34" charset="-120"/>
              </a:rPr>
              <a:t>44</a:t>
            </a:r>
            <a:endParaRPr lang="en-US" sz="3400" dirty="0"/>
          </a:p>
        </p:txBody>
      </p:sp>
      <p:sp>
        <p:nvSpPr>
          <p:cNvPr id="15" name="Text 13"/>
          <p:cNvSpPr/>
          <p:nvPr/>
        </p:nvSpPr>
        <p:spPr>
          <a:xfrm>
            <a:off x="822960" y="2176272"/>
            <a:ext cx="2468880" cy="475488"/>
          </a:xfrm>
          <a:prstGeom prst="rect">
            <a:avLst/>
          </a:prstGeom>
          <a:noFill/>
          <a:ln/>
        </p:spPr>
        <p:txBody>
          <a:bodyPr wrap="square" lIns="0" tIns="0" rIns="0" bIns="0" rtlCol="0" anchor="t"/>
          <a:lstStyle/>
          <a:p>
            <a:pPr algn="ctr" indent="0" marL="0">
              <a:buNone/>
            </a:pPr>
            <a:r>
              <a:rPr lang="en-US" sz="1100" dirty="0">
                <a:solidFill>
                  <a:srgbClr val="5F6B76"/>
                </a:solidFill>
                <a:latin typeface="Calibri" pitchFamily="34" charset="0"/>
                <a:ea typeface="Calibri" pitchFamily="34" charset="-122"/>
                <a:cs typeface="Calibri" pitchFamily="34" charset="-120"/>
              </a:rPr>
              <a:t>RTL checks passing</a:t>
            </a:r>
            <a:endParaRPr lang="en-US" sz="1100" dirty="0"/>
          </a:p>
          <a:p>
            <a:pPr algn="ctr" indent="0" marL="0">
              <a:buNone/>
            </a:pPr>
            <a:r>
              <a:rPr lang="en-US" sz="1100" dirty="0">
                <a:solidFill>
                  <a:srgbClr val="5F6B76"/>
                </a:solidFill>
                <a:latin typeface="Calibri" pitchFamily="34" charset="0"/>
                <a:ea typeface="Calibri" pitchFamily="34" charset="-122"/>
                <a:cs typeface="Calibri" pitchFamily="34" charset="-120"/>
              </a:rPr>
              <a:t>ZERO FAILURES</a:t>
            </a:r>
            <a:endParaRPr lang="en-US" sz="1100" dirty="0"/>
          </a:p>
        </p:txBody>
      </p:sp>
      <p:sp>
        <p:nvSpPr>
          <p:cNvPr id="16" name="Text 14"/>
          <p:cNvSpPr/>
          <p:nvPr/>
        </p:nvSpPr>
        <p:spPr>
          <a:xfrm>
            <a:off x="3520440" y="1499616"/>
            <a:ext cx="2468880" cy="658368"/>
          </a:xfrm>
          <a:prstGeom prst="rect">
            <a:avLst/>
          </a:prstGeom>
          <a:noFill/>
          <a:ln/>
        </p:spPr>
        <p:txBody>
          <a:bodyPr wrap="square" lIns="0" tIns="0" rIns="0" bIns="0" rtlCol="0" anchor="ctr"/>
          <a:lstStyle/>
          <a:p>
            <a:pPr algn="ctr" indent="0" marL="0">
              <a:buNone/>
            </a:pPr>
            <a:r>
              <a:rPr lang="en-US" sz="3400" b="1" dirty="0">
                <a:solidFill>
                  <a:srgbClr val="00A39B"/>
                </a:solidFill>
                <a:latin typeface="Cambria" pitchFamily="34" charset="0"/>
                <a:ea typeface="Cambria" pitchFamily="34" charset="-122"/>
                <a:cs typeface="Cambria" pitchFamily="34" charset="-120"/>
              </a:rPr>
              <a:t>100%</a:t>
            </a:r>
            <a:endParaRPr lang="en-US" sz="3400" dirty="0"/>
          </a:p>
        </p:txBody>
      </p:sp>
      <p:sp>
        <p:nvSpPr>
          <p:cNvPr id="17" name="Text 15"/>
          <p:cNvSpPr/>
          <p:nvPr/>
        </p:nvSpPr>
        <p:spPr>
          <a:xfrm>
            <a:off x="3520440" y="2176272"/>
            <a:ext cx="2468880" cy="475488"/>
          </a:xfrm>
          <a:prstGeom prst="rect">
            <a:avLst/>
          </a:prstGeom>
          <a:noFill/>
          <a:ln/>
        </p:spPr>
        <p:txBody>
          <a:bodyPr wrap="square" lIns="0" tIns="0" rIns="0" bIns="0" rtlCol="0" anchor="t"/>
          <a:lstStyle/>
          <a:p>
            <a:pPr algn="ctr" indent="0" marL="0">
              <a:buNone/>
            </a:pPr>
            <a:r>
              <a:rPr lang="en-US" sz="1100" dirty="0">
                <a:solidFill>
                  <a:srgbClr val="5F6B76"/>
                </a:solidFill>
                <a:latin typeface="Calibri" pitchFamily="34" charset="0"/>
                <a:ea typeface="Calibri" pitchFamily="34" charset="-122"/>
                <a:cs typeface="Calibri" pitchFamily="34" charset="-120"/>
              </a:rPr>
              <a:t>of planned RTL written</a:t>
            </a:r>
            <a:endParaRPr lang="en-US" sz="1100" dirty="0"/>
          </a:p>
          <a:p>
            <a:pPr algn="ctr" indent="0" marL="0">
              <a:buNone/>
            </a:pPr>
            <a:r>
              <a:rPr lang="en-US" sz="1100" dirty="0">
                <a:solidFill>
                  <a:srgbClr val="5F6B76"/>
                </a:solidFill>
                <a:latin typeface="Calibri" pitchFamily="34" charset="0"/>
                <a:ea typeface="Calibri" pitchFamily="34" charset="-122"/>
                <a:cs typeface="Calibri" pitchFamily="34" charset="-120"/>
              </a:rPr>
              <a:t>AND VERIFIED</a:t>
            </a:r>
            <a:endParaRPr lang="en-US" sz="1100" dirty="0"/>
          </a:p>
        </p:txBody>
      </p:sp>
      <p:sp>
        <p:nvSpPr>
          <p:cNvPr id="18" name="Text 16"/>
          <p:cNvSpPr/>
          <p:nvPr/>
        </p:nvSpPr>
        <p:spPr>
          <a:xfrm>
            <a:off x="6217920" y="1499616"/>
            <a:ext cx="2468880" cy="658368"/>
          </a:xfrm>
          <a:prstGeom prst="rect">
            <a:avLst/>
          </a:prstGeom>
          <a:noFill/>
          <a:ln/>
        </p:spPr>
        <p:txBody>
          <a:bodyPr wrap="square" lIns="0" tIns="0" rIns="0" bIns="0" rtlCol="0" anchor="ctr"/>
          <a:lstStyle/>
          <a:p>
            <a:pPr algn="ctr" indent="0" marL="0">
              <a:buNone/>
            </a:pPr>
            <a:r>
              <a:rPr lang="en-US" sz="3400" b="1" dirty="0">
                <a:solidFill>
                  <a:srgbClr val="00A39B"/>
                </a:solidFill>
                <a:latin typeface="Cambria" pitchFamily="34" charset="0"/>
                <a:ea typeface="Cambria" pitchFamily="34" charset="-122"/>
                <a:cs typeface="Cambria" pitchFamily="34" charset="-120"/>
              </a:rPr>
              <a:t>2 / 2</a:t>
            </a:r>
            <a:endParaRPr lang="en-US" sz="3400" dirty="0"/>
          </a:p>
        </p:txBody>
      </p:sp>
      <p:sp>
        <p:nvSpPr>
          <p:cNvPr id="19" name="Text 17"/>
          <p:cNvSpPr/>
          <p:nvPr/>
        </p:nvSpPr>
        <p:spPr>
          <a:xfrm>
            <a:off x="6217920" y="2176272"/>
            <a:ext cx="2468880" cy="475488"/>
          </a:xfrm>
          <a:prstGeom prst="rect">
            <a:avLst/>
          </a:prstGeom>
          <a:noFill/>
          <a:ln/>
        </p:spPr>
        <p:txBody>
          <a:bodyPr wrap="square" lIns="0" tIns="0" rIns="0" bIns="0" rtlCol="0" anchor="t"/>
          <a:lstStyle/>
          <a:p>
            <a:pPr algn="ctr" indent="0" marL="0">
              <a:buNone/>
            </a:pPr>
            <a:r>
              <a:rPr lang="en-US" sz="1100" dirty="0">
                <a:solidFill>
                  <a:srgbClr val="5F6B76"/>
                </a:solidFill>
                <a:latin typeface="Calibri" pitchFamily="34" charset="0"/>
                <a:ea typeface="Calibri" pitchFamily="34" charset="-122"/>
                <a:cs typeface="Calibri" pitchFamily="34" charset="-120"/>
              </a:rPr>
              <a:t>configurations working</a:t>
            </a:r>
            <a:endParaRPr lang="en-US" sz="1100" dirty="0"/>
          </a:p>
          <a:p>
            <a:pPr algn="ctr" indent="0" marL="0">
              <a:buNone/>
            </a:pPr>
            <a:r>
              <a:rPr lang="en-US" sz="1100" dirty="0">
                <a:solidFill>
                  <a:srgbClr val="5F6B76"/>
                </a:solidFill>
                <a:latin typeface="Calibri" pitchFamily="34" charset="0"/>
                <a:ea typeface="Calibri" pitchFamily="34" charset="-122"/>
                <a:cs typeface="Calibri" pitchFamily="34" charset="-120"/>
              </a:rPr>
              <a:t>BOTH IN SIMULATION</a:t>
            </a:r>
            <a:endParaRPr lang="en-US" sz="1100" dirty="0"/>
          </a:p>
        </p:txBody>
      </p:sp>
      <p:sp>
        <p:nvSpPr>
          <p:cNvPr id="20" name="Text 18"/>
          <p:cNvSpPr/>
          <p:nvPr/>
        </p:nvSpPr>
        <p:spPr>
          <a:xfrm>
            <a:off x="8915400" y="1499616"/>
            <a:ext cx="2560320" cy="658368"/>
          </a:xfrm>
          <a:prstGeom prst="rect">
            <a:avLst/>
          </a:prstGeom>
          <a:noFill/>
          <a:ln/>
        </p:spPr>
        <p:txBody>
          <a:bodyPr wrap="square" lIns="0" tIns="0" rIns="0" bIns="0" rtlCol="0" anchor="ctr"/>
          <a:lstStyle/>
          <a:p>
            <a:pPr algn="ctr" indent="0" marL="0">
              <a:buNone/>
            </a:pPr>
            <a:r>
              <a:rPr lang="en-US" sz="3400" b="1" dirty="0">
                <a:solidFill>
                  <a:srgbClr val="DE9A3E"/>
                </a:solidFill>
                <a:latin typeface="Cambria" pitchFamily="34" charset="0"/>
                <a:ea typeface="Cambria" pitchFamily="34" charset="-122"/>
                <a:cs typeface="Cambria" pitchFamily="34" charset="-120"/>
              </a:rPr>
              <a:t>0</a:t>
            </a:r>
            <a:endParaRPr lang="en-US" sz="3400" dirty="0"/>
          </a:p>
        </p:txBody>
      </p:sp>
      <p:sp>
        <p:nvSpPr>
          <p:cNvPr id="21" name="Text 19"/>
          <p:cNvSpPr/>
          <p:nvPr/>
        </p:nvSpPr>
        <p:spPr>
          <a:xfrm>
            <a:off x="8915400" y="2176272"/>
            <a:ext cx="2560320" cy="475488"/>
          </a:xfrm>
          <a:prstGeom prst="rect">
            <a:avLst/>
          </a:prstGeom>
          <a:noFill/>
          <a:ln/>
        </p:spPr>
        <p:txBody>
          <a:bodyPr wrap="square" lIns="0" tIns="0" rIns="0" bIns="0" rtlCol="0" anchor="t"/>
          <a:lstStyle/>
          <a:p>
            <a:pPr algn="ctr" indent="0" marL="0">
              <a:buNone/>
            </a:pPr>
            <a:r>
              <a:rPr lang="en-US" sz="1100" dirty="0">
                <a:solidFill>
                  <a:srgbClr val="5F6B76"/>
                </a:solidFill>
                <a:latin typeface="Calibri" pitchFamily="34" charset="0"/>
                <a:ea typeface="Calibri" pitchFamily="34" charset="-122"/>
                <a:cs typeface="Calibri" pitchFamily="34" charset="-120"/>
              </a:rPr>
              <a:t>hardware measurements</a:t>
            </a:r>
            <a:endParaRPr lang="en-US" sz="1100" dirty="0"/>
          </a:p>
          <a:p>
            <a:pPr algn="ctr" indent="0" marL="0">
              <a:buNone/>
            </a:pPr>
            <a:r>
              <a:rPr lang="en-US" sz="1100" dirty="0">
                <a:solidFill>
                  <a:srgbClr val="5F6B76"/>
                </a:solidFill>
                <a:latin typeface="Calibri" pitchFamily="34" charset="0"/>
                <a:ea typeface="Calibri" pitchFamily="34" charset="-122"/>
                <a:cs typeface="Calibri" pitchFamily="34" charset="-120"/>
              </a:rPr>
              <a:t>SYNTHESIS IS NEXT</a:t>
            </a:r>
            <a:endParaRPr lang="en-US" sz="11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40080" y="2871216"/>
          <a:ext cx="10972800" cy="914400"/>
        </p:xfrm>
        <a:graphic>
          <a:graphicData uri="http://schemas.openxmlformats.org/drawingml/2006/table">
            <a:tbl>
              <a:tblPr/>
              <a:tblGrid>
                <a:gridCol w="3017520"/>
                <a:gridCol w="1737360"/>
                <a:gridCol w="6217920"/>
              </a:tblGrid>
              <a:tr h="256032">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Deliverable</a:t>
                      </a:r>
                      <a:endParaRPr lang="en-US" sz="110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2B4257"/>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2B4257"/>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Evidence</a:t>
                      </a:r>
                      <a:endParaRPr lang="en-US" sz="110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2B4257"/>
                    </a:solidFill>
                  </a:tcPr>
                </a:tc>
              </a:tr>
              <a:tr h="256032">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Python golden model</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b="1" dirty="0">
                          <a:solidFill>
                            <a:srgbClr val="00756F"/>
                          </a:solidFill>
                          <a:latin typeface="Calibri" pitchFamily="34" charset="0"/>
                          <a:ea typeface="Calibri" pitchFamily="34" charset="-122"/>
                          <a:cs typeface="Calibri" pitchFamily="34" charset="-120"/>
                        </a:rPr>
                        <a:t>DONE</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5 NIST vectors incl. 1M chars; cross-checked against hashlib</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r>
              <a:tr h="256032">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Compression core, Config A</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b="1" dirty="0">
                          <a:solidFill>
                            <a:srgbClr val="00756F"/>
                          </a:solidFill>
                          <a:latin typeface="Calibri" pitchFamily="34" charset="0"/>
                          <a:ea typeface="Calibri" pitchFamily="34" charset="-122"/>
                          <a:cs typeface="Calibri" pitchFamily="34" charset="-120"/>
                        </a:rPr>
                        <a:t>DONE</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66 cycles/block confirmed in simulation</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r>
              <a:tr h="256032">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Compression core, Config B</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b="1" dirty="0">
                          <a:solidFill>
                            <a:srgbClr val="00756F"/>
                          </a:solidFill>
                          <a:latin typeface="Calibri" pitchFamily="34" charset="0"/>
                          <a:ea typeface="Calibri" pitchFamily="34" charset="-122"/>
                          <a:cs typeface="Calibri" pitchFamily="34" charset="-120"/>
                        </a:rPr>
                        <a:t>DONE</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34 cycles/block confirmed in simulation</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r>
              <a:tr h="256032">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AXI4-Lite register file</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b="1" dirty="0">
                          <a:solidFill>
                            <a:srgbClr val="00756F"/>
                          </a:solidFill>
                          <a:latin typeface="Calibri" pitchFamily="34" charset="0"/>
                          <a:ea typeface="Calibri" pitchFamily="34" charset="-122"/>
                          <a:cs typeface="Calibri" pitchFamily="34" charset="-120"/>
                        </a:rPr>
                        <a:t>DONE</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Register map verified by BFM read/write</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r>
              <a:tr h="256032">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AXI4-Stream wrapper</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b="1" dirty="0">
                          <a:solidFill>
                            <a:srgbClr val="00756F"/>
                          </a:solidFill>
                          <a:latin typeface="Calibri" pitchFamily="34" charset="0"/>
                          <a:ea typeface="Calibri" pitchFamily="34" charset="-122"/>
                          <a:cs typeface="Calibri" pitchFamily="34" charset="-120"/>
                        </a:rPr>
                        <a:t>DONE</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Back-pressure and multi-block chaining verified</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r>
              <a:tr h="256032">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Top-level IP</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b="1" dirty="0">
                          <a:solidFill>
                            <a:srgbClr val="00756F"/>
                          </a:solidFill>
                          <a:latin typeface="Calibri" pitchFamily="34" charset="0"/>
                          <a:ea typeface="Calibri" pitchFamily="34" charset="-122"/>
                          <a:cs typeface="Calibri" pitchFamily="34" charset="-120"/>
                        </a:rPr>
                        <a:t>DONE</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9/9 system checks, both configurations</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r>
              <a:tr h="256032">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Per-round trace verification</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b="1" dirty="0">
                          <a:solidFill>
                            <a:srgbClr val="00756F"/>
                          </a:solidFill>
                          <a:latin typeface="Calibri" pitchFamily="34" charset="0"/>
                          <a:ea typeface="Calibri" pitchFamily="34" charset="-122"/>
                          <a:cs typeface="Calibri" pitchFamily="34" charset="-120"/>
                        </a:rPr>
                        <a:t>DONE</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a..h and W[t] match golden model at all 64 rounds</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r>
              <a:tr h="256032">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Soak test</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b="1" dirty="0">
                          <a:solidFill>
                            <a:srgbClr val="00756F"/>
                          </a:solidFill>
                          <a:latin typeface="Calibri" pitchFamily="34" charset="0"/>
                          <a:ea typeface="Calibri" pitchFamily="34" charset="-122"/>
                          <a:cs typeface="Calibri" pitchFamily="34" charset="-120"/>
                        </a:rPr>
                        <a:t>DONE</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12 messages incl. 55/56/63/64/65-byte padding boundaries</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r>
              <a:tr h="256032">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Software SHA-256 + padding</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b="1" dirty="0">
                          <a:solidFill>
                            <a:srgbClr val="00756F"/>
                          </a:solidFill>
                          <a:latin typeface="Calibri" pitchFamily="34" charset="0"/>
                          <a:ea typeface="Calibri" pitchFamily="34" charset="-122"/>
                          <a:cs typeface="Calibri" pitchFamily="34" charset="-120"/>
                        </a:rPr>
                        <a:t>DONE</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Compiled and verified natively against NIST</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r>
              <a:tr h="256032">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Vitis driver and application</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b="1" dirty="0">
                          <a:solidFill>
                            <a:srgbClr val="00756F"/>
                          </a:solidFill>
                          <a:latin typeface="Calibri" pitchFamily="34" charset="0"/>
                          <a:ea typeface="Calibri" pitchFamily="34" charset="-122"/>
                          <a:cs typeface="Calibri" pitchFamily="34" charset="-120"/>
                        </a:rPr>
                        <a:t>DONE</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Written; compiles against the BSP</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r>
              <a:tr h="256032">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Vivado build automation</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b="1" dirty="0">
                          <a:solidFill>
                            <a:srgbClr val="9A6A16"/>
                          </a:solidFill>
                          <a:latin typeface="Calibri" pitchFamily="34" charset="0"/>
                          <a:ea typeface="Calibri" pitchFamily="34" charset="-122"/>
                          <a:cs typeface="Calibri" pitchFamily="34" charset="-120"/>
                        </a:rPr>
                        <a:t>IN PROGRESS</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Script written; first run in progress</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r>
              <a:tr h="256032">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Synthesis, area and Fmax</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b="1" dirty="0">
                          <a:solidFill>
                            <a:srgbClr val="8F4433"/>
                          </a:solidFill>
                          <a:latin typeface="Calibri" pitchFamily="34" charset="0"/>
                          <a:ea typeface="Calibri" pitchFamily="34" charset="-122"/>
                          <a:cs typeface="Calibri" pitchFamily="34" charset="-120"/>
                        </a:rPr>
                        <a:t>PENDING</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Blocked on the build above</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r>
              <a:tr h="256032">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Board bring-up and measurement</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b="1" dirty="0">
                          <a:solidFill>
                            <a:srgbClr val="8F4433"/>
                          </a:solidFill>
                          <a:latin typeface="Calibri" pitchFamily="34" charset="0"/>
                          <a:ea typeface="Calibri" pitchFamily="34" charset="-122"/>
                          <a:cs typeface="Calibri" pitchFamily="34" charset="-120"/>
                        </a:rPr>
                        <a:t>PENDING</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Scheduled Week 9</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r>
            </a:tbl>
          </a:graphicData>
        </a:graphic>
      </p:graphicFrame>
      <p:sp>
        <p:nvSpPr>
          <p:cNvPr id="23" name="Text 20"/>
          <p:cNvSpPr/>
          <p:nvPr/>
        </p:nvSpPr>
        <p:spPr>
          <a:xfrm>
            <a:off x="548640" y="6419088"/>
            <a:ext cx="11064240" cy="274320"/>
          </a:xfrm>
          <a:prstGeom prst="rect">
            <a:avLst/>
          </a:prstGeom>
          <a:noFill/>
          <a:ln/>
        </p:spPr>
        <p:txBody>
          <a:bodyPr wrap="square" lIns="0" tIns="0" rIns="0" bIns="0" rtlCol="0" anchor="ctr"/>
          <a:lstStyle/>
          <a:p>
            <a:pPr algn="r" indent="0" marL="0">
              <a:buNone/>
            </a:pPr>
            <a:r>
              <a:rPr lang="en-US" sz="900" dirty="0">
                <a:solidFill>
                  <a:srgbClr val="97A2AC"/>
                </a:solidFill>
                <a:latin typeface="Calibri" pitchFamily="34" charset="0"/>
                <a:ea typeface="Calibri" pitchFamily="34" charset="-122"/>
                <a:cs typeface="Calibri" pitchFamily="34" charset="-120"/>
              </a:rPr>
              <a:t>Review 2  ·  Amritha S  ·  23BEC1368  ·  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66928" y="512064"/>
            <a:ext cx="91440" cy="91440"/>
          </a:xfrm>
          <a:prstGeom prst="rect">
            <a:avLst/>
          </a:prstGeom>
          <a:solidFill>
            <a:srgbClr val="00A39B"/>
          </a:solidFill>
          <a:ln/>
        </p:spPr>
      </p:sp>
      <p:sp>
        <p:nvSpPr>
          <p:cNvPr id="3" name="Shape 1"/>
          <p:cNvSpPr/>
          <p:nvPr/>
        </p:nvSpPr>
        <p:spPr>
          <a:xfrm>
            <a:off x="691286" y="512064"/>
            <a:ext cx="91440" cy="91440"/>
          </a:xfrm>
          <a:prstGeom prst="rect">
            <a:avLst/>
          </a:prstGeom>
          <a:solidFill>
            <a:srgbClr val="C2CBD4"/>
          </a:solidFill>
          <a:ln/>
        </p:spPr>
      </p:sp>
      <p:sp>
        <p:nvSpPr>
          <p:cNvPr id="4" name="Shape 2"/>
          <p:cNvSpPr/>
          <p:nvPr/>
        </p:nvSpPr>
        <p:spPr>
          <a:xfrm>
            <a:off x="815645" y="512064"/>
            <a:ext cx="91440" cy="91440"/>
          </a:xfrm>
          <a:prstGeom prst="rect">
            <a:avLst/>
          </a:prstGeom>
          <a:solidFill>
            <a:srgbClr val="C2CBD4"/>
          </a:solidFill>
          <a:ln/>
        </p:spPr>
      </p:sp>
      <p:sp>
        <p:nvSpPr>
          <p:cNvPr id="5" name="Shape 3"/>
          <p:cNvSpPr/>
          <p:nvPr/>
        </p:nvSpPr>
        <p:spPr>
          <a:xfrm>
            <a:off x="940003" y="512064"/>
            <a:ext cx="91440" cy="91440"/>
          </a:xfrm>
          <a:prstGeom prst="rect">
            <a:avLst/>
          </a:prstGeom>
          <a:solidFill>
            <a:srgbClr val="C2CBD4"/>
          </a:solidFill>
          <a:ln/>
        </p:spPr>
      </p:sp>
      <p:sp>
        <p:nvSpPr>
          <p:cNvPr id="6" name="Shape 4"/>
          <p:cNvSpPr/>
          <p:nvPr/>
        </p:nvSpPr>
        <p:spPr>
          <a:xfrm>
            <a:off x="1064362" y="512064"/>
            <a:ext cx="91440" cy="91440"/>
          </a:xfrm>
          <a:prstGeom prst="rect">
            <a:avLst/>
          </a:prstGeom>
          <a:solidFill>
            <a:srgbClr val="00A39B"/>
          </a:solidFill>
          <a:ln/>
        </p:spPr>
      </p:sp>
      <p:sp>
        <p:nvSpPr>
          <p:cNvPr id="7" name="Shape 5"/>
          <p:cNvSpPr/>
          <p:nvPr/>
        </p:nvSpPr>
        <p:spPr>
          <a:xfrm>
            <a:off x="1188720" y="512064"/>
            <a:ext cx="91440" cy="91440"/>
          </a:xfrm>
          <a:prstGeom prst="rect">
            <a:avLst/>
          </a:prstGeom>
          <a:solidFill>
            <a:srgbClr val="C2CBD4"/>
          </a:solidFill>
          <a:ln/>
        </p:spPr>
      </p:sp>
      <p:sp>
        <p:nvSpPr>
          <p:cNvPr id="8" name="Shape 6"/>
          <p:cNvSpPr/>
          <p:nvPr/>
        </p:nvSpPr>
        <p:spPr>
          <a:xfrm>
            <a:off x="1313078" y="512064"/>
            <a:ext cx="91440" cy="91440"/>
          </a:xfrm>
          <a:prstGeom prst="rect">
            <a:avLst/>
          </a:prstGeom>
          <a:solidFill>
            <a:srgbClr val="C2CBD4"/>
          </a:solidFill>
          <a:ln/>
        </p:spPr>
      </p:sp>
      <p:sp>
        <p:nvSpPr>
          <p:cNvPr id="9" name="Shape 7"/>
          <p:cNvSpPr/>
          <p:nvPr/>
        </p:nvSpPr>
        <p:spPr>
          <a:xfrm>
            <a:off x="1437437" y="512064"/>
            <a:ext cx="91440" cy="91440"/>
          </a:xfrm>
          <a:prstGeom prst="rect">
            <a:avLst/>
          </a:prstGeom>
          <a:solidFill>
            <a:srgbClr val="C2CBD4"/>
          </a:solidFill>
          <a:ln/>
        </p:spPr>
      </p:sp>
      <p:sp>
        <p:nvSpPr>
          <p:cNvPr id="10" name="Text 8"/>
          <p:cNvSpPr/>
          <p:nvPr/>
        </p:nvSpPr>
        <p:spPr>
          <a:xfrm>
            <a:off x="1517904" y="310896"/>
            <a:ext cx="10058400" cy="530352"/>
          </a:xfrm>
          <a:prstGeom prst="rect">
            <a:avLst/>
          </a:prstGeom>
          <a:noFill/>
          <a:ln/>
        </p:spPr>
        <p:txBody>
          <a:bodyPr wrap="square" lIns="0" tIns="0" rIns="0" bIns="0" rtlCol="0" anchor="ctr"/>
          <a:lstStyle/>
          <a:p>
            <a:pPr algn="l" indent="0" marL="0">
              <a:buNone/>
            </a:pPr>
            <a:r>
              <a:rPr lang="en-US" sz="2600" b="1" dirty="0">
                <a:solidFill>
                  <a:srgbClr val="2B4257"/>
                </a:solidFill>
                <a:latin typeface="Cambria" pitchFamily="34" charset="0"/>
                <a:ea typeface="Cambria" pitchFamily="34" charset="-122"/>
                <a:cs typeface="Cambria" pitchFamily="34" charset="-120"/>
              </a:rPr>
              <a:t>Recap — The Question This Project Answers</a:t>
            </a:r>
            <a:endParaRPr lang="en-US" sz="2600" dirty="0"/>
          </a:p>
        </p:txBody>
      </p:sp>
      <p:sp>
        <p:nvSpPr>
          <p:cNvPr id="11" name="Text 9"/>
          <p:cNvSpPr/>
          <p:nvPr/>
        </p:nvSpPr>
        <p:spPr>
          <a:xfrm>
            <a:off x="10972800" y="347472"/>
            <a:ext cx="640080" cy="365760"/>
          </a:xfrm>
          <a:prstGeom prst="rect">
            <a:avLst/>
          </a:prstGeom>
          <a:noFill/>
          <a:ln/>
        </p:spPr>
        <p:txBody>
          <a:bodyPr wrap="square" lIns="0" tIns="0" rIns="0" bIns="0" rtlCol="0" anchor="ctr"/>
          <a:lstStyle/>
          <a:p>
            <a:pPr algn="r" indent="0" marL="0">
              <a:buNone/>
            </a:pPr>
            <a:r>
              <a:rPr lang="en-US" sz="1100" b="1" dirty="0">
                <a:solidFill>
                  <a:srgbClr val="00A39B"/>
                </a:solidFill>
                <a:latin typeface="Calibri" pitchFamily="34" charset="0"/>
                <a:ea typeface="Calibri" pitchFamily="34" charset="-122"/>
                <a:cs typeface="Calibri" pitchFamily="34" charset="-120"/>
              </a:rPr>
              <a:t>02</a:t>
            </a:r>
            <a:endParaRPr lang="en-US" sz="1100" dirty="0"/>
          </a:p>
        </p:txBody>
      </p:sp>
      <p:sp>
        <p:nvSpPr>
          <p:cNvPr id="12" name="Text 10"/>
          <p:cNvSpPr/>
          <p:nvPr/>
        </p:nvSpPr>
        <p:spPr>
          <a:xfrm>
            <a:off x="1536192" y="841248"/>
            <a:ext cx="10058400" cy="274320"/>
          </a:xfrm>
          <a:prstGeom prst="rect">
            <a:avLst/>
          </a:prstGeom>
          <a:noFill/>
          <a:ln/>
        </p:spPr>
        <p:txBody>
          <a:bodyPr wrap="square" lIns="0" tIns="0" rIns="0" bIns="0" rtlCol="0" anchor="ctr"/>
          <a:lstStyle/>
          <a:p>
            <a:pPr algn="l" indent="0" marL="0">
              <a:buNone/>
            </a:pPr>
            <a:r>
              <a:rPr lang="en-US" sz="1250" i="1" dirty="0">
                <a:solidFill>
                  <a:srgbClr val="5F6B76"/>
                </a:solidFill>
                <a:latin typeface="Calibri" pitchFamily="34" charset="0"/>
                <a:ea typeface="Calibri" pitchFamily="34" charset="-122"/>
                <a:cs typeface="Calibri" pitchFamily="34" charset="-120"/>
              </a:rPr>
              <a:t>Unchanged since Review 1</a:t>
            </a:r>
            <a:endParaRPr lang="en-US" sz="1250" dirty="0"/>
          </a:p>
        </p:txBody>
      </p:sp>
      <p:sp>
        <p:nvSpPr>
          <p:cNvPr id="13" name="Shape 11"/>
          <p:cNvSpPr/>
          <p:nvPr/>
        </p:nvSpPr>
        <p:spPr>
          <a:xfrm>
            <a:off x="640080" y="1371600"/>
            <a:ext cx="10972800" cy="1371600"/>
          </a:xfrm>
          <a:prstGeom prst="roundRect">
            <a:avLst>
              <a:gd name="adj" fmla="val 2667"/>
            </a:avLst>
          </a:prstGeom>
          <a:solidFill>
            <a:srgbClr val="FBF3E6"/>
          </a:solidFill>
          <a:ln/>
          <a:effectLst>
            <a:outerShdw sx="100000" sy="100000" kx="0" ky="0" algn="bl" rotWithShape="0" blurRad="76200" dist="12700" dir="5400000">
              <a:srgbClr val="A6AFB8">
                <a:alpha val="25000"/>
              </a:srgbClr>
            </a:outerShdw>
          </a:effectLst>
        </p:spPr>
      </p:sp>
      <p:sp>
        <p:nvSpPr>
          <p:cNvPr id="14" name="Text 12"/>
          <p:cNvSpPr/>
          <p:nvPr/>
        </p:nvSpPr>
        <p:spPr>
          <a:xfrm>
            <a:off x="914400" y="1463040"/>
            <a:ext cx="10424160" cy="1188720"/>
          </a:xfrm>
          <a:prstGeom prst="rect">
            <a:avLst/>
          </a:prstGeom>
          <a:noFill/>
          <a:ln/>
        </p:spPr>
        <p:txBody>
          <a:bodyPr wrap="square" lIns="0" tIns="0" rIns="0" bIns="0" rtlCol="0" anchor="ctr"/>
          <a:lstStyle/>
          <a:p>
            <a:pPr indent="0" marL="0">
              <a:lnSpc>
                <a:spcPts val="1900"/>
              </a:lnSpc>
              <a:buNone/>
            </a:pPr>
            <a:r>
              <a:rPr lang="en-US" sz="1300" dirty="0">
                <a:solidFill>
                  <a:srgbClr val="15191F"/>
                </a:solidFill>
                <a:latin typeface="Calibri" pitchFamily="34" charset="0"/>
                <a:ea typeface="Calibri" pitchFamily="34" charset="-122"/>
                <a:cs typeface="Calibri" pitchFamily="34" charset="-120"/>
              </a:rPr>
              <a:t>SHA-256 rounds are strictly data-dependent: round t+1 consumes round t.</a:t>
            </a:r>
            <a:endParaRPr lang="en-US" sz="1300" dirty="0"/>
          </a:p>
          <a:p>
            <a:pPr indent="0" marL="0">
              <a:lnSpc>
                <a:spcPts val="1900"/>
              </a:lnSpc>
              <a:buNone/>
            </a:pPr>
            <a:r>
              <a:rPr lang="en-US" sz="1300" dirty="0">
                <a:solidFill>
                  <a:srgbClr val="15191F"/>
                </a:solidFill>
                <a:latin typeface="Calibri" pitchFamily="34" charset="0"/>
                <a:ea typeface="Calibri" pitchFamily="34" charset="-122"/>
                <a:cs typeface="Calibri" pitchFamily="34" charset="-120"/>
              </a:rPr>
              <a:t>Two unrolled rounds cannot be separated by a register without losing the cycle saving,</a:t>
            </a:r>
            <a:endParaRPr lang="en-US" sz="1300" dirty="0"/>
          </a:p>
          <a:p>
            <a:pPr indent="0" marL="0">
              <a:lnSpc>
                <a:spcPts val="1900"/>
              </a:lnSpc>
              <a:buNone/>
            </a:pPr>
            <a:r>
              <a:rPr lang="en-US" sz="1300" dirty="0">
                <a:solidFill>
                  <a:srgbClr val="15191F"/>
                </a:solidFill>
                <a:latin typeface="Calibri" pitchFamily="34" charset="0"/>
                <a:ea typeface="Calibri" pitchFamily="34" charset="-122"/>
                <a:cs typeface="Calibri" pitchFamily="34" charset="-120"/>
              </a:rPr>
              <a:t>so the adder chains stack in series and maximum frequency must fall.</a:t>
            </a:r>
            <a:endParaRPr lang="en-US" sz="1300" dirty="0"/>
          </a:p>
        </p:txBody>
      </p:sp>
      <p:sp>
        <p:nvSpPr>
          <p:cNvPr id="15" name="Shape 13"/>
          <p:cNvSpPr/>
          <p:nvPr/>
        </p:nvSpPr>
        <p:spPr>
          <a:xfrm>
            <a:off x="640080" y="2926080"/>
            <a:ext cx="5349240" cy="1371600"/>
          </a:xfrm>
          <a:prstGeom prst="roundRect">
            <a:avLst>
              <a:gd name="adj" fmla="val 2667"/>
            </a:avLst>
          </a:prstGeom>
          <a:solidFill>
            <a:srgbClr val="E3F3F1"/>
          </a:solidFill>
          <a:ln/>
          <a:effectLst>
            <a:outerShdw sx="100000" sy="100000" kx="0" ky="0" algn="bl" rotWithShape="0" blurRad="76200" dist="12700" dir="5400000">
              <a:srgbClr val="A6AFB8">
                <a:alpha val="25000"/>
              </a:srgbClr>
            </a:outerShdw>
          </a:effectLst>
        </p:spPr>
      </p:sp>
      <p:sp>
        <p:nvSpPr>
          <p:cNvPr id="16" name="Text 14"/>
          <p:cNvSpPr/>
          <p:nvPr/>
        </p:nvSpPr>
        <p:spPr>
          <a:xfrm>
            <a:off x="841248" y="3035808"/>
            <a:ext cx="4937760" cy="274320"/>
          </a:xfrm>
          <a:prstGeom prst="rect">
            <a:avLst/>
          </a:prstGeom>
          <a:noFill/>
          <a:ln/>
        </p:spPr>
        <p:txBody>
          <a:bodyPr wrap="square" lIns="0" tIns="0" rIns="0" bIns="0" rtlCol="0" anchor="ctr"/>
          <a:lstStyle/>
          <a:p>
            <a:pPr indent="0" marL="0">
              <a:buNone/>
            </a:pPr>
            <a:r>
              <a:rPr lang="en-US" sz="1300" b="1" dirty="0">
                <a:solidFill>
                  <a:srgbClr val="00756F"/>
                </a:solidFill>
                <a:latin typeface="Calibri" pitchFamily="34" charset="0"/>
                <a:ea typeface="Calibri" pitchFamily="34" charset="-122"/>
                <a:cs typeface="Calibri" pitchFamily="34" charset="-120"/>
              </a:rPr>
              <a:t>Config A  —  iterative</a:t>
            </a:r>
            <a:endParaRPr lang="en-US" sz="1300" dirty="0"/>
          </a:p>
        </p:txBody>
      </p:sp>
      <p:sp>
        <p:nvSpPr>
          <p:cNvPr id="17" name="Text 15"/>
          <p:cNvSpPr/>
          <p:nvPr/>
        </p:nvSpPr>
        <p:spPr>
          <a:xfrm>
            <a:off x="841248" y="3346704"/>
            <a:ext cx="4937760" cy="822960"/>
          </a:xfrm>
          <a:prstGeom prst="rect">
            <a:avLst/>
          </a:prstGeom>
          <a:noFill/>
          <a:ln/>
        </p:spPr>
        <p:txBody>
          <a:bodyPr wrap="square" lIns="0" tIns="0" rIns="0" bIns="0" rtlCol="0" anchor="ctr"/>
          <a:lstStyle/>
          <a:p>
            <a:pPr indent="0" marL="0">
              <a:buNone/>
            </a:pPr>
            <a:r>
              <a:rPr lang="en-US" sz="1150" dirty="0">
                <a:solidFill>
                  <a:srgbClr val="15191F"/>
                </a:solidFill>
                <a:latin typeface="Calibri" pitchFamily="34" charset="0"/>
                <a:ea typeface="Calibri" pitchFamily="34" charset="-122"/>
                <a:cs typeface="Calibri" pitchFamily="34" charset="-120"/>
              </a:rPr>
              <a:t>1 round per cycle</a:t>
            </a:r>
            <a:endParaRPr lang="en-US" sz="1150" dirty="0"/>
          </a:p>
          <a:p>
            <a:pPr indent="0" marL="0">
              <a:buNone/>
            </a:pPr>
            <a:r>
              <a:rPr lang="en-US" sz="1150" dirty="0">
                <a:solidFill>
                  <a:srgbClr val="15191F"/>
                </a:solidFill>
                <a:latin typeface="Calibri" pitchFamily="34" charset="0"/>
                <a:ea typeface="Calibri" pitchFamily="34" charset="-122"/>
                <a:cs typeface="Calibri" pitchFamily="34" charset="-120"/>
              </a:rPr>
              <a:t>66 cycles per 512-bit block</a:t>
            </a:r>
            <a:endParaRPr lang="en-US" sz="1150" dirty="0"/>
          </a:p>
          <a:p>
            <a:pPr indent="0" marL="0">
              <a:buNone/>
            </a:pPr>
            <a:r>
              <a:rPr lang="en-US" sz="1150" dirty="0">
                <a:solidFill>
                  <a:srgbClr val="15191F"/>
                </a:solidFill>
                <a:latin typeface="Calibri" pitchFamily="34" charset="0"/>
                <a:ea typeface="Calibri" pitchFamily="34" charset="-122"/>
                <a:cs typeface="Calibri" pitchFamily="34" charset="-120"/>
              </a:rPr>
              <a:t>one 5-input adder chain</a:t>
            </a:r>
            <a:endParaRPr lang="en-US" sz="1150" dirty="0"/>
          </a:p>
        </p:txBody>
      </p:sp>
      <p:sp>
        <p:nvSpPr>
          <p:cNvPr id="18" name="Shape 16"/>
          <p:cNvSpPr/>
          <p:nvPr/>
        </p:nvSpPr>
        <p:spPr>
          <a:xfrm>
            <a:off x="6263640" y="2926080"/>
            <a:ext cx="5349240" cy="1371600"/>
          </a:xfrm>
          <a:prstGeom prst="roundRect">
            <a:avLst>
              <a:gd name="adj" fmla="val 2667"/>
            </a:avLst>
          </a:prstGeom>
          <a:solidFill>
            <a:srgbClr val="FBF3E6"/>
          </a:solidFill>
          <a:ln/>
          <a:effectLst>
            <a:outerShdw sx="100000" sy="100000" kx="0" ky="0" algn="bl" rotWithShape="0" blurRad="76200" dist="12700" dir="5400000">
              <a:srgbClr val="A6AFB8">
                <a:alpha val="25000"/>
              </a:srgbClr>
            </a:outerShdw>
          </a:effectLst>
        </p:spPr>
      </p:sp>
      <p:sp>
        <p:nvSpPr>
          <p:cNvPr id="19" name="Text 17"/>
          <p:cNvSpPr/>
          <p:nvPr/>
        </p:nvSpPr>
        <p:spPr>
          <a:xfrm>
            <a:off x="6464808" y="3035808"/>
            <a:ext cx="4937760" cy="274320"/>
          </a:xfrm>
          <a:prstGeom prst="rect">
            <a:avLst/>
          </a:prstGeom>
          <a:noFill/>
          <a:ln/>
        </p:spPr>
        <p:txBody>
          <a:bodyPr wrap="square" lIns="0" tIns="0" rIns="0" bIns="0" rtlCol="0" anchor="ctr"/>
          <a:lstStyle/>
          <a:p>
            <a:pPr indent="0" marL="0">
              <a:buNone/>
            </a:pPr>
            <a:r>
              <a:rPr lang="en-US" sz="1300" b="1" dirty="0">
                <a:solidFill>
                  <a:srgbClr val="9A6A16"/>
                </a:solidFill>
                <a:latin typeface="Calibri" pitchFamily="34" charset="0"/>
                <a:ea typeface="Calibri" pitchFamily="34" charset="-122"/>
                <a:cs typeface="Calibri" pitchFamily="34" charset="-120"/>
              </a:rPr>
              <a:t>Config B  —  2× unrolled</a:t>
            </a:r>
            <a:endParaRPr lang="en-US" sz="1300" dirty="0"/>
          </a:p>
        </p:txBody>
      </p:sp>
      <p:sp>
        <p:nvSpPr>
          <p:cNvPr id="20" name="Text 18"/>
          <p:cNvSpPr/>
          <p:nvPr/>
        </p:nvSpPr>
        <p:spPr>
          <a:xfrm>
            <a:off x="6464808" y="3346704"/>
            <a:ext cx="4937760" cy="822960"/>
          </a:xfrm>
          <a:prstGeom prst="rect">
            <a:avLst/>
          </a:prstGeom>
          <a:noFill/>
          <a:ln/>
        </p:spPr>
        <p:txBody>
          <a:bodyPr wrap="square" lIns="0" tIns="0" rIns="0" bIns="0" rtlCol="0" anchor="ctr"/>
          <a:lstStyle/>
          <a:p>
            <a:pPr indent="0" marL="0">
              <a:buNone/>
            </a:pPr>
            <a:r>
              <a:rPr lang="en-US" sz="1150" dirty="0">
                <a:solidFill>
                  <a:srgbClr val="15191F"/>
                </a:solidFill>
                <a:latin typeface="Calibri" pitchFamily="34" charset="0"/>
                <a:ea typeface="Calibri" pitchFamily="34" charset="-122"/>
                <a:cs typeface="Calibri" pitchFamily="34" charset="-120"/>
              </a:rPr>
              <a:t>2 rounds per cycle</a:t>
            </a:r>
            <a:endParaRPr lang="en-US" sz="1150" dirty="0"/>
          </a:p>
          <a:p>
            <a:pPr indent="0" marL="0">
              <a:buNone/>
            </a:pPr>
            <a:r>
              <a:rPr lang="en-US" sz="1150" dirty="0">
                <a:solidFill>
                  <a:srgbClr val="15191F"/>
                </a:solidFill>
                <a:latin typeface="Calibri" pitchFamily="34" charset="0"/>
                <a:ea typeface="Calibri" pitchFamily="34" charset="-122"/>
                <a:cs typeface="Calibri" pitchFamily="34" charset="-120"/>
              </a:rPr>
              <a:t>34 cycles per 512-bit block</a:t>
            </a:r>
            <a:endParaRPr lang="en-US" sz="1150" dirty="0"/>
          </a:p>
          <a:p>
            <a:pPr indent="0" marL="0">
              <a:buNone/>
            </a:pPr>
            <a:r>
              <a:rPr lang="en-US" sz="1150" dirty="0">
                <a:solidFill>
                  <a:srgbClr val="15191F"/>
                </a:solidFill>
                <a:latin typeface="Calibri" pitchFamily="34" charset="0"/>
                <a:ea typeface="Calibri" pitchFamily="34" charset="-122"/>
                <a:cs typeface="Calibri" pitchFamily="34" charset="-120"/>
              </a:rPr>
              <a:t>TWO adder chains in series</a:t>
            </a:r>
            <a:endParaRPr lang="en-US" sz="1150" dirty="0"/>
          </a:p>
        </p:txBody>
      </p:sp>
      <p:sp>
        <p:nvSpPr>
          <p:cNvPr id="21" name="Shape 19"/>
          <p:cNvSpPr/>
          <p:nvPr/>
        </p:nvSpPr>
        <p:spPr>
          <a:xfrm>
            <a:off x="640080" y="4517136"/>
            <a:ext cx="10972800" cy="1042416"/>
          </a:xfrm>
          <a:prstGeom prst="roundRect">
            <a:avLst>
              <a:gd name="adj" fmla="val 3509"/>
            </a:avLst>
          </a:prstGeom>
          <a:solidFill>
            <a:srgbClr val="FFFFFF"/>
          </a:solidFill>
          <a:ln/>
          <a:effectLst>
            <a:outerShdw sx="100000" sy="100000" kx="0" ky="0" algn="bl" rotWithShape="0" blurRad="76200" dist="12700" dir="5400000">
              <a:srgbClr val="A6AFB8">
                <a:alpha val="25000"/>
              </a:srgbClr>
            </a:outerShdw>
          </a:effectLst>
        </p:spPr>
      </p:sp>
      <p:sp>
        <p:nvSpPr>
          <p:cNvPr id="22" name="Shape 20"/>
          <p:cNvSpPr/>
          <p:nvPr/>
        </p:nvSpPr>
        <p:spPr>
          <a:xfrm>
            <a:off x="640080" y="4517136"/>
            <a:ext cx="10972800" cy="1042416"/>
          </a:xfrm>
          <a:prstGeom prst="roundRect">
            <a:avLst>
              <a:gd name="adj" fmla="val 3509"/>
            </a:avLst>
          </a:prstGeom>
          <a:solidFill>
            <a:srgbClr val="FFFFFF"/>
          </a:solidFill>
          <a:ln w="19050">
            <a:solidFill>
              <a:srgbClr val="00A39B"/>
            </a:solidFill>
            <a:prstDash val="solid"/>
          </a:ln>
        </p:spPr>
      </p:sp>
      <p:sp>
        <p:nvSpPr>
          <p:cNvPr id="23" name="Text 21"/>
          <p:cNvSpPr/>
          <p:nvPr/>
        </p:nvSpPr>
        <p:spPr>
          <a:xfrm>
            <a:off x="868680" y="4517136"/>
            <a:ext cx="10515600" cy="1042416"/>
          </a:xfrm>
          <a:prstGeom prst="rect">
            <a:avLst/>
          </a:prstGeom>
          <a:noFill/>
          <a:ln/>
        </p:spPr>
        <p:txBody>
          <a:bodyPr wrap="square" lIns="0" tIns="0" rIns="0" bIns="0" rtlCol="0" anchor="ctr"/>
          <a:lstStyle/>
          <a:p>
            <a:pPr algn="ctr" indent="0" marL="0">
              <a:buNone/>
            </a:pPr>
            <a:r>
              <a:rPr lang="en-US" sz="1600" b="1" dirty="0">
                <a:solidFill>
                  <a:srgbClr val="2B4257"/>
                </a:solidFill>
                <a:latin typeface="Courier New" pitchFamily="34" charset="0"/>
                <a:ea typeface="Courier New" pitchFamily="34" charset="-122"/>
                <a:cs typeface="Courier New" pitchFamily="34" charset="-120"/>
              </a:rPr>
              <a:t>Unrolling is a net win only if     Fmax(B) / Fmax(A)   &gt;   34 / 66   =   0.515</a:t>
            </a:r>
            <a:endParaRPr lang="en-US" sz="1600" dirty="0"/>
          </a:p>
        </p:txBody>
      </p:sp>
      <p:sp>
        <p:nvSpPr>
          <p:cNvPr id="24" name="Shape 22"/>
          <p:cNvSpPr/>
          <p:nvPr/>
        </p:nvSpPr>
        <p:spPr>
          <a:xfrm>
            <a:off x="640080" y="5705856"/>
            <a:ext cx="10972800" cy="457200"/>
          </a:xfrm>
          <a:prstGeom prst="roundRect">
            <a:avLst>
              <a:gd name="adj" fmla="val 8000"/>
            </a:avLst>
          </a:prstGeom>
          <a:solidFill>
            <a:srgbClr val="EEF1F4"/>
          </a:solidFill>
          <a:ln/>
          <a:effectLst>
            <a:outerShdw sx="100000" sy="100000" kx="0" ky="0" algn="bl" rotWithShape="0" blurRad="76200" dist="12700" dir="5400000">
              <a:srgbClr val="A6AFB8">
                <a:alpha val="25000"/>
              </a:srgbClr>
            </a:outerShdw>
          </a:effectLst>
        </p:spPr>
      </p:sp>
      <p:sp>
        <p:nvSpPr>
          <p:cNvPr id="25" name="Text 23"/>
          <p:cNvSpPr/>
          <p:nvPr/>
        </p:nvSpPr>
        <p:spPr>
          <a:xfrm>
            <a:off x="868680" y="5705856"/>
            <a:ext cx="10515600" cy="457200"/>
          </a:xfrm>
          <a:prstGeom prst="rect">
            <a:avLst/>
          </a:prstGeom>
          <a:noFill/>
          <a:ln/>
        </p:spPr>
        <p:txBody>
          <a:bodyPr wrap="square" lIns="0" tIns="0" rIns="0" bIns="0" rtlCol="0" anchor="ctr"/>
          <a:lstStyle/>
          <a:p>
            <a:pPr indent="0" marL="0">
              <a:buNone/>
            </a:pPr>
            <a:r>
              <a:rPr lang="en-US" sz="1050" i="1" dirty="0">
                <a:solidFill>
                  <a:srgbClr val="5F6B76"/>
                </a:solidFill>
                <a:latin typeface="Calibri" pitchFamily="34" charset="0"/>
                <a:ea typeface="Calibri" pitchFamily="34" charset="-122"/>
                <a:cs typeface="Calibri" pitchFamily="34" charset="-120"/>
              </a:rPr>
              <a:t>Threshold declared at Review 1, before any synthesis was run. That has not changed — but Review 2 has refined it. See slide 06.</a:t>
            </a:r>
            <a:endParaRPr lang="en-US" sz="1050" dirty="0"/>
          </a:p>
        </p:txBody>
      </p:sp>
      <p:sp>
        <p:nvSpPr>
          <p:cNvPr id="26" name="Text 24"/>
          <p:cNvSpPr/>
          <p:nvPr/>
        </p:nvSpPr>
        <p:spPr>
          <a:xfrm>
            <a:off x="548640" y="6419088"/>
            <a:ext cx="11064240" cy="274320"/>
          </a:xfrm>
          <a:prstGeom prst="rect">
            <a:avLst/>
          </a:prstGeom>
          <a:noFill/>
          <a:ln/>
        </p:spPr>
        <p:txBody>
          <a:bodyPr wrap="square" lIns="0" tIns="0" rIns="0" bIns="0" rtlCol="0" anchor="ctr"/>
          <a:lstStyle/>
          <a:p>
            <a:pPr algn="r" indent="0" marL="0">
              <a:buNone/>
            </a:pPr>
            <a:r>
              <a:rPr lang="en-US" sz="900" dirty="0">
                <a:solidFill>
                  <a:srgbClr val="97A2AC"/>
                </a:solidFill>
                <a:latin typeface="Calibri" pitchFamily="34" charset="0"/>
                <a:ea typeface="Calibri" pitchFamily="34" charset="-122"/>
                <a:cs typeface="Calibri" pitchFamily="34" charset="-120"/>
              </a:rPr>
              <a:t>Review 2  ·  Amritha S  ·  23BEC1368  ·  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66928" y="512064"/>
            <a:ext cx="91440" cy="91440"/>
          </a:xfrm>
          <a:prstGeom prst="rect">
            <a:avLst/>
          </a:prstGeom>
          <a:solidFill>
            <a:srgbClr val="00A39B"/>
          </a:solidFill>
          <a:ln/>
        </p:spPr>
      </p:sp>
      <p:sp>
        <p:nvSpPr>
          <p:cNvPr id="3" name="Shape 1"/>
          <p:cNvSpPr/>
          <p:nvPr/>
        </p:nvSpPr>
        <p:spPr>
          <a:xfrm>
            <a:off x="691286" y="512064"/>
            <a:ext cx="91440" cy="91440"/>
          </a:xfrm>
          <a:prstGeom prst="rect">
            <a:avLst/>
          </a:prstGeom>
          <a:solidFill>
            <a:srgbClr val="C2CBD4"/>
          </a:solidFill>
          <a:ln/>
        </p:spPr>
      </p:sp>
      <p:sp>
        <p:nvSpPr>
          <p:cNvPr id="4" name="Shape 2"/>
          <p:cNvSpPr/>
          <p:nvPr/>
        </p:nvSpPr>
        <p:spPr>
          <a:xfrm>
            <a:off x="815645" y="512064"/>
            <a:ext cx="91440" cy="91440"/>
          </a:xfrm>
          <a:prstGeom prst="rect">
            <a:avLst/>
          </a:prstGeom>
          <a:solidFill>
            <a:srgbClr val="C2CBD4"/>
          </a:solidFill>
          <a:ln/>
        </p:spPr>
      </p:sp>
      <p:sp>
        <p:nvSpPr>
          <p:cNvPr id="5" name="Shape 3"/>
          <p:cNvSpPr/>
          <p:nvPr/>
        </p:nvSpPr>
        <p:spPr>
          <a:xfrm>
            <a:off x="940003" y="512064"/>
            <a:ext cx="91440" cy="91440"/>
          </a:xfrm>
          <a:prstGeom prst="rect">
            <a:avLst/>
          </a:prstGeom>
          <a:solidFill>
            <a:srgbClr val="C2CBD4"/>
          </a:solidFill>
          <a:ln/>
        </p:spPr>
      </p:sp>
      <p:sp>
        <p:nvSpPr>
          <p:cNvPr id="6" name="Shape 4"/>
          <p:cNvSpPr/>
          <p:nvPr/>
        </p:nvSpPr>
        <p:spPr>
          <a:xfrm>
            <a:off x="1064362" y="512064"/>
            <a:ext cx="91440" cy="91440"/>
          </a:xfrm>
          <a:prstGeom prst="rect">
            <a:avLst/>
          </a:prstGeom>
          <a:solidFill>
            <a:srgbClr val="00A39B"/>
          </a:solidFill>
          <a:ln/>
        </p:spPr>
      </p:sp>
      <p:sp>
        <p:nvSpPr>
          <p:cNvPr id="7" name="Shape 5"/>
          <p:cNvSpPr/>
          <p:nvPr/>
        </p:nvSpPr>
        <p:spPr>
          <a:xfrm>
            <a:off x="1188720" y="512064"/>
            <a:ext cx="91440" cy="91440"/>
          </a:xfrm>
          <a:prstGeom prst="rect">
            <a:avLst/>
          </a:prstGeom>
          <a:solidFill>
            <a:srgbClr val="C2CBD4"/>
          </a:solidFill>
          <a:ln/>
        </p:spPr>
      </p:sp>
      <p:sp>
        <p:nvSpPr>
          <p:cNvPr id="8" name="Shape 6"/>
          <p:cNvSpPr/>
          <p:nvPr/>
        </p:nvSpPr>
        <p:spPr>
          <a:xfrm>
            <a:off x="1313078" y="512064"/>
            <a:ext cx="91440" cy="91440"/>
          </a:xfrm>
          <a:prstGeom prst="rect">
            <a:avLst/>
          </a:prstGeom>
          <a:solidFill>
            <a:srgbClr val="C2CBD4"/>
          </a:solidFill>
          <a:ln/>
        </p:spPr>
      </p:sp>
      <p:sp>
        <p:nvSpPr>
          <p:cNvPr id="9" name="Shape 7"/>
          <p:cNvSpPr/>
          <p:nvPr/>
        </p:nvSpPr>
        <p:spPr>
          <a:xfrm>
            <a:off x="1437437" y="512064"/>
            <a:ext cx="91440" cy="91440"/>
          </a:xfrm>
          <a:prstGeom prst="rect">
            <a:avLst/>
          </a:prstGeom>
          <a:solidFill>
            <a:srgbClr val="C2CBD4"/>
          </a:solidFill>
          <a:ln/>
        </p:spPr>
      </p:sp>
      <p:sp>
        <p:nvSpPr>
          <p:cNvPr id="10" name="Text 8"/>
          <p:cNvSpPr/>
          <p:nvPr/>
        </p:nvSpPr>
        <p:spPr>
          <a:xfrm>
            <a:off x="1517904" y="310896"/>
            <a:ext cx="10058400" cy="530352"/>
          </a:xfrm>
          <a:prstGeom prst="rect">
            <a:avLst/>
          </a:prstGeom>
          <a:noFill/>
          <a:ln/>
        </p:spPr>
        <p:txBody>
          <a:bodyPr wrap="square" lIns="0" tIns="0" rIns="0" bIns="0" rtlCol="0" anchor="ctr"/>
          <a:lstStyle/>
          <a:p>
            <a:pPr algn="l" indent="0" marL="0">
              <a:buNone/>
            </a:pPr>
            <a:r>
              <a:rPr lang="en-US" sz="2600" b="1" dirty="0">
                <a:solidFill>
                  <a:srgbClr val="2B4257"/>
                </a:solidFill>
                <a:latin typeface="Cambria" pitchFamily="34" charset="0"/>
                <a:ea typeface="Cambria" pitchFamily="34" charset="-122"/>
                <a:cs typeface="Cambria" pitchFamily="34" charset="-120"/>
              </a:rPr>
              <a:t>Verification Evidence</a:t>
            </a:r>
            <a:endParaRPr lang="en-US" sz="2600" dirty="0"/>
          </a:p>
        </p:txBody>
      </p:sp>
      <p:sp>
        <p:nvSpPr>
          <p:cNvPr id="11" name="Text 9"/>
          <p:cNvSpPr/>
          <p:nvPr/>
        </p:nvSpPr>
        <p:spPr>
          <a:xfrm>
            <a:off x="10972800" y="347472"/>
            <a:ext cx="640080" cy="365760"/>
          </a:xfrm>
          <a:prstGeom prst="rect">
            <a:avLst/>
          </a:prstGeom>
          <a:noFill/>
          <a:ln/>
        </p:spPr>
        <p:txBody>
          <a:bodyPr wrap="square" lIns="0" tIns="0" rIns="0" bIns="0" rtlCol="0" anchor="ctr"/>
          <a:lstStyle/>
          <a:p>
            <a:pPr algn="r" indent="0" marL="0">
              <a:buNone/>
            </a:pPr>
            <a:r>
              <a:rPr lang="en-US" sz="1100" b="1" dirty="0">
                <a:solidFill>
                  <a:srgbClr val="00A39B"/>
                </a:solidFill>
                <a:latin typeface="Calibri" pitchFamily="34" charset="0"/>
                <a:ea typeface="Calibri" pitchFamily="34" charset="-122"/>
                <a:cs typeface="Calibri" pitchFamily="34" charset="-120"/>
              </a:rPr>
              <a:t>03</a:t>
            </a:r>
            <a:endParaRPr lang="en-US" sz="1100" dirty="0"/>
          </a:p>
        </p:txBody>
      </p:sp>
      <p:sp>
        <p:nvSpPr>
          <p:cNvPr id="12" name="Text 10"/>
          <p:cNvSpPr/>
          <p:nvPr/>
        </p:nvSpPr>
        <p:spPr>
          <a:xfrm>
            <a:off x="1536192" y="841248"/>
            <a:ext cx="10058400" cy="274320"/>
          </a:xfrm>
          <a:prstGeom prst="rect">
            <a:avLst/>
          </a:prstGeom>
          <a:noFill/>
          <a:ln/>
        </p:spPr>
        <p:txBody>
          <a:bodyPr wrap="square" lIns="0" tIns="0" rIns="0" bIns="0" rtlCol="0" anchor="ctr"/>
          <a:lstStyle/>
          <a:p>
            <a:pPr algn="l" indent="0" marL="0">
              <a:buNone/>
            </a:pPr>
            <a:r>
              <a:rPr lang="en-US" sz="1250" i="1" dirty="0">
                <a:solidFill>
                  <a:srgbClr val="5F6B76"/>
                </a:solidFill>
                <a:latin typeface="Calibri" pitchFamily="34" charset="0"/>
                <a:ea typeface="Calibri" pitchFamily="34" charset="-122"/>
                <a:cs typeface="Calibri" pitchFamily="34" charset="-120"/>
              </a:rPr>
              <a:t>44 checks, run by a single command, zero failures</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426464"/>
          <a:ext cx="10972800" cy="914400"/>
        </p:xfrm>
        <a:graphic>
          <a:graphicData uri="http://schemas.openxmlformats.org/drawingml/2006/table">
            <a:tbl>
              <a:tblPr/>
              <a:tblGrid>
                <a:gridCol w="2286000"/>
                <a:gridCol w="822960"/>
                <a:gridCol w="6217920"/>
                <a:gridCol w="1645920"/>
              </a:tblGrid>
              <a:tr h="347472">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Suite</a:t>
                      </a:r>
                      <a:endParaRPr lang="en-US" sz="110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2B4257"/>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Checks</a:t>
                      </a:r>
                      <a:endParaRPr lang="en-US" sz="110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2B4257"/>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What it proves</a:t>
                      </a:r>
                      <a:endParaRPr lang="en-US" sz="110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2B4257"/>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Result</a:t>
                      </a:r>
                      <a:endParaRPr lang="en-US" sz="110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2B4257"/>
                    </a:solidFill>
                  </a:tcPr>
                </a:tc>
              </a:tr>
              <a:tr h="914400">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Core RTL</a:t>
                      </a:r>
                      <a:endParaRPr lang="en-US" sz="950" dirty="0">
                        <a:latin typeface="Calibri" charset="0"/>
                        <a:ea typeface="Calibri" charset="0"/>
                        <a:cs typeface="Calibri" charset="0"/>
                      </a:endParaRPr>
                    </a:p>
                    <a:p>
                      <a:pPr algn="l" indent="0" marL="0">
                        <a:buNone/>
                      </a:pPr>
                      <a:r>
                        <a:rPr lang="en-US" sz="950" dirty="0">
                          <a:solidFill>
                            <a:srgbClr val="15191F"/>
                          </a:solidFill>
                          <a:latin typeface="Calibri" pitchFamily="34" charset="0"/>
                          <a:ea typeface="Calibri" pitchFamily="34" charset="-122"/>
                          <a:cs typeface="Calibri" pitchFamily="34" charset="-120"/>
                        </a:rPr>
                        <a:t>(tb_sha256.v)</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21</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Sigma/sigma/Ch/Maj against the model; K ROM entries; NIST digests for both configs; A vs B identical; 66 and 34 cycle counts</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r>
              <a:tr h="914400">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System AXI, Config A</a:t>
                      </a:r>
                      <a:endParaRPr lang="en-US" sz="950" dirty="0">
                        <a:latin typeface="Calibri" charset="0"/>
                        <a:ea typeface="Calibri" charset="0"/>
                        <a:cs typeface="Calibri" charset="0"/>
                      </a:endParaRPr>
                    </a:p>
                    <a:p>
                      <a:pPr algn="l" indent="0" marL="0">
                        <a:buNone/>
                      </a:pPr>
                      <a:r>
                        <a:rPr lang="en-US" sz="950" dirty="0">
                          <a:solidFill>
                            <a:srgbClr val="15191F"/>
                          </a:solidFill>
                          <a:latin typeface="Calibri" pitchFamily="34" charset="0"/>
                          <a:ea typeface="Calibri" pitchFamily="34" charset="-122"/>
                          <a:cs typeface="Calibri" pitchFamily="34" charset="-120"/>
                        </a:rPr>
                        <a:t>(tb_sha256_top.v)</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9</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Register map; single-block, empty and two-block messages driven entirely through AXI4-Lite and AXI4-Stream; re-arm; soft reset</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r>
              <a:tr h="457200">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System AXI, Config B</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9</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The same nine checks against the unrolled core</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r>
              <a:tr h="914400">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Trace and soak</a:t>
                      </a:r>
                      <a:endParaRPr lang="en-US" sz="950" dirty="0">
                        <a:latin typeface="Calibri" charset="0"/>
                        <a:ea typeface="Calibri" charset="0"/>
                        <a:cs typeface="Calibri" charset="0"/>
                      </a:endParaRPr>
                    </a:p>
                    <a:p>
                      <a:pPr algn="l" indent="0" marL="0">
                        <a:buNone/>
                      </a:pPr>
                      <a:r>
                        <a:rPr lang="en-US" sz="950" dirty="0">
                          <a:solidFill>
                            <a:srgbClr val="15191F"/>
                          </a:solidFill>
                          <a:latin typeface="Calibri" pitchFamily="34" charset="0"/>
                          <a:ea typeface="Calibri" pitchFamily="34" charset="-122"/>
                          <a:cs typeface="Calibri" pitchFamily="34" charset="-120"/>
                        </a:rPr>
                        <a:t>(tb_sha256_soak.v)</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Working variables a..h AND the message schedule W[t] compared at all 64 rounds; 12 messages across padding boundaries</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r>
              <a:tr h="786384">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Software reference</a:t>
                      </a:r>
                      <a:endParaRPr lang="en-US" sz="950" dirty="0">
                        <a:latin typeface="Calibri" charset="0"/>
                        <a:ea typeface="Calibri" charset="0"/>
                        <a:cs typeface="Calibri" charset="0"/>
                      </a:endParaRPr>
                    </a:p>
                    <a:p>
                      <a:pPr algn="l" indent="0" marL="0">
                        <a:buNone/>
                      </a:pPr>
                      <a:r>
                        <a:rPr lang="en-US" sz="950" dirty="0">
                          <a:solidFill>
                            <a:srgbClr val="15191F"/>
                          </a:solidFill>
                          <a:latin typeface="Calibri" pitchFamily="34" charset="0"/>
                          <a:ea typeface="Calibri" pitchFamily="34" charset="-122"/>
                          <a:cs typeface="Calibri" pitchFamily="34" charset="-120"/>
                        </a:rPr>
                        <a:t>(native gcc)</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5 NIST vectors including one million characters; padding lengths; byte-swap involution</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r>
            </a:tbl>
          </a:graphicData>
        </a:graphic>
      </p:graphicFrame>
      <p:sp>
        <p:nvSpPr>
          <p:cNvPr id="14" name="Shape 11"/>
          <p:cNvSpPr/>
          <p:nvPr/>
        </p:nvSpPr>
        <p:spPr>
          <a:xfrm>
            <a:off x="640080" y="5815584"/>
            <a:ext cx="10972800" cy="457200"/>
          </a:xfrm>
          <a:prstGeom prst="roundRect">
            <a:avLst>
              <a:gd name="adj" fmla="val 8000"/>
            </a:avLst>
          </a:prstGeom>
          <a:solidFill>
            <a:srgbClr val="E3F3F1"/>
          </a:solidFill>
          <a:ln/>
          <a:effectLst>
            <a:outerShdw sx="100000" sy="100000" kx="0" ky="0" algn="bl" rotWithShape="0" blurRad="76200" dist="12700" dir="5400000">
              <a:srgbClr val="A6AFB8">
                <a:alpha val="25000"/>
              </a:srgbClr>
            </a:outerShdw>
          </a:effectLst>
        </p:spPr>
      </p:sp>
      <p:sp>
        <p:nvSpPr>
          <p:cNvPr id="15" name="Text 12"/>
          <p:cNvSpPr/>
          <p:nvPr/>
        </p:nvSpPr>
        <p:spPr>
          <a:xfrm>
            <a:off x="868680" y="5815584"/>
            <a:ext cx="10515600" cy="457200"/>
          </a:xfrm>
          <a:prstGeom prst="rect">
            <a:avLst/>
          </a:prstGeom>
          <a:noFill/>
          <a:ln/>
        </p:spPr>
        <p:txBody>
          <a:bodyPr wrap="square" lIns="0" tIns="0" rIns="0" bIns="0" rtlCol="0" anchor="ctr"/>
          <a:lstStyle/>
          <a:p>
            <a:pPr indent="0" marL="0">
              <a:buNone/>
            </a:pPr>
            <a:r>
              <a:rPr lang="en-US" sz="1050" b="1" dirty="0">
                <a:solidFill>
                  <a:srgbClr val="00756F"/>
                </a:solidFill>
                <a:latin typeface="Calibri" pitchFamily="34" charset="0"/>
                <a:ea typeface="Calibri" pitchFamily="34" charset="-122"/>
                <a:cs typeface="Calibri" pitchFamily="34" charset="-120"/>
              </a:rPr>
              <a:t>Reproducible in one command:  </a:t>
            </a:r>
            <a:pPr indent="0" marL="0">
              <a:buNone/>
            </a:pPr>
            <a:r>
              <a:rPr lang="en-US" sz="1050" dirty="0">
                <a:solidFill>
                  <a:srgbClr val="15191F"/>
                </a:solidFill>
                <a:latin typeface="Courier New" pitchFamily="34" charset="0"/>
                <a:ea typeface="Courier New" pitchFamily="34" charset="-122"/>
                <a:cs typeface="Courier New" pitchFamily="34" charset="-120"/>
              </a:rPr>
              <a:t>make all   —  regenerates the golden vectors, then runs every suite above in about ninety seconds.</a:t>
            </a:r>
            <a:endParaRPr lang="en-US" sz="1050" dirty="0"/>
          </a:p>
        </p:txBody>
      </p:sp>
      <p:sp>
        <p:nvSpPr>
          <p:cNvPr id="16" name="Text 13"/>
          <p:cNvSpPr/>
          <p:nvPr/>
        </p:nvSpPr>
        <p:spPr>
          <a:xfrm>
            <a:off x="548640" y="6419088"/>
            <a:ext cx="11064240" cy="274320"/>
          </a:xfrm>
          <a:prstGeom prst="rect">
            <a:avLst/>
          </a:prstGeom>
          <a:noFill/>
          <a:ln/>
        </p:spPr>
        <p:txBody>
          <a:bodyPr wrap="square" lIns="0" tIns="0" rIns="0" bIns="0" rtlCol="0" anchor="ctr"/>
          <a:lstStyle/>
          <a:p>
            <a:pPr algn="r" indent="0" marL="0">
              <a:buNone/>
            </a:pPr>
            <a:r>
              <a:rPr lang="en-US" sz="900" dirty="0">
                <a:solidFill>
                  <a:srgbClr val="97A2AC"/>
                </a:solidFill>
                <a:latin typeface="Calibri" pitchFamily="34" charset="0"/>
                <a:ea typeface="Calibri" pitchFamily="34" charset="-122"/>
                <a:cs typeface="Calibri" pitchFamily="34" charset="-120"/>
              </a:rPr>
              <a:t>Review 2  ·  Amritha S  ·  23BEC1368  ·  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66928" y="512064"/>
            <a:ext cx="91440" cy="91440"/>
          </a:xfrm>
          <a:prstGeom prst="rect">
            <a:avLst/>
          </a:prstGeom>
          <a:solidFill>
            <a:srgbClr val="00A39B"/>
          </a:solidFill>
          <a:ln/>
        </p:spPr>
      </p:sp>
      <p:sp>
        <p:nvSpPr>
          <p:cNvPr id="3" name="Shape 1"/>
          <p:cNvSpPr/>
          <p:nvPr/>
        </p:nvSpPr>
        <p:spPr>
          <a:xfrm>
            <a:off x="691286" y="512064"/>
            <a:ext cx="91440" cy="91440"/>
          </a:xfrm>
          <a:prstGeom prst="rect">
            <a:avLst/>
          </a:prstGeom>
          <a:solidFill>
            <a:srgbClr val="C2CBD4"/>
          </a:solidFill>
          <a:ln/>
        </p:spPr>
      </p:sp>
      <p:sp>
        <p:nvSpPr>
          <p:cNvPr id="4" name="Shape 2"/>
          <p:cNvSpPr/>
          <p:nvPr/>
        </p:nvSpPr>
        <p:spPr>
          <a:xfrm>
            <a:off x="815645" y="512064"/>
            <a:ext cx="91440" cy="91440"/>
          </a:xfrm>
          <a:prstGeom prst="rect">
            <a:avLst/>
          </a:prstGeom>
          <a:solidFill>
            <a:srgbClr val="C2CBD4"/>
          </a:solidFill>
          <a:ln/>
        </p:spPr>
      </p:sp>
      <p:sp>
        <p:nvSpPr>
          <p:cNvPr id="5" name="Shape 3"/>
          <p:cNvSpPr/>
          <p:nvPr/>
        </p:nvSpPr>
        <p:spPr>
          <a:xfrm>
            <a:off x="940003" y="512064"/>
            <a:ext cx="91440" cy="91440"/>
          </a:xfrm>
          <a:prstGeom prst="rect">
            <a:avLst/>
          </a:prstGeom>
          <a:solidFill>
            <a:srgbClr val="C2CBD4"/>
          </a:solidFill>
          <a:ln/>
        </p:spPr>
      </p:sp>
      <p:sp>
        <p:nvSpPr>
          <p:cNvPr id="6" name="Shape 4"/>
          <p:cNvSpPr/>
          <p:nvPr/>
        </p:nvSpPr>
        <p:spPr>
          <a:xfrm>
            <a:off x="1064362" y="512064"/>
            <a:ext cx="91440" cy="91440"/>
          </a:xfrm>
          <a:prstGeom prst="rect">
            <a:avLst/>
          </a:prstGeom>
          <a:solidFill>
            <a:srgbClr val="00A39B"/>
          </a:solidFill>
          <a:ln/>
        </p:spPr>
      </p:sp>
      <p:sp>
        <p:nvSpPr>
          <p:cNvPr id="7" name="Shape 5"/>
          <p:cNvSpPr/>
          <p:nvPr/>
        </p:nvSpPr>
        <p:spPr>
          <a:xfrm>
            <a:off x="1188720" y="512064"/>
            <a:ext cx="91440" cy="91440"/>
          </a:xfrm>
          <a:prstGeom prst="rect">
            <a:avLst/>
          </a:prstGeom>
          <a:solidFill>
            <a:srgbClr val="C2CBD4"/>
          </a:solidFill>
          <a:ln/>
        </p:spPr>
      </p:sp>
      <p:sp>
        <p:nvSpPr>
          <p:cNvPr id="8" name="Shape 6"/>
          <p:cNvSpPr/>
          <p:nvPr/>
        </p:nvSpPr>
        <p:spPr>
          <a:xfrm>
            <a:off x="1313078" y="512064"/>
            <a:ext cx="91440" cy="91440"/>
          </a:xfrm>
          <a:prstGeom prst="rect">
            <a:avLst/>
          </a:prstGeom>
          <a:solidFill>
            <a:srgbClr val="C2CBD4"/>
          </a:solidFill>
          <a:ln/>
        </p:spPr>
      </p:sp>
      <p:sp>
        <p:nvSpPr>
          <p:cNvPr id="9" name="Shape 7"/>
          <p:cNvSpPr/>
          <p:nvPr/>
        </p:nvSpPr>
        <p:spPr>
          <a:xfrm>
            <a:off x="1437437" y="512064"/>
            <a:ext cx="91440" cy="91440"/>
          </a:xfrm>
          <a:prstGeom prst="rect">
            <a:avLst/>
          </a:prstGeom>
          <a:solidFill>
            <a:srgbClr val="C2CBD4"/>
          </a:solidFill>
          <a:ln/>
        </p:spPr>
      </p:sp>
      <p:sp>
        <p:nvSpPr>
          <p:cNvPr id="10" name="Text 8"/>
          <p:cNvSpPr/>
          <p:nvPr/>
        </p:nvSpPr>
        <p:spPr>
          <a:xfrm>
            <a:off x="1517904" y="310896"/>
            <a:ext cx="10058400" cy="530352"/>
          </a:xfrm>
          <a:prstGeom prst="rect">
            <a:avLst/>
          </a:prstGeom>
          <a:noFill/>
          <a:ln/>
        </p:spPr>
        <p:txBody>
          <a:bodyPr wrap="square" lIns="0" tIns="0" rIns="0" bIns="0" rtlCol="0" anchor="ctr"/>
          <a:lstStyle/>
          <a:p>
            <a:pPr algn="l" indent="0" marL="0">
              <a:buNone/>
            </a:pPr>
            <a:r>
              <a:rPr lang="en-US" sz="2600" b="1" dirty="0">
                <a:solidFill>
                  <a:srgbClr val="2B4257"/>
                </a:solidFill>
                <a:latin typeface="Cambria" pitchFamily="34" charset="0"/>
                <a:ea typeface="Cambria" pitchFamily="34" charset="-122"/>
                <a:cs typeface="Cambria" pitchFamily="34" charset="-120"/>
              </a:rPr>
              <a:t>New Since Review 1 — Per-Round Verification</a:t>
            </a:r>
            <a:endParaRPr lang="en-US" sz="2600" dirty="0"/>
          </a:p>
        </p:txBody>
      </p:sp>
      <p:sp>
        <p:nvSpPr>
          <p:cNvPr id="11" name="Text 9"/>
          <p:cNvSpPr/>
          <p:nvPr/>
        </p:nvSpPr>
        <p:spPr>
          <a:xfrm>
            <a:off x="10972800" y="347472"/>
            <a:ext cx="640080" cy="365760"/>
          </a:xfrm>
          <a:prstGeom prst="rect">
            <a:avLst/>
          </a:prstGeom>
          <a:noFill/>
          <a:ln/>
        </p:spPr>
        <p:txBody>
          <a:bodyPr wrap="square" lIns="0" tIns="0" rIns="0" bIns="0" rtlCol="0" anchor="ctr"/>
          <a:lstStyle/>
          <a:p>
            <a:pPr algn="r" indent="0" marL="0">
              <a:buNone/>
            </a:pPr>
            <a:r>
              <a:rPr lang="en-US" sz="1100" b="1" dirty="0">
                <a:solidFill>
                  <a:srgbClr val="00A39B"/>
                </a:solidFill>
                <a:latin typeface="Calibri" pitchFamily="34" charset="0"/>
                <a:ea typeface="Calibri" pitchFamily="34" charset="-122"/>
                <a:cs typeface="Calibri" pitchFamily="34" charset="-120"/>
              </a:rPr>
              <a:t>04</a:t>
            </a:r>
            <a:endParaRPr lang="en-US" sz="1100" dirty="0"/>
          </a:p>
        </p:txBody>
      </p:sp>
      <p:sp>
        <p:nvSpPr>
          <p:cNvPr id="12" name="Text 10"/>
          <p:cNvSpPr/>
          <p:nvPr/>
        </p:nvSpPr>
        <p:spPr>
          <a:xfrm>
            <a:off x="1536192" y="841248"/>
            <a:ext cx="10058400" cy="274320"/>
          </a:xfrm>
          <a:prstGeom prst="rect">
            <a:avLst/>
          </a:prstGeom>
          <a:noFill/>
          <a:ln/>
        </p:spPr>
        <p:txBody>
          <a:bodyPr wrap="square" lIns="0" tIns="0" rIns="0" bIns="0" rtlCol="0" anchor="ctr"/>
          <a:lstStyle/>
          <a:p>
            <a:pPr algn="l" indent="0" marL="0">
              <a:buNone/>
            </a:pPr>
            <a:r>
              <a:rPr lang="en-US" sz="1250" i="1" dirty="0">
                <a:solidFill>
                  <a:srgbClr val="5F6B76"/>
                </a:solidFill>
                <a:latin typeface="Calibri" pitchFamily="34" charset="0"/>
                <a:ea typeface="Calibri" pitchFamily="34" charset="-122"/>
                <a:cs typeface="Calibri" pitchFamily="34" charset="-120"/>
              </a:rPr>
              <a:t>Closing the gap flagged as outstanding at Review 1</a:t>
            </a:r>
            <a:endParaRPr lang="en-US" sz="1250" dirty="0"/>
          </a:p>
        </p:txBody>
      </p:sp>
      <p:sp>
        <p:nvSpPr>
          <p:cNvPr id="13" name="Shape 11"/>
          <p:cNvSpPr/>
          <p:nvPr/>
        </p:nvSpPr>
        <p:spPr>
          <a:xfrm>
            <a:off x="640080" y="1371600"/>
            <a:ext cx="10972800" cy="969264"/>
          </a:xfrm>
          <a:prstGeom prst="roundRect">
            <a:avLst>
              <a:gd name="adj" fmla="val 3774"/>
            </a:avLst>
          </a:prstGeom>
          <a:solidFill>
            <a:srgbClr val="FBF3E6"/>
          </a:solidFill>
          <a:ln/>
          <a:effectLst>
            <a:outerShdw sx="100000" sy="100000" kx="0" ky="0" algn="bl" rotWithShape="0" blurRad="76200" dist="12700" dir="5400000">
              <a:srgbClr val="A6AFB8">
                <a:alpha val="25000"/>
              </a:srgbClr>
            </a:outerShdw>
          </a:effectLst>
        </p:spPr>
      </p:sp>
      <p:sp>
        <p:nvSpPr>
          <p:cNvPr id="14" name="Text 12"/>
          <p:cNvSpPr/>
          <p:nvPr/>
        </p:nvSpPr>
        <p:spPr>
          <a:xfrm>
            <a:off x="868680" y="1371600"/>
            <a:ext cx="10515600" cy="969264"/>
          </a:xfrm>
          <a:prstGeom prst="rect">
            <a:avLst/>
          </a:prstGeom>
          <a:noFill/>
          <a:ln/>
        </p:spPr>
        <p:txBody>
          <a:bodyPr wrap="square" lIns="0" tIns="0" rIns="0" bIns="0" rtlCol="0" anchor="ctr"/>
          <a:lstStyle/>
          <a:p>
            <a:pPr indent="0" marL="0">
              <a:buNone/>
            </a:pPr>
            <a:r>
              <a:rPr lang="en-US" sz="1300" dirty="0">
                <a:solidFill>
                  <a:srgbClr val="15191F"/>
                </a:solidFill>
                <a:latin typeface="Calibri" pitchFamily="34" charset="0"/>
                <a:ea typeface="Calibri" pitchFamily="34" charset="-122"/>
                <a:cs typeface="Calibri" pitchFamily="34" charset="-120"/>
              </a:rPr>
              <a:t>Hash bugs — a wrong Sigma constant, a schedule off-by-one, a missing final accumulation — all produce output that still looks like a valid digest. End-to-end testing cannot localise them.</a:t>
            </a:r>
            <a:endParaRPr lang="en-US" sz="1300" dirty="0"/>
          </a:p>
        </p:txBody>
      </p:sp>
      <p:sp>
        <p:nvSpPr>
          <p:cNvPr id="15" name="Shape 13"/>
          <p:cNvSpPr/>
          <p:nvPr/>
        </p:nvSpPr>
        <p:spPr>
          <a:xfrm>
            <a:off x="640080" y="2505456"/>
            <a:ext cx="10972800" cy="694944"/>
          </a:xfrm>
          <a:prstGeom prst="roundRect">
            <a:avLst>
              <a:gd name="adj" fmla="val 5263"/>
            </a:avLst>
          </a:prstGeom>
          <a:solidFill>
            <a:srgbClr val="EEF1F4"/>
          </a:solidFill>
          <a:ln w="9525">
            <a:solidFill>
              <a:srgbClr val="DAE0E6"/>
            </a:solidFill>
            <a:prstDash val="solid"/>
          </a:ln>
        </p:spPr>
      </p:sp>
      <p:sp>
        <p:nvSpPr>
          <p:cNvPr id="16" name="Shape 14"/>
          <p:cNvSpPr/>
          <p:nvPr/>
        </p:nvSpPr>
        <p:spPr>
          <a:xfrm>
            <a:off x="804672" y="2679192"/>
            <a:ext cx="365760" cy="365760"/>
          </a:xfrm>
          <a:prstGeom prst="roundRect">
            <a:avLst>
              <a:gd name="adj" fmla="val 17500"/>
            </a:avLst>
          </a:prstGeom>
          <a:solidFill>
            <a:srgbClr val="00A39B"/>
          </a:solidFill>
          <a:ln/>
        </p:spPr>
      </p:sp>
      <p:sp>
        <p:nvSpPr>
          <p:cNvPr id="17" name="Text 15"/>
          <p:cNvSpPr/>
          <p:nvPr/>
        </p:nvSpPr>
        <p:spPr>
          <a:xfrm>
            <a:off x="804672" y="267919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Text 16"/>
          <p:cNvSpPr/>
          <p:nvPr/>
        </p:nvSpPr>
        <p:spPr>
          <a:xfrm>
            <a:off x="1298448" y="2578608"/>
            <a:ext cx="3566160" cy="274320"/>
          </a:xfrm>
          <a:prstGeom prst="rect">
            <a:avLst/>
          </a:prstGeom>
          <a:noFill/>
          <a:ln/>
        </p:spPr>
        <p:txBody>
          <a:bodyPr wrap="square" lIns="0" tIns="0" rIns="0" bIns="0" rtlCol="0" anchor="ctr"/>
          <a:lstStyle/>
          <a:p>
            <a:pPr indent="0" marL="0">
              <a:buNone/>
            </a:pPr>
            <a:r>
              <a:rPr lang="en-US" sz="1100" b="1" dirty="0">
                <a:solidFill>
                  <a:srgbClr val="2B4257"/>
                </a:solidFill>
                <a:latin typeface="Calibri" pitchFamily="34" charset="0"/>
                <a:ea typeface="Calibri" pitchFamily="34" charset="-122"/>
                <a:cs typeface="Calibri" pitchFamily="34" charset="-120"/>
              </a:rPr>
              <a:t>Golden model emits the trace</a:t>
            </a:r>
            <a:endParaRPr lang="en-US" sz="1100" dirty="0"/>
          </a:p>
        </p:txBody>
      </p:sp>
      <p:sp>
        <p:nvSpPr>
          <p:cNvPr id="19" name="Text 17"/>
          <p:cNvSpPr/>
          <p:nvPr/>
        </p:nvSpPr>
        <p:spPr>
          <a:xfrm>
            <a:off x="4937760" y="2560320"/>
            <a:ext cx="6492240" cy="585216"/>
          </a:xfrm>
          <a:prstGeom prst="rect">
            <a:avLst/>
          </a:prstGeom>
          <a:noFill/>
          <a:ln/>
        </p:spPr>
        <p:txBody>
          <a:bodyPr wrap="square" lIns="0" tIns="0" rIns="0" bIns="0" rtlCol="0" anchor="ctr"/>
          <a:lstStyle/>
          <a:p>
            <a:pPr indent="0" marL="0">
              <a:buNone/>
            </a:pPr>
            <a:r>
              <a:rPr lang="en-US" sz="950" dirty="0">
                <a:solidFill>
                  <a:srgbClr val="5F6B76"/>
                </a:solidFill>
                <a:latin typeface="Calibri" pitchFamily="34" charset="0"/>
                <a:ea typeface="Calibri" pitchFamily="34" charset="-122"/>
                <a:cs typeface="Calibri" pitchFamily="34" charset="-120"/>
              </a:rPr>
              <a:t>The Python reference writes the working variables a..h and the schedule word W[t] at the top of every one of the 64 rounds</a:t>
            </a:r>
            <a:endParaRPr lang="en-US" sz="950" dirty="0"/>
          </a:p>
        </p:txBody>
      </p:sp>
      <p:sp>
        <p:nvSpPr>
          <p:cNvPr id="20" name="Shape 18"/>
          <p:cNvSpPr/>
          <p:nvPr/>
        </p:nvSpPr>
        <p:spPr>
          <a:xfrm>
            <a:off x="640080" y="3291840"/>
            <a:ext cx="10972800" cy="694944"/>
          </a:xfrm>
          <a:prstGeom prst="roundRect">
            <a:avLst>
              <a:gd name="adj" fmla="val 5263"/>
            </a:avLst>
          </a:prstGeom>
          <a:solidFill>
            <a:srgbClr val="F9FAFC"/>
          </a:solidFill>
          <a:ln w="9525">
            <a:solidFill>
              <a:srgbClr val="DAE0E6"/>
            </a:solidFill>
            <a:prstDash val="solid"/>
          </a:ln>
        </p:spPr>
      </p:sp>
      <p:sp>
        <p:nvSpPr>
          <p:cNvPr id="21" name="Shape 19"/>
          <p:cNvSpPr/>
          <p:nvPr/>
        </p:nvSpPr>
        <p:spPr>
          <a:xfrm>
            <a:off x="804672" y="3465576"/>
            <a:ext cx="365760" cy="365760"/>
          </a:xfrm>
          <a:prstGeom prst="roundRect">
            <a:avLst>
              <a:gd name="adj" fmla="val 17500"/>
            </a:avLst>
          </a:prstGeom>
          <a:solidFill>
            <a:srgbClr val="00A39B"/>
          </a:solidFill>
          <a:ln/>
        </p:spPr>
      </p:sp>
      <p:sp>
        <p:nvSpPr>
          <p:cNvPr id="22" name="Text 20"/>
          <p:cNvSpPr/>
          <p:nvPr/>
        </p:nvSpPr>
        <p:spPr>
          <a:xfrm>
            <a:off x="804672" y="346557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3" name="Text 21"/>
          <p:cNvSpPr/>
          <p:nvPr/>
        </p:nvSpPr>
        <p:spPr>
          <a:xfrm>
            <a:off x="1298448" y="3364992"/>
            <a:ext cx="3566160" cy="274320"/>
          </a:xfrm>
          <a:prstGeom prst="rect">
            <a:avLst/>
          </a:prstGeom>
          <a:noFill/>
          <a:ln/>
        </p:spPr>
        <p:txBody>
          <a:bodyPr wrap="square" lIns="0" tIns="0" rIns="0" bIns="0" rtlCol="0" anchor="ctr"/>
          <a:lstStyle/>
          <a:p>
            <a:pPr indent="0" marL="0">
              <a:buNone/>
            </a:pPr>
            <a:r>
              <a:rPr lang="en-US" sz="1100" b="1" dirty="0">
                <a:solidFill>
                  <a:srgbClr val="2B4257"/>
                </a:solidFill>
                <a:latin typeface="Calibri" pitchFamily="34" charset="0"/>
                <a:ea typeface="Calibri" pitchFamily="34" charset="-122"/>
                <a:cs typeface="Calibri" pitchFamily="34" charset="-120"/>
              </a:rPr>
              <a:t>Testbench reads it with $readmemh</a:t>
            </a:r>
            <a:endParaRPr lang="en-US" sz="1100" dirty="0"/>
          </a:p>
        </p:txBody>
      </p:sp>
      <p:sp>
        <p:nvSpPr>
          <p:cNvPr id="24" name="Text 22"/>
          <p:cNvSpPr/>
          <p:nvPr/>
        </p:nvSpPr>
        <p:spPr>
          <a:xfrm>
            <a:off x="4937760" y="3346704"/>
            <a:ext cx="6492240" cy="585216"/>
          </a:xfrm>
          <a:prstGeom prst="rect">
            <a:avLst/>
          </a:prstGeom>
          <a:noFill/>
          <a:ln/>
        </p:spPr>
        <p:txBody>
          <a:bodyPr wrap="square" lIns="0" tIns="0" rIns="0" bIns="0" rtlCol="0" anchor="ctr"/>
          <a:lstStyle/>
          <a:p>
            <a:pPr indent="0" marL="0">
              <a:buNone/>
            </a:pPr>
            <a:r>
              <a:rPr lang="en-US" sz="950" dirty="0">
                <a:solidFill>
                  <a:srgbClr val="5F6B76"/>
                </a:solidFill>
                <a:latin typeface="Calibri" pitchFamily="34" charset="0"/>
                <a:ea typeface="Calibri" pitchFamily="34" charset="-122"/>
                <a:cs typeface="Calibri" pitchFamily="34" charset="-120"/>
              </a:rPr>
              <a:t>trace_vars.mem holds 64 × 256-bit snapshots; trace_w.mem holds 64 schedule words</a:t>
            </a:r>
            <a:endParaRPr lang="en-US" sz="950" dirty="0"/>
          </a:p>
        </p:txBody>
      </p:sp>
      <p:sp>
        <p:nvSpPr>
          <p:cNvPr id="25" name="Shape 23"/>
          <p:cNvSpPr/>
          <p:nvPr/>
        </p:nvSpPr>
        <p:spPr>
          <a:xfrm>
            <a:off x="640080" y="4078224"/>
            <a:ext cx="10972800" cy="694944"/>
          </a:xfrm>
          <a:prstGeom prst="roundRect">
            <a:avLst>
              <a:gd name="adj" fmla="val 5263"/>
            </a:avLst>
          </a:prstGeom>
          <a:solidFill>
            <a:srgbClr val="EEF1F4"/>
          </a:solidFill>
          <a:ln w="9525">
            <a:solidFill>
              <a:srgbClr val="DAE0E6"/>
            </a:solidFill>
            <a:prstDash val="solid"/>
          </a:ln>
        </p:spPr>
      </p:sp>
      <p:sp>
        <p:nvSpPr>
          <p:cNvPr id="26" name="Shape 24"/>
          <p:cNvSpPr/>
          <p:nvPr/>
        </p:nvSpPr>
        <p:spPr>
          <a:xfrm>
            <a:off x="804672" y="4251960"/>
            <a:ext cx="365760" cy="365760"/>
          </a:xfrm>
          <a:prstGeom prst="roundRect">
            <a:avLst>
              <a:gd name="adj" fmla="val 17500"/>
            </a:avLst>
          </a:prstGeom>
          <a:solidFill>
            <a:srgbClr val="DE9A3E"/>
          </a:solidFill>
          <a:ln/>
        </p:spPr>
      </p:sp>
      <p:sp>
        <p:nvSpPr>
          <p:cNvPr id="27" name="Text 25"/>
          <p:cNvSpPr/>
          <p:nvPr/>
        </p:nvSpPr>
        <p:spPr>
          <a:xfrm>
            <a:off x="804672" y="42519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8" name="Text 26"/>
          <p:cNvSpPr/>
          <p:nvPr/>
        </p:nvSpPr>
        <p:spPr>
          <a:xfrm>
            <a:off x="1298448" y="4151376"/>
            <a:ext cx="3566160" cy="274320"/>
          </a:xfrm>
          <a:prstGeom prst="rect">
            <a:avLst/>
          </a:prstGeom>
          <a:noFill/>
          <a:ln/>
        </p:spPr>
        <p:txBody>
          <a:bodyPr wrap="square" lIns="0" tIns="0" rIns="0" bIns="0" rtlCol="0" anchor="ctr"/>
          <a:lstStyle/>
          <a:p>
            <a:pPr indent="0" marL="0">
              <a:buNone/>
            </a:pPr>
            <a:r>
              <a:rPr lang="en-US" sz="1100" b="1" dirty="0">
                <a:solidFill>
                  <a:srgbClr val="2B4257"/>
                </a:solidFill>
                <a:latin typeface="Calibri" pitchFamily="34" charset="0"/>
                <a:ea typeface="Calibri" pitchFamily="34" charset="-122"/>
                <a:cs typeface="Calibri" pitchFamily="34" charset="-120"/>
              </a:rPr>
              <a:t>Sampled against the core's own round counter</a:t>
            </a:r>
            <a:endParaRPr lang="en-US" sz="1100" dirty="0"/>
          </a:p>
        </p:txBody>
      </p:sp>
      <p:sp>
        <p:nvSpPr>
          <p:cNvPr id="29" name="Text 27"/>
          <p:cNvSpPr/>
          <p:nvPr/>
        </p:nvSpPr>
        <p:spPr>
          <a:xfrm>
            <a:off x="4937760" y="4133088"/>
            <a:ext cx="6492240" cy="585216"/>
          </a:xfrm>
          <a:prstGeom prst="rect">
            <a:avLst/>
          </a:prstGeom>
          <a:noFill/>
          <a:ln/>
        </p:spPr>
        <p:txBody>
          <a:bodyPr wrap="square" lIns="0" tIns="0" rIns="0" bIns="0" rtlCol="0" anchor="ctr"/>
          <a:lstStyle/>
          <a:p>
            <a:pPr indent="0" marL="0">
              <a:buNone/>
            </a:pPr>
            <a:r>
              <a:rPr lang="en-US" sz="950" dirty="0">
                <a:solidFill>
                  <a:srgbClr val="5F6B76"/>
                </a:solidFill>
                <a:latin typeface="Calibri" pitchFamily="34" charset="0"/>
                <a:ea typeface="Calibri" pitchFamily="34" charset="-122"/>
                <a:cs typeface="Calibri" pitchFamily="34" charset="-120"/>
              </a:rPr>
              <a:t>Keying on u_A.t removes any need to guess the load-phase latency, and driving on the negative edge avoids racing the DUT's own clocked block</a:t>
            </a:r>
            <a:endParaRPr lang="en-US" sz="950" dirty="0"/>
          </a:p>
        </p:txBody>
      </p:sp>
      <p:sp>
        <p:nvSpPr>
          <p:cNvPr id="30" name="Shape 28"/>
          <p:cNvSpPr/>
          <p:nvPr/>
        </p:nvSpPr>
        <p:spPr>
          <a:xfrm>
            <a:off x="640080" y="4864608"/>
            <a:ext cx="10972800" cy="694944"/>
          </a:xfrm>
          <a:prstGeom prst="roundRect">
            <a:avLst>
              <a:gd name="adj" fmla="val 5263"/>
            </a:avLst>
          </a:prstGeom>
          <a:solidFill>
            <a:srgbClr val="F9FAFC"/>
          </a:solidFill>
          <a:ln w="9525">
            <a:solidFill>
              <a:srgbClr val="DAE0E6"/>
            </a:solidFill>
            <a:prstDash val="solid"/>
          </a:ln>
        </p:spPr>
      </p:sp>
      <p:sp>
        <p:nvSpPr>
          <p:cNvPr id="31" name="Shape 29"/>
          <p:cNvSpPr/>
          <p:nvPr/>
        </p:nvSpPr>
        <p:spPr>
          <a:xfrm>
            <a:off x="804672" y="5038344"/>
            <a:ext cx="365760" cy="365760"/>
          </a:xfrm>
          <a:prstGeom prst="roundRect">
            <a:avLst>
              <a:gd name="adj" fmla="val 17500"/>
            </a:avLst>
          </a:prstGeom>
          <a:solidFill>
            <a:srgbClr val="00A39B"/>
          </a:solidFill>
          <a:ln/>
        </p:spPr>
      </p:sp>
      <p:sp>
        <p:nvSpPr>
          <p:cNvPr id="32" name="Text 30"/>
          <p:cNvSpPr/>
          <p:nvPr/>
        </p:nvSpPr>
        <p:spPr>
          <a:xfrm>
            <a:off x="804672" y="503834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3" name="Text 31"/>
          <p:cNvSpPr/>
          <p:nvPr/>
        </p:nvSpPr>
        <p:spPr>
          <a:xfrm>
            <a:off x="1298448" y="4937760"/>
            <a:ext cx="3566160" cy="274320"/>
          </a:xfrm>
          <a:prstGeom prst="rect">
            <a:avLst/>
          </a:prstGeom>
          <a:noFill/>
          <a:ln/>
        </p:spPr>
        <p:txBody>
          <a:bodyPr wrap="square" lIns="0" tIns="0" rIns="0" bIns="0" rtlCol="0" anchor="ctr"/>
          <a:lstStyle/>
          <a:p>
            <a:pPr indent="0" marL="0">
              <a:buNone/>
            </a:pPr>
            <a:r>
              <a:rPr lang="en-US" sz="1100" b="1" dirty="0">
                <a:solidFill>
                  <a:srgbClr val="2B4257"/>
                </a:solidFill>
                <a:latin typeface="Calibri" pitchFamily="34" charset="0"/>
                <a:ea typeface="Calibri" pitchFamily="34" charset="-122"/>
                <a:cs typeface="Calibri" pitchFamily="34" charset="-120"/>
              </a:rPr>
              <a:t>Compared every round, not just at the digest</a:t>
            </a:r>
            <a:endParaRPr lang="en-US" sz="1100" dirty="0"/>
          </a:p>
        </p:txBody>
      </p:sp>
      <p:sp>
        <p:nvSpPr>
          <p:cNvPr id="34" name="Text 32"/>
          <p:cNvSpPr/>
          <p:nvPr/>
        </p:nvSpPr>
        <p:spPr>
          <a:xfrm>
            <a:off x="4937760" y="4919472"/>
            <a:ext cx="6492240" cy="585216"/>
          </a:xfrm>
          <a:prstGeom prst="rect">
            <a:avLst/>
          </a:prstGeom>
          <a:noFill/>
          <a:ln/>
        </p:spPr>
        <p:txBody>
          <a:bodyPr wrap="square" lIns="0" tIns="0" rIns="0" bIns="0" rtlCol="0" anchor="ctr"/>
          <a:lstStyle/>
          <a:p>
            <a:pPr indent="0" marL="0">
              <a:buNone/>
            </a:pPr>
            <a:r>
              <a:rPr lang="en-US" sz="950" dirty="0">
                <a:solidFill>
                  <a:srgbClr val="5F6B76"/>
                </a:solidFill>
                <a:latin typeface="Calibri" pitchFamily="34" charset="0"/>
                <a:ea typeface="Calibri" pitchFamily="34" charset="-122"/>
                <a:cs typeface="Calibri" pitchFamily="34" charset="-120"/>
              </a:rPr>
              <a:t>A mismatch reports the exact round number, the value obtained and the value expected</a:t>
            </a:r>
            <a:endParaRPr lang="en-US" sz="950" dirty="0"/>
          </a:p>
        </p:txBody>
      </p:sp>
      <p:sp>
        <p:nvSpPr>
          <p:cNvPr id="35" name="Shape 33"/>
          <p:cNvSpPr/>
          <p:nvPr/>
        </p:nvSpPr>
        <p:spPr>
          <a:xfrm>
            <a:off x="640080" y="5724144"/>
            <a:ext cx="10972800" cy="548640"/>
          </a:xfrm>
          <a:prstGeom prst="roundRect">
            <a:avLst>
              <a:gd name="adj" fmla="val 6667"/>
            </a:avLst>
          </a:prstGeom>
          <a:solidFill>
            <a:srgbClr val="E3F3F1"/>
          </a:solidFill>
          <a:ln/>
          <a:effectLst>
            <a:outerShdw sx="100000" sy="100000" kx="0" ky="0" algn="bl" rotWithShape="0" blurRad="76200" dist="12700" dir="5400000">
              <a:srgbClr val="A6AFB8">
                <a:alpha val="25000"/>
              </a:srgbClr>
            </a:outerShdw>
          </a:effectLst>
        </p:spPr>
      </p:sp>
      <p:sp>
        <p:nvSpPr>
          <p:cNvPr id="36" name="Text 34"/>
          <p:cNvSpPr/>
          <p:nvPr/>
        </p:nvSpPr>
        <p:spPr>
          <a:xfrm>
            <a:off x="868680" y="5724144"/>
            <a:ext cx="10515600" cy="548640"/>
          </a:xfrm>
          <a:prstGeom prst="rect">
            <a:avLst/>
          </a:prstGeom>
          <a:noFill/>
          <a:ln/>
        </p:spPr>
        <p:txBody>
          <a:bodyPr wrap="square" lIns="0" tIns="0" rIns="0" bIns="0" rtlCol="0" anchor="ctr"/>
          <a:lstStyle/>
          <a:p>
            <a:pPr indent="0" marL="0">
              <a:buNone/>
            </a:pPr>
            <a:r>
              <a:rPr lang="en-US" sz="1100" b="1" dirty="0">
                <a:solidFill>
                  <a:srgbClr val="00756F"/>
                </a:solidFill>
                <a:latin typeface="Calibri" pitchFamily="34" charset="0"/>
                <a:ea typeface="Calibri" pitchFamily="34" charset="-122"/>
                <a:cs typeface="Calibri" pitchFamily="34" charset="-120"/>
              </a:rPr>
              <a:t>Result: working variables a..h and the message schedule W[t] both match the golden model at ALL 64 ROUNDS. Verification is now exact at every level of the hierarchy, not merely end to end.</a:t>
            </a:r>
            <a:endParaRPr lang="en-US" sz="1100" dirty="0"/>
          </a:p>
        </p:txBody>
      </p:sp>
      <p:sp>
        <p:nvSpPr>
          <p:cNvPr id="37" name="Text 35"/>
          <p:cNvSpPr/>
          <p:nvPr/>
        </p:nvSpPr>
        <p:spPr>
          <a:xfrm>
            <a:off x="548640" y="6419088"/>
            <a:ext cx="11064240" cy="274320"/>
          </a:xfrm>
          <a:prstGeom prst="rect">
            <a:avLst/>
          </a:prstGeom>
          <a:noFill/>
          <a:ln/>
        </p:spPr>
        <p:txBody>
          <a:bodyPr wrap="square" lIns="0" tIns="0" rIns="0" bIns="0" rtlCol="0" anchor="ctr"/>
          <a:lstStyle/>
          <a:p>
            <a:pPr algn="r" indent="0" marL="0">
              <a:buNone/>
            </a:pPr>
            <a:r>
              <a:rPr lang="en-US" sz="900" dirty="0">
                <a:solidFill>
                  <a:srgbClr val="97A2AC"/>
                </a:solidFill>
                <a:latin typeface="Calibri" pitchFamily="34" charset="0"/>
                <a:ea typeface="Calibri" pitchFamily="34" charset="-122"/>
                <a:cs typeface="Calibri" pitchFamily="34" charset="-120"/>
              </a:rPr>
              <a:t>Review 2  ·  Amritha S  ·  23BEC1368  ·  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66928" y="512064"/>
            <a:ext cx="91440" cy="91440"/>
          </a:xfrm>
          <a:prstGeom prst="rect">
            <a:avLst/>
          </a:prstGeom>
          <a:solidFill>
            <a:srgbClr val="00A39B"/>
          </a:solidFill>
          <a:ln/>
        </p:spPr>
      </p:sp>
      <p:sp>
        <p:nvSpPr>
          <p:cNvPr id="3" name="Shape 1"/>
          <p:cNvSpPr/>
          <p:nvPr/>
        </p:nvSpPr>
        <p:spPr>
          <a:xfrm>
            <a:off x="691286" y="512064"/>
            <a:ext cx="91440" cy="91440"/>
          </a:xfrm>
          <a:prstGeom prst="rect">
            <a:avLst/>
          </a:prstGeom>
          <a:solidFill>
            <a:srgbClr val="C2CBD4"/>
          </a:solidFill>
          <a:ln/>
        </p:spPr>
      </p:sp>
      <p:sp>
        <p:nvSpPr>
          <p:cNvPr id="4" name="Shape 2"/>
          <p:cNvSpPr/>
          <p:nvPr/>
        </p:nvSpPr>
        <p:spPr>
          <a:xfrm>
            <a:off x="815645" y="512064"/>
            <a:ext cx="91440" cy="91440"/>
          </a:xfrm>
          <a:prstGeom prst="rect">
            <a:avLst/>
          </a:prstGeom>
          <a:solidFill>
            <a:srgbClr val="C2CBD4"/>
          </a:solidFill>
          <a:ln/>
        </p:spPr>
      </p:sp>
      <p:sp>
        <p:nvSpPr>
          <p:cNvPr id="5" name="Shape 3"/>
          <p:cNvSpPr/>
          <p:nvPr/>
        </p:nvSpPr>
        <p:spPr>
          <a:xfrm>
            <a:off x="940003" y="512064"/>
            <a:ext cx="91440" cy="91440"/>
          </a:xfrm>
          <a:prstGeom prst="rect">
            <a:avLst/>
          </a:prstGeom>
          <a:solidFill>
            <a:srgbClr val="C2CBD4"/>
          </a:solidFill>
          <a:ln/>
        </p:spPr>
      </p:sp>
      <p:sp>
        <p:nvSpPr>
          <p:cNvPr id="6" name="Shape 4"/>
          <p:cNvSpPr/>
          <p:nvPr/>
        </p:nvSpPr>
        <p:spPr>
          <a:xfrm>
            <a:off x="1064362" y="512064"/>
            <a:ext cx="91440" cy="91440"/>
          </a:xfrm>
          <a:prstGeom prst="rect">
            <a:avLst/>
          </a:prstGeom>
          <a:solidFill>
            <a:srgbClr val="00A39B"/>
          </a:solidFill>
          <a:ln/>
        </p:spPr>
      </p:sp>
      <p:sp>
        <p:nvSpPr>
          <p:cNvPr id="7" name="Shape 5"/>
          <p:cNvSpPr/>
          <p:nvPr/>
        </p:nvSpPr>
        <p:spPr>
          <a:xfrm>
            <a:off x="1188720" y="512064"/>
            <a:ext cx="91440" cy="91440"/>
          </a:xfrm>
          <a:prstGeom prst="rect">
            <a:avLst/>
          </a:prstGeom>
          <a:solidFill>
            <a:srgbClr val="C2CBD4"/>
          </a:solidFill>
          <a:ln/>
        </p:spPr>
      </p:sp>
      <p:sp>
        <p:nvSpPr>
          <p:cNvPr id="8" name="Shape 6"/>
          <p:cNvSpPr/>
          <p:nvPr/>
        </p:nvSpPr>
        <p:spPr>
          <a:xfrm>
            <a:off x="1313078" y="512064"/>
            <a:ext cx="91440" cy="91440"/>
          </a:xfrm>
          <a:prstGeom prst="rect">
            <a:avLst/>
          </a:prstGeom>
          <a:solidFill>
            <a:srgbClr val="C2CBD4"/>
          </a:solidFill>
          <a:ln/>
        </p:spPr>
      </p:sp>
      <p:sp>
        <p:nvSpPr>
          <p:cNvPr id="9" name="Shape 7"/>
          <p:cNvSpPr/>
          <p:nvPr/>
        </p:nvSpPr>
        <p:spPr>
          <a:xfrm>
            <a:off x="1437437" y="512064"/>
            <a:ext cx="91440" cy="91440"/>
          </a:xfrm>
          <a:prstGeom prst="rect">
            <a:avLst/>
          </a:prstGeom>
          <a:solidFill>
            <a:srgbClr val="C2CBD4"/>
          </a:solidFill>
          <a:ln/>
        </p:spPr>
      </p:sp>
      <p:sp>
        <p:nvSpPr>
          <p:cNvPr id="10" name="Text 8"/>
          <p:cNvSpPr/>
          <p:nvPr/>
        </p:nvSpPr>
        <p:spPr>
          <a:xfrm>
            <a:off x="1517904" y="310896"/>
            <a:ext cx="10058400" cy="530352"/>
          </a:xfrm>
          <a:prstGeom prst="rect">
            <a:avLst/>
          </a:prstGeom>
          <a:noFill/>
          <a:ln/>
        </p:spPr>
        <p:txBody>
          <a:bodyPr wrap="square" lIns="0" tIns="0" rIns="0" bIns="0" rtlCol="0" anchor="ctr"/>
          <a:lstStyle/>
          <a:p>
            <a:pPr algn="l" indent="0" marL="0">
              <a:buNone/>
            </a:pPr>
            <a:r>
              <a:rPr lang="en-US" sz="2600" b="1" dirty="0">
                <a:solidFill>
                  <a:srgbClr val="2B4257"/>
                </a:solidFill>
                <a:latin typeface="Cambria" pitchFamily="34" charset="0"/>
                <a:ea typeface="Cambria" pitchFamily="34" charset="-122"/>
                <a:cs typeface="Cambria" pitchFamily="34" charset="-120"/>
              </a:rPr>
              <a:t>New Finding — The Threshold Moved</a:t>
            </a:r>
            <a:endParaRPr lang="en-US" sz="2600" dirty="0"/>
          </a:p>
        </p:txBody>
      </p:sp>
      <p:sp>
        <p:nvSpPr>
          <p:cNvPr id="11" name="Text 9"/>
          <p:cNvSpPr/>
          <p:nvPr/>
        </p:nvSpPr>
        <p:spPr>
          <a:xfrm>
            <a:off x="10972800" y="347472"/>
            <a:ext cx="640080" cy="365760"/>
          </a:xfrm>
          <a:prstGeom prst="rect">
            <a:avLst/>
          </a:prstGeom>
          <a:noFill/>
          <a:ln/>
        </p:spPr>
        <p:txBody>
          <a:bodyPr wrap="square" lIns="0" tIns="0" rIns="0" bIns="0" rtlCol="0" anchor="ctr"/>
          <a:lstStyle/>
          <a:p>
            <a:pPr algn="r" indent="0" marL="0">
              <a:buNone/>
            </a:pPr>
            <a:r>
              <a:rPr lang="en-US" sz="1100" b="1" dirty="0">
                <a:solidFill>
                  <a:srgbClr val="00A39B"/>
                </a:solidFill>
                <a:latin typeface="Calibri" pitchFamily="34" charset="0"/>
                <a:ea typeface="Calibri" pitchFamily="34" charset="-122"/>
                <a:cs typeface="Calibri" pitchFamily="34" charset="-120"/>
              </a:rPr>
              <a:t>05</a:t>
            </a:r>
            <a:endParaRPr lang="en-US" sz="1100" dirty="0"/>
          </a:p>
        </p:txBody>
      </p:sp>
      <p:sp>
        <p:nvSpPr>
          <p:cNvPr id="12" name="Text 10"/>
          <p:cNvSpPr/>
          <p:nvPr/>
        </p:nvSpPr>
        <p:spPr>
          <a:xfrm>
            <a:off x="1536192" y="841248"/>
            <a:ext cx="10058400" cy="274320"/>
          </a:xfrm>
          <a:prstGeom prst="rect">
            <a:avLst/>
          </a:prstGeom>
          <a:noFill/>
          <a:ln/>
        </p:spPr>
        <p:txBody>
          <a:bodyPr wrap="square" lIns="0" tIns="0" rIns="0" bIns="0" rtlCol="0" anchor="ctr"/>
          <a:lstStyle/>
          <a:p>
            <a:pPr algn="l" indent="0" marL="0">
              <a:buNone/>
            </a:pPr>
            <a:r>
              <a:rPr lang="en-US" sz="1250" i="1" dirty="0">
                <a:solidFill>
                  <a:srgbClr val="5F6B76"/>
                </a:solidFill>
                <a:latin typeface="Calibri" pitchFamily="34" charset="0"/>
                <a:ea typeface="Calibri" pitchFamily="34" charset="-122"/>
                <a:cs typeface="Calibri" pitchFamily="34" charset="-120"/>
              </a:rPr>
              <a:t>Integration measurement changed the break-even condition</a:t>
            </a:r>
            <a:endParaRPr lang="en-US" sz="1250" dirty="0"/>
          </a:p>
        </p:txBody>
      </p:sp>
      <p:sp>
        <p:nvSpPr>
          <p:cNvPr id="13" name="Shape 11"/>
          <p:cNvSpPr/>
          <p:nvPr/>
        </p:nvSpPr>
        <p:spPr>
          <a:xfrm>
            <a:off x="640080" y="1371600"/>
            <a:ext cx="10972800" cy="914400"/>
          </a:xfrm>
          <a:prstGeom prst="roundRect">
            <a:avLst>
              <a:gd name="adj" fmla="val 4000"/>
            </a:avLst>
          </a:prstGeom>
          <a:solidFill>
            <a:srgbClr val="FBF3E6"/>
          </a:solidFill>
          <a:ln/>
          <a:effectLst>
            <a:outerShdw sx="100000" sy="100000" kx="0" ky="0" algn="bl" rotWithShape="0" blurRad="76200" dist="12700" dir="5400000">
              <a:srgbClr val="A6AFB8">
                <a:alpha val="25000"/>
              </a:srgbClr>
            </a:outerShdw>
          </a:effectLst>
        </p:spPr>
      </p:sp>
      <p:sp>
        <p:nvSpPr>
          <p:cNvPr id="14" name="Text 12"/>
          <p:cNvSpPr/>
          <p:nvPr/>
        </p:nvSpPr>
        <p:spPr>
          <a:xfrm>
            <a:off x="868680" y="1371600"/>
            <a:ext cx="10515600" cy="914400"/>
          </a:xfrm>
          <a:prstGeom prst="rect">
            <a:avLst/>
          </a:prstGeom>
          <a:noFill/>
          <a:ln/>
        </p:spPr>
        <p:txBody>
          <a:bodyPr wrap="square" lIns="0" tIns="0" rIns="0" bIns="0" rtlCol="0" anchor="ctr"/>
          <a:lstStyle/>
          <a:p>
            <a:pPr indent="0" marL="0">
              <a:buNone/>
            </a:pPr>
            <a:r>
              <a:rPr lang="en-US" sz="1300" dirty="0">
                <a:solidFill>
                  <a:srgbClr val="15191F"/>
                </a:solidFill>
                <a:latin typeface="Calibri" pitchFamily="34" charset="0"/>
                <a:ea typeface="Calibri" pitchFamily="34" charset="-122"/>
                <a:cs typeface="Calibri" pitchFamily="34" charset="-120"/>
              </a:rPr>
              <a:t>Review 1 derived the break-even from the CORE cycle counts alone. Measuring the integrated system revealed a fixed streaming overhead that Review 1 did not account for.</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2468880"/>
          <a:ext cx="10972800" cy="914400"/>
        </p:xfrm>
        <a:graphic>
          <a:graphicData uri="http://schemas.openxmlformats.org/drawingml/2006/table">
            <a:tbl>
              <a:tblPr/>
              <a:tblGrid>
                <a:gridCol w="3108960"/>
                <a:gridCol w="1920240"/>
                <a:gridCol w="1920240"/>
                <a:gridCol w="1645920"/>
                <a:gridCol w="2377440"/>
              </a:tblGrid>
              <a:tr h="347472">
                <a:tc>
                  <a:txBody>
                    <a:bodyPr/>
                    <a:lstStyle/>
                    <a:p>
                      <a:pPr algn="l"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2B4257"/>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Config A</a:t>
                      </a:r>
                      <a:endParaRPr lang="en-US" sz="110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2B4257"/>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Config B</a:t>
                      </a:r>
                      <a:endParaRPr lang="en-US" sz="110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2B4257"/>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Saving</a:t>
                      </a:r>
                      <a:endParaRPr lang="en-US" sz="110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2B4257"/>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Break-even ratio</a:t>
                      </a:r>
                      <a:endParaRPr lang="en-US" sz="110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2B4257"/>
                    </a:solidFill>
                  </a:tcPr>
                </a:tc>
              </a:tr>
              <a:tr h="384048">
                <a:tc>
                  <a:txBody>
                    <a:bodyPr/>
                    <a:lstStyle/>
                    <a:p>
                      <a:pPr algn="l" indent="0" marL="0">
                        <a:buNone/>
                      </a:pPr>
                      <a:r>
                        <a:rPr lang="en-US" sz="1100" dirty="0">
                          <a:solidFill>
                            <a:srgbClr val="15191F"/>
                          </a:solidFill>
                          <a:latin typeface="Calibri" pitchFamily="34" charset="0"/>
                          <a:ea typeface="Calibri" pitchFamily="34" charset="-122"/>
                          <a:cs typeface="Calibri" pitchFamily="34" charset="-120"/>
                        </a:rPr>
                        <a:t>Compression only</a:t>
                      </a:r>
                      <a:endParaRPr lang="en-US" sz="110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5191F"/>
                          </a:solidFill>
                          <a:latin typeface="Calibri" pitchFamily="34" charset="0"/>
                          <a:ea typeface="Calibri" pitchFamily="34" charset="-122"/>
                          <a:cs typeface="Calibri" pitchFamily="34" charset="-120"/>
                        </a:rPr>
                        <a:t>66 cycles</a:t>
                      </a:r>
                      <a:endParaRPr lang="en-US" sz="110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5191F"/>
                          </a:solidFill>
                          <a:latin typeface="Calibri" pitchFamily="34" charset="0"/>
                          <a:ea typeface="Calibri" pitchFamily="34" charset="-122"/>
                          <a:cs typeface="Calibri" pitchFamily="34" charset="-120"/>
                        </a:rPr>
                        <a:t>34 cycles</a:t>
                      </a:r>
                      <a:endParaRPr lang="en-US" sz="110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5191F"/>
                          </a:solidFill>
                          <a:latin typeface="Calibri" pitchFamily="34" charset="0"/>
                          <a:ea typeface="Calibri" pitchFamily="34" charset="-122"/>
                          <a:cs typeface="Calibri" pitchFamily="34" charset="-120"/>
                        </a:rPr>
                        <a:t>32 cycles</a:t>
                      </a:r>
                      <a:endParaRPr lang="en-US" sz="110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5191F"/>
                          </a:solidFill>
                          <a:latin typeface="Calibri" pitchFamily="34" charset="0"/>
                          <a:ea typeface="Calibri" pitchFamily="34" charset="-122"/>
                          <a:cs typeface="Calibri" pitchFamily="34" charset="-120"/>
                        </a:rPr>
                        <a:t>34/66 = 0.515</a:t>
                      </a:r>
                      <a:endParaRPr lang="en-US" sz="110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15191F"/>
                          </a:solidFill>
                          <a:latin typeface="Calibri" pitchFamily="34" charset="0"/>
                          <a:ea typeface="Calibri" pitchFamily="34" charset="-122"/>
                          <a:cs typeface="Calibri" pitchFamily="34" charset="-120"/>
                        </a:rPr>
                        <a:t>Measured at system level</a:t>
                      </a:r>
                      <a:endParaRPr lang="en-US" sz="110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5191F"/>
                          </a:solidFill>
                          <a:latin typeface="Calibri" pitchFamily="34" charset="0"/>
                          <a:ea typeface="Calibri" pitchFamily="34" charset="-122"/>
                          <a:cs typeface="Calibri" pitchFamily="34" charset="-120"/>
                        </a:rPr>
                        <a:t>85 cycles</a:t>
                      </a:r>
                      <a:endParaRPr lang="en-US" sz="110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5191F"/>
                          </a:solidFill>
                          <a:latin typeface="Calibri" pitchFamily="34" charset="0"/>
                          <a:ea typeface="Calibri" pitchFamily="34" charset="-122"/>
                          <a:cs typeface="Calibri" pitchFamily="34" charset="-120"/>
                        </a:rPr>
                        <a:t>53 cycles</a:t>
                      </a:r>
                      <a:endParaRPr lang="en-US" sz="110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5191F"/>
                          </a:solidFill>
                          <a:latin typeface="Calibri" pitchFamily="34" charset="0"/>
                          <a:ea typeface="Calibri" pitchFamily="34" charset="-122"/>
                          <a:cs typeface="Calibri" pitchFamily="34" charset="-120"/>
                        </a:rPr>
                        <a:t>32 cycles</a:t>
                      </a:r>
                      <a:endParaRPr lang="en-US" sz="110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5191F"/>
                          </a:solidFill>
                          <a:latin typeface="Calibri" pitchFamily="34" charset="0"/>
                          <a:ea typeface="Calibri" pitchFamily="34" charset="-122"/>
                          <a:cs typeface="Calibri" pitchFamily="34" charset="-120"/>
                        </a:rPr>
                        <a:t>53/85 = 0.624</a:t>
                      </a:r>
                      <a:endParaRPr lang="en-US" sz="110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15191F"/>
                          </a:solidFill>
                          <a:latin typeface="Calibri" pitchFamily="34" charset="0"/>
                          <a:ea typeface="Calibri" pitchFamily="34" charset="-122"/>
                          <a:cs typeface="Calibri" pitchFamily="34" charset="-120"/>
                        </a:rPr>
                        <a:t>Fixed streaming overhead</a:t>
                      </a:r>
                      <a:endParaRPr lang="en-US" sz="110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5191F"/>
                          </a:solidFill>
                          <a:latin typeface="Calibri" pitchFamily="34" charset="0"/>
                          <a:ea typeface="Calibri" pitchFamily="34" charset="-122"/>
                          <a:cs typeface="Calibri" pitchFamily="34" charset="-120"/>
                        </a:rPr>
                        <a:t>19 cycles</a:t>
                      </a:r>
                      <a:endParaRPr lang="en-US" sz="110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5191F"/>
                          </a:solidFill>
                          <a:latin typeface="Calibri" pitchFamily="34" charset="0"/>
                          <a:ea typeface="Calibri" pitchFamily="34" charset="-122"/>
                          <a:cs typeface="Calibri" pitchFamily="34" charset="-120"/>
                        </a:rPr>
                        <a:t>19 cycles</a:t>
                      </a:r>
                      <a:endParaRPr lang="en-US" sz="110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5191F"/>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5191F"/>
                          </a:solidFill>
                          <a:latin typeface="Calibri" pitchFamily="34" charset="0"/>
                          <a:ea typeface="Calibri" pitchFamily="34" charset="-122"/>
                          <a:cs typeface="Calibri" pitchFamily="34" charset="-120"/>
                        </a:rPr>
                        <a:t>— identical in both</a:t>
                      </a:r>
                      <a:endParaRPr lang="en-US" sz="110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r>
            </a:tbl>
          </a:graphicData>
        </a:graphic>
      </p:graphicFrame>
      <p:sp>
        <p:nvSpPr>
          <p:cNvPr id="16" name="Shape 13"/>
          <p:cNvSpPr/>
          <p:nvPr/>
        </p:nvSpPr>
        <p:spPr>
          <a:xfrm>
            <a:off x="640080" y="4114800"/>
            <a:ext cx="5349240" cy="1060704"/>
          </a:xfrm>
          <a:prstGeom prst="roundRect">
            <a:avLst>
              <a:gd name="adj" fmla="val 3448"/>
            </a:avLst>
          </a:prstGeom>
          <a:solidFill>
            <a:srgbClr val="E3F3F1"/>
          </a:solidFill>
          <a:ln/>
          <a:effectLst>
            <a:outerShdw sx="100000" sy="100000" kx="0" ky="0" algn="bl" rotWithShape="0" blurRad="76200" dist="12700" dir="5400000">
              <a:srgbClr val="A6AFB8">
                <a:alpha val="25000"/>
              </a:srgbClr>
            </a:outerShdw>
          </a:effectLst>
        </p:spPr>
      </p:sp>
      <p:sp>
        <p:nvSpPr>
          <p:cNvPr id="17" name="Text 14"/>
          <p:cNvSpPr/>
          <p:nvPr/>
        </p:nvSpPr>
        <p:spPr>
          <a:xfrm>
            <a:off x="841248" y="4206240"/>
            <a:ext cx="4937760" cy="256032"/>
          </a:xfrm>
          <a:prstGeom prst="rect">
            <a:avLst/>
          </a:prstGeom>
          <a:noFill/>
          <a:ln/>
        </p:spPr>
        <p:txBody>
          <a:bodyPr wrap="square" lIns="0" tIns="0" rIns="0" bIns="0" rtlCol="0" anchor="ctr"/>
          <a:lstStyle/>
          <a:p>
            <a:pPr indent="0" marL="0">
              <a:buNone/>
            </a:pPr>
            <a:r>
              <a:rPr lang="en-US" sz="1150" b="1" dirty="0">
                <a:solidFill>
                  <a:srgbClr val="00756F"/>
                </a:solidFill>
                <a:latin typeface="Calibri" pitchFamily="34" charset="0"/>
                <a:ea typeface="Calibri" pitchFamily="34" charset="-122"/>
                <a:cs typeface="Calibri" pitchFamily="34" charset="-120"/>
              </a:rPr>
              <a:t>Where the 19 cycles go</a:t>
            </a:r>
            <a:endParaRPr lang="en-US" sz="1150" dirty="0"/>
          </a:p>
        </p:txBody>
      </p:sp>
      <p:sp>
        <p:nvSpPr>
          <p:cNvPr id="18" name="Text 15"/>
          <p:cNvSpPr/>
          <p:nvPr/>
        </p:nvSpPr>
        <p:spPr>
          <a:xfrm>
            <a:off x="841248" y="4480560"/>
            <a:ext cx="4937760" cy="621792"/>
          </a:xfrm>
          <a:prstGeom prst="rect">
            <a:avLst/>
          </a:prstGeom>
          <a:noFill/>
          <a:ln/>
        </p:spPr>
        <p:txBody>
          <a:bodyPr wrap="square" lIns="0" tIns="0" rIns="0" bIns="0" rtlCol="0" anchor="ctr"/>
          <a:lstStyle/>
          <a:p>
            <a:pPr indent="0" marL="0">
              <a:buNone/>
            </a:pPr>
            <a:r>
              <a:rPr lang="en-US" sz="950" dirty="0">
                <a:solidFill>
                  <a:srgbClr val="15191F"/>
                </a:solidFill>
                <a:latin typeface="Calibri" pitchFamily="34" charset="0"/>
                <a:ea typeface="Calibri" pitchFamily="34" charset="-122"/>
                <a:cs typeface="Calibri" pitchFamily="34" charset="-120"/>
              </a:rPr>
              <a:t>Sixteen AXI4-Stream beats to deliver one 512-bit block, plus the submit and hash-update handshake. Identical for both configurations, because it is outside the compression loop.</a:t>
            </a:r>
            <a:endParaRPr lang="en-US" sz="950" dirty="0"/>
          </a:p>
        </p:txBody>
      </p:sp>
      <p:sp>
        <p:nvSpPr>
          <p:cNvPr id="19" name="Shape 16"/>
          <p:cNvSpPr/>
          <p:nvPr/>
        </p:nvSpPr>
        <p:spPr>
          <a:xfrm>
            <a:off x="6263640" y="4114800"/>
            <a:ext cx="5349240" cy="1060704"/>
          </a:xfrm>
          <a:prstGeom prst="roundRect">
            <a:avLst>
              <a:gd name="adj" fmla="val 3448"/>
            </a:avLst>
          </a:prstGeom>
          <a:solidFill>
            <a:srgbClr val="FBF3E6"/>
          </a:solidFill>
          <a:ln/>
          <a:effectLst>
            <a:outerShdw sx="100000" sy="100000" kx="0" ky="0" algn="bl" rotWithShape="0" blurRad="76200" dist="12700" dir="5400000">
              <a:srgbClr val="A6AFB8">
                <a:alpha val="25000"/>
              </a:srgbClr>
            </a:outerShdw>
          </a:effectLst>
        </p:spPr>
      </p:sp>
      <p:sp>
        <p:nvSpPr>
          <p:cNvPr id="20" name="Text 17"/>
          <p:cNvSpPr/>
          <p:nvPr/>
        </p:nvSpPr>
        <p:spPr>
          <a:xfrm>
            <a:off x="6464808" y="4206240"/>
            <a:ext cx="4937760" cy="256032"/>
          </a:xfrm>
          <a:prstGeom prst="rect">
            <a:avLst/>
          </a:prstGeom>
          <a:noFill/>
          <a:ln/>
        </p:spPr>
        <p:txBody>
          <a:bodyPr wrap="square" lIns="0" tIns="0" rIns="0" bIns="0" rtlCol="0" anchor="ctr"/>
          <a:lstStyle/>
          <a:p>
            <a:pPr indent="0" marL="0">
              <a:buNone/>
            </a:pPr>
            <a:r>
              <a:rPr lang="en-US" sz="1150" b="1" dirty="0">
                <a:solidFill>
                  <a:srgbClr val="9A6A16"/>
                </a:solidFill>
                <a:latin typeface="Calibri" pitchFamily="34" charset="0"/>
                <a:ea typeface="Calibri" pitchFamily="34" charset="-122"/>
                <a:cs typeface="Calibri" pitchFamily="34" charset="-120"/>
              </a:rPr>
              <a:t>Why the threshold rose</a:t>
            </a:r>
            <a:endParaRPr lang="en-US" sz="1150" dirty="0"/>
          </a:p>
        </p:txBody>
      </p:sp>
      <p:sp>
        <p:nvSpPr>
          <p:cNvPr id="21" name="Text 18"/>
          <p:cNvSpPr/>
          <p:nvPr/>
        </p:nvSpPr>
        <p:spPr>
          <a:xfrm>
            <a:off x="6464808" y="4480560"/>
            <a:ext cx="4937760" cy="621792"/>
          </a:xfrm>
          <a:prstGeom prst="rect">
            <a:avLst/>
          </a:prstGeom>
          <a:noFill/>
          <a:ln/>
        </p:spPr>
        <p:txBody>
          <a:bodyPr wrap="square" lIns="0" tIns="0" rIns="0" bIns="0" rtlCol="0" anchor="ctr"/>
          <a:lstStyle/>
          <a:p>
            <a:pPr indent="0" marL="0">
              <a:buNone/>
            </a:pPr>
            <a:r>
              <a:rPr lang="en-US" sz="950" dirty="0">
                <a:solidFill>
                  <a:srgbClr val="15191F"/>
                </a:solidFill>
                <a:latin typeface="Calibri" pitchFamily="34" charset="0"/>
                <a:ea typeface="Calibri" pitchFamily="34" charset="-122"/>
                <a:cs typeface="Calibri" pitchFamily="34" charset="-120"/>
              </a:rPr>
              <a:t>A fixed overhead dilutes a proportional saving. The 32-cycle gain is unchanged, but it is now 32 of 85 rather than 32 of 66 — so Config B must retain MORE frequency to break even.</a:t>
            </a:r>
            <a:endParaRPr lang="en-US" sz="950" dirty="0"/>
          </a:p>
        </p:txBody>
      </p:sp>
      <p:sp>
        <p:nvSpPr>
          <p:cNvPr id="22" name="Shape 19"/>
          <p:cNvSpPr/>
          <p:nvPr/>
        </p:nvSpPr>
        <p:spPr>
          <a:xfrm>
            <a:off x="640080" y="5358384"/>
            <a:ext cx="10972800" cy="914400"/>
          </a:xfrm>
          <a:prstGeom prst="roundRect">
            <a:avLst>
              <a:gd name="adj" fmla="val 5000"/>
            </a:avLst>
          </a:prstGeom>
          <a:solidFill>
            <a:srgbClr val="FFFFFF"/>
          </a:solidFill>
          <a:ln w="19050">
            <a:solidFill>
              <a:srgbClr val="C4553D"/>
            </a:solidFill>
            <a:prstDash val="solid"/>
          </a:ln>
        </p:spPr>
      </p:sp>
      <p:sp>
        <p:nvSpPr>
          <p:cNvPr id="23" name="Text 20"/>
          <p:cNvSpPr/>
          <p:nvPr/>
        </p:nvSpPr>
        <p:spPr>
          <a:xfrm>
            <a:off x="868680" y="5358384"/>
            <a:ext cx="10515600" cy="914400"/>
          </a:xfrm>
          <a:prstGeom prst="rect">
            <a:avLst/>
          </a:prstGeom>
          <a:noFill/>
          <a:ln/>
        </p:spPr>
        <p:txBody>
          <a:bodyPr wrap="square" lIns="0" tIns="0" rIns="0" bIns="0" rtlCol="0" anchor="ctr"/>
          <a:lstStyle/>
          <a:p>
            <a:pPr algn="ctr" indent="0" marL="0">
              <a:buNone/>
            </a:pPr>
            <a:r>
              <a:rPr lang="en-US" sz="1400" b="1" dirty="0">
                <a:solidFill>
                  <a:srgbClr val="8F4433"/>
                </a:solidFill>
                <a:latin typeface="Courier New" pitchFamily="34" charset="0"/>
                <a:ea typeface="Courier New" pitchFamily="34" charset="-122"/>
                <a:cs typeface="Courier New" pitchFamily="34" charset="-120"/>
              </a:rPr>
              <a:t>REVISED CRITERION      Fmax(B) / Fmax(A)   &gt;   0.624      —  unrolling now has a harder bar to clear</a:t>
            </a:r>
            <a:endParaRPr lang="en-US" sz="1400" dirty="0"/>
          </a:p>
        </p:txBody>
      </p:sp>
      <p:sp>
        <p:nvSpPr>
          <p:cNvPr id="24" name="Text 21"/>
          <p:cNvSpPr/>
          <p:nvPr/>
        </p:nvSpPr>
        <p:spPr>
          <a:xfrm>
            <a:off x="548640" y="6419088"/>
            <a:ext cx="11064240" cy="274320"/>
          </a:xfrm>
          <a:prstGeom prst="rect">
            <a:avLst/>
          </a:prstGeom>
          <a:noFill/>
          <a:ln/>
        </p:spPr>
        <p:txBody>
          <a:bodyPr wrap="square" lIns="0" tIns="0" rIns="0" bIns="0" rtlCol="0" anchor="ctr"/>
          <a:lstStyle/>
          <a:p>
            <a:pPr algn="r" indent="0" marL="0">
              <a:buNone/>
            </a:pPr>
            <a:r>
              <a:rPr lang="en-US" sz="900" dirty="0">
                <a:solidFill>
                  <a:srgbClr val="97A2AC"/>
                </a:solidFill>
                <a:latin typeface="Calibri" pitchFamily="34" charset="0"/>
                <a:ea typeface="Calibri" pitchFamily="34" charset="-122"/>
                <a:cs typeface="Calibri" pitchFamily="34" charset="-120"/>
              </a:rPr>
              <a:t>Review 2  ·  Amritha S  ·  23BEC1368  ·  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66928" y="512064"/>
            <a:ext cx="91440" cy="91440"/>
          </a:xfrm>
          <a:prstGeom prst="rect">
            <a:avLst/>
          </a:prstGeom>
          <a:solidFill>
            <a:srgbClr val="00A39B"/>
          </a:solidFill>
          <a:ln/>
        </p:spPr>
      </p:sp>
      <p:sp>
        <p:nvSpPr>
          <p:cNvPr id="3" name="Shape 1"/>
          <p:cNvSpPr/>
          <p:nvPr/>
        </p:nvSpPr>
        <p:spPr>
          <a:xfrm>
            <a:off x="691286" y="512064"/>
            <a:ext cx="91440" cy="91440"/>
          </a:xfrm>
          <a:prstGeom prst="rect">
            <a:avLst/>
          </a:prstGeom>
          <a:solidFill>
            <a:srgbClr val="C2CBD4"/>
          </a:solidFill>
          <a:ln/>
        </p:spPr>
      </p:sp>
      <p:sp>
        <p:nvSpPr>
          <p:cNvPr id="4" name="Shape 2"/>
          <p:cNvSpPr/>
          <p:nvPr/>
        </p:nvSpPr>
        <p:spPr>
          <a:xfrm>
            <a:off x="815645" y="512064"/>
            <a:ext cx="91440" cy="91440"/>
          </a:xfrm>
          <a:prstGeom prst="rect">
            <a:avLst/>
          </a:prstGeom>
          <a:solidFill>
            <a:srgbClr val="C2CBD4"/>
          </a:solidFill>
          <a:ln/>
        </p:spPr>
      </p:sp>
      <p:sp>
        <p:nvSpPr>
          <p:cNvPr id="5" name="Shape 3"/>
          <p:cNvSpPr/>
          <p:nvPr/>
        </p:nvSpPr>
        <p:spPr>
          <a:xfrm>
            <a:off x="940003" y="512064"/>
            <a:ext cx="91440" cy="91440"/>
          </a:xfrm>
          <a:prstGeom prst="rect">
            <a:avLst/>
          </a:prstGeom>
          <a:solidFill>
            <a:srgbClr val="C2CBD4"/>
          </a:solidFill>
          <a:ln/>
        </p:spPr>
      </p:sp>
      <p:sp>
        <p:nvSpPr>
          <p:cNvPr id="6" name="Shape 4"/>
          <p:cNvSpPr/>
          <p:nvPr/>
        </p:nvSpPr>
        <p:spPr>
          <a:xfrm>
            <a:off x="1064362" y="512064"/>
            <a:ext cx="91440" cy="91440"/>
          </a:xfrm>
          <a:prstGeom prst="rect">
            <a:avLst/>
          </a:prstGeom>
          <a:solidFill>
            <a:srgbClr val="00A39B"/>
          </a:solidFill>
          <a:ln/>
        </p:spPr>
      </p:sp>
      <p:sp>
        <p:nvSpPr>
          <p:cNvPr id="7" name="Shape 5"/>
          <p:cNvSpPr/>
          <p:nvPr/>
        </p:nvSpPr>
        <p:spPr>
          <a:xfrm>
            <a:off x="1188720" y="512064"/>
            <a:ext cx="91440" cy="91440"/>
          </a:xfrm>
          <a:prstGeom prst="rect">
            <a:avLst/>
          </a:prstGeom>
          <a:solidFill>
            <a:srgbClr val="C2CBD4"/>
          </a:solidFill>
          <a:ln/>
        </p:spPr>
      </p:sp>
      <p:sp>
        <p:nvSpPr>
          <p:cNvPr id="8" name="Shape 6"/>
          <p:cNvSpPr/>
          <p:nvPr/>
        </p:nvSpPr>
        <p:spPr>
          <a:xfrm>
            <a:off x="1313078" y="512064"/>
            <a:ext cx="91440" cy="91440"/>
          </a:xfrm>
          <a:prstGeom prst="rect">
            <a:avLst/>
          </a:prstGeom>
          <a:solidFill>
            <a:srgbClr val="C2CBD4"/>
          </a:solidFill>
          <a:ln/>
        </p:spPr>
      </p:sp>
      <p:sp>
        <p:nvSpPr>
          <p:cNvPr id="9" name="Shape 7"/>
          <p:cNvSpPr/>
          <p:nvPr/>
        </p:nvSpPr>
        <p:spPr>
          <a:xfrm>
            <a:off x="1437437" y="512064"/>
            <a:ext cx="91440" cy="91440"/>
          </a:xfrm>
          <a:prstGeom prst="rect">
            <a:avLst/>
          </a:prstGeom>
          <a:solidFill>
            <a:srgbClr val="C2CBD4"/>
          </a:solidFill>
          <a:ln/>
        </p:spPr>
      </p:sp>
      <p:sp>
        <p:nvSpPr>
          <p:cNvPr id="10" name="Text 8"/>
          <p:cNvSpPr/>
          <p:nvPr/>
        </p:nvSpPr>
        <p:spPr>
          <a:xfrm>
            <a:off x="1517904" y="310896"/>
            <a:ext cx="10058400" cy="530352"/>
          </a:xfrm>
          <a:prstGeom prst="rect">
            <a:avLst/>
          </a:prstGeom>
          <a:noFill/>
          <a:ln/>
        </p:spPr>
        <p:txBody>
          <a:bodyPr wrap="square" lIns="0" tIns="0" rIns="0" bIns="0" rtlCol="0" anchor="ctr"/>
          <a:lstStyle/>
          <a:p>
            <a:pPr algn="l" indent="0" marL="0">
              <a:buNone/>
            </a:pPr>
            <a:r>
              <a:rPr lang="en-US" sz="2600" b="1" dirty="0">
                <a:solidFill>
                  <a:srgbClr val="2B4257"/>
                </a:solidFill>
                <a:latin typeface="Cambria" pitchFamily="34" charset="0"/>
                <a:ea typeface="Cambria" pitchFamily="34" charset="-122"/>
                <a:cs typeface="Cambria" pitchFamily="34" charset="-120"/>
              </a:rPr>
              <a:t>System Integration — Verified Over Real AXI</a:t>
            </a:r>
            <a:endParaRPr lang="en-US" sz="2600" dirty="0"/>
          </a:p>
        </p:txBody>
      </p:sp>
      <p:sp>
        <p:nvSpPr>
          <p:cNvPr id="11" name="Text 9"/>
          <p:cNvSpPr/>
          <p:nvPr/>
        </p:nvSpPr>
        <p:spPr>
          <a:xfrm>
            <a:off x="10972800" y="347472"/>
            <a:ext cx="640080" cy="365760"/>
          </a:xfrm>
          <a:prstGeom prst="rect">
            <a:avLst/>
          </a:prstGeom>
          <a:noFill/>
          <a:ln/>
        </p:spPr>
        <p:txBody>
          <a:bodyPr wrap="square" lIns="0" tIns="0" rIns="0" bIns="0" rtlCol="0" anchor="ctr"/>
          <a:lstStyle/>
          <a:p>
            <a:pPr algn="r" indent="0" marL="0">
              <a:buNone/>
            </a:pPr>
            <a:r>
              <a:rPr lang="en-US" sz="1100" b="1" dirty="0">
                <a:solidFill>
                  <a:srgbClr val="00A39B"/>
                </a:solidFill>
                <a:latin typeface="Calibri" pitchFamily="34" charset="0"/>
                <a:ea typeface="Calibri" pitchFamily="34" charset="-122"/>
                <a:cs typeface="Calibri" pitchFamily="34" charset="-120"/>
              </a:rPr>
              <a:t>06</a:t>
            </a:r>
            <a:endParaRPr lang="en-US" sz="1100" dirty="0"/>
          </a:p>
        </p:txBody>
      </p:sp>
      <p:sp>
        <p:nvSpPr>
          <p:cNvPr id="12" name="Text 10"/>
          <p:cNvSpPr/>
          <p:nvPr/>
        </p:nvSpPr>
        <p:spPr>
          <a:xfrm>
            <a:off x="1536192" y="841248"/>
            <a:ext cx="10058400" cy="274320"/>
          </a:xfrm>
          <a:prstGeom prst="rect">
            <a:avLst/>
          </a:prstGeom>
          <a:noFill/>
          <a:ln/>
        </p:spPr>
        <p:txBody>
          <a:bodyPr wrap="square" lIns="0" tIns="0" rIns="0" bIns="0" rtlCol="0" anchor="ctr"/>
          <a:lstStyle/>
          <a:p>
            <a:pPr algn="l" indent="0" marL="0">
              <a:buNone/>
            </a:pPr>
            <a:r>
              <a:rPr lang="en-US" sz="1250" i="1" dirty="0">
                <a:solidFill>
                  <a:srgbClr val="5F6B76"/>
                </a:solidFill>
                <a:latin typeface="Calibri" pitchFamily="34" charset="0"/>
                <a:ea typeface="Calibri" pitchFamily="34" charset="-122"/>
                <a:cs typeface="Calibri" pitchFamily="34" charset="-120"/>
              </a:rPr>
              <a:t>The testbench drives the design exactly as the processor will</a:t>
            </a:r>
            <a:endParaRPr lang="en-US" sz="1250" dirty="0"/>
          </a:p>
        </p:txBody>
      </p:sp>
      <p:sp>
        <p:nvSpPr>
          <p:cNvPr id="13" name="Shape 11"/>
          <p:cNvSpPr/>
          <p:nvPr/>
        </p:nvSpPr>
        <p:spPr>
          <a:xfrm>
            <a:off x="640080" y="1426464"/>
            <a:ext cx="6949440" cy="566928"/>
          </a:xfrm>
          <a:prstGeom prst="roundRect">
            <a:avLst>
              <a:gd name="adj" fmla="val 6452"/>
            </a:avLst>
          </a:prstGeom>
          <a:solidFill>
            <a:srgbClr val="EEF1F4"/>
          </a:solidFill>
          <a:ln w="9525">
            <a:solidFill>
              <a:srgbClr val="DAE0E6"/>
            </a:solidFill>
            <a:prstDash val="solid"/>
          </a:ln>
        </p:spPr>
      </p:sp>
      <p:sp>
        <p:nvSpPr>
          <p:cNvPr id="14" name="Shape 12"/>
          <p:cNvSpPr/>
          <p:nvPr/>
        </p:nvSpPr>
        <p:spPr>
          <a:xfrm>
            <a:off x="804672" y="1545336"/>
            <a:ext cx="329184" cy="329184"/>
          </a:xfrm>
          <a:prstGeom prst="roundRect">
            <a:avLst>
              <a:gd name="adj" fmla="val 16667"/>
            </a:avLst>
          </a:prstGeom>
          <a:solidFill>
            <a:srgbClr val="00A39B"/>
          </a:solidFill>
          <a:ln/>
        </p:spPr>
      </p:sp>
      <p:sp>
        <p:nvSpPr>
          <p:cNvPr id="15" name="Text 13"/>
          <p:cNvSpPr/>
          <p:nvPr/>
        </p:nvSpPr>
        <p:spPr>
          <a:xfrm>
            <a:off x="804672" y="154533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6" name="Text 14"/>
          <p:cNvSpPr/>
          <p:nvPr/>
        </p:nvSpPr>
        <p:spPr>
          <a:xfrm>
            <a:off x="1261872" y="1481328"/>
            <a:ext cx="1737360" cy="457200"/>
          </a:xfrm>
          <a:prstGeom prst="rect">
            <a:avLst/>
          </a:prstGeom>
          <a:noFill/>
          <a:ln/>
        </p:spPr>
        <p:txBody>
          <a:bodyPr wrap="square" lIns="0" tIns="0" rIns="0" bIns="0" rtlCol="0" anchor="ctr"/>
          <a:lstStyle/>
          <a:p>
            <a:pPr indent="0" marL="0">
              <a:buNone/>
            </a:pPr>
            <a:r>
              <a:rPr lang="en-US" sz="1050" b="1" dirty="0">
                <a:solidFill>
                  <a:srgbClr val="2B4257"/>
                </a:solidFill>
                <a:latin typeface="Calibri" pitchFamily="34" charset="0"/>
                <a:ea typeface="Calibri" pitchFamily="34" charset="-122"/>
                <a:cs typeface="Calibri" pitchFamily="34" charset="-120"/>
              </a:rPr>
              <a:t>AXI4-Lite write</a:t>
            </a:r>
            <a:endParaRPr lang="en-US" sz="1050" dirty="0"/>
          </a:p>
        </p:txBody>
      </p:sp>
      <p:sp>
        <p:nvSpPr>
          <p:cNvPr id="17" name="Text 15"/>
          <p:cNvSpPr/>
          <p:nvPr/>
        </p:nvSpPr>
        <p:spPr>
          <a:xfrm>
            <a:off x="3063240" y="1481328"/>
            <a:ext cx="4389120" cy="457200"/>
          </a:xfrm>
          <a:prstGeom prst="rect">
            <a:avLst/>
          </a:prstGeom>
          <a:noFill/>
          <a:ln/>
        </p:spPr>
        <p:txBody>
          <a:bodyPr wrap="square" lIns="0" tIns="0" rIns="0" bIns="0" rtlCol="0" anchor="ctr"/>
          <a:lstStyle/>
          <a:p>
            <a:pPr indent="0" marL="0">
              <a:buNone/>
            </a:pPr>
            <a:r>
              <a:rPr lang="en-US" sz="950" dirty="0">
                <a:solidFill>
                  <a:srgbClr val="5F6B76"/>
                </a:solidFill>
                <a:latin typeface="Calibri" pitchFamily="34" charset="0"/>
                <a:ea typeface="Calibri" pitchFamily="34" charset="-122"/>
                <a:cs typeface="Calibri" pitchFamily="34" charset="-120"/>
              </a:rPr>
              <a:t>BLOCK_CNT = number of 512-bit blocks</a:t>
            </a:r>
            <a:endParaRPr lang="en-US" sz="950" dirty="0"/>
          </a:p>
        </p:txBody>
      </p:sp>
      <p:sp>
        <p:nvSpPr>
          <p:cNvPr id="18" name="Shape 16"/>
          <p:cNvSpPr/>
          <p:nvPr/>
        </p:nvSpPr>
        <p:spPr>
          <a:xfrm>
            <a:off x="640080" y="2084832"/>
            <a:ext cx="6949440" cy="566928"/>
          </a:xfrm>
          <a:prstGeom prst="roundRect">
            <a:avLst>
              <a:gd name="adj" fmla="val 6452"/>
            </a:avLst>
          </a:prstGeom>
          <a:solidFill>
            <a:srgbClr val="F9FAFC"/>
          </a:solidFill>
          <a:ln w="9525">
            <a:solidFill>
              <a:srgbClr val="DAE0E6"/>
            </a:solidFill>
            <a:prstDash val="solid"/>
          </a:ln>
        </p:spPr>
      </p:sp>
      <p:sp>
        <p:nvSpPr>
          <p:cNvPr id="19" name="Shape 17"/>
          <p:cNvSpPr/>
          <p:nvPr/>
        </p:nvSpPr>
        <p:spPr>
          <a:xfrm>
            <a:off x="804672" y="2203704"/>
            <a:ext cx="329184" cy="329184"/>
          </a:xfrm>
          <a:prstGeom prst="roundRect">
            <a:avLst>
              <a:gd name="adj" fmla="val 16667"/>
            </a:avLst>
          </a:prstGeom>
          <a:solidFill>
            <a:srgbClr val="00A39B"/>
          </a:solidFill>
          <a:ln/>
        </p:spPr>
      </p:sp>
      <p:sp>
        <p:nvSpPr>
          <p:cNvPr id="20" name="Text 18"/>
          <p:cNvSpPr/>
          <p:nvPr/>
        </p:nvSpPr>
        <p:spPr>
          <a:xfrm>
            <a:off x="804672" y="220370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1" name="Text 19"/>
          <p:cNvSpPr/>
          <p:nvPr/>
        </p:nvSpPr>
        <p:spPr>
          <a:xfrm>
            <a:off x="1261872" y="2139696"/>
            <a:ext cx="1737360" cy="457200"/>
          </a:xfrm>
          <a:prstGeom prst="rect">
            <a:avLst/>
          </a:prstGeom>
          <a:noFill/>
          <a:ln/>
        </p:spPr>
        <p:txBody>
          <a:bodyPr wrap="square" lIns="0" tIns="0" rIns="0" bIns="0" rtlCol="0" anchor="ctr"/>
          <a:lstStyle/>
          <a:p>
            <a:pPr indent="0" marL="0">
              <a:buNone/>
            </a:pPr>
            <a:r>
              <a:rPr lang="en-US" sz="1050" b="1" dirty="0">
                <a:solidFill>
                  <a:srgbClr val="2B4257"/>
                </a:solidFill>
                <a:latin typeface="Calibri" pitchFamily="34" charset="0"/>
                <a:ea typeface="Calibri" pitchFamily="34" charset="-122"/>
                <a:cs typeface="Calibri" pitchFamily="34" charset="-120"/>
              </a:rPr>
              <a:t>AXI4-Lite write</a:t>
            </a:r>
            <a:endParaRPr lang="en-US" sz="1050" dirty="0"/>
          </a:p>
        </p:txBody>
      </p:sp>
      <p:sp>
        <p:nvSpPr>
          <p:cNvPr id="22" name="Text 20"/>
          <p:cNvSpPr/>
          <p:nvPr/>
        </p:nvSpPr>
        <p:spPr>
          <a:xfrm>
            <a:off x="3063240" y="2139696"/>
            <a:ext cx="4389120" cy="457200"/>
          </a:xfrm>
          <a:prstGeom prst="rect">
            <a:avLst/>
          </a:prstGeom>
          <a:noFill/>
          <a:ln/>
        </p:spPr>
        <p:txBody>
          <a:bodyPr wrap="square" lIns="0" tIns="0" rIns="0" bIns="0" rtlCol="0" anchor="ctr"/>
          <a:lstStyle/>
          <a:p>
            <a:pPr indent="0" marL="0">
              <a:buNone/>
            </a:pPr>
            <a:r>
              <a:rPr lang="en-US" sz="950" dirty="0">
                <a:solidFill>
                  <a:srgbClr val="5F6B76"/>
                </a:solidFill>
                <a:latin typeface="Calibri" pitchFamily="34" charset="0"/>
                <a:ea typeface="Calibri" pitchFamily="34" charset="-122"/>
                <a:cs typeface="Calibri" pitchFamily="34" charset="-120"/>
              </a:rPr>
              <a:t>CTRL = START | INIT</a:t>
            </a:r>
            <a:endParaRPr lang="en-US" sz="950" dirty="0"/>
          </a:p>
        </p:txBody>
      </p:sp>
      <p:sp>
        <p:nvSpPr>
          <p:cNvPr id="23" name="Shape 21"/>
          <p:cNvSpPr/>
          <p:nvPr/>
        </p:nvSpPr>
        <p:spPr>
          <a:xfrm>
            <a:off x="640080" y="2743200"/>
            <a:ext cx="6949440" cy="566928"/>
          </a:xfrm>
          <a:prstGeom prst="roundRect">
            <a:avLst>
              <a:gd name="adj" fmla="val 6452"/>
            </a:avLst>
          </a:prstGeom>
          <a:solidFill>
            <a:srgbClr val="EEF1F4"/>
          </a:solidFill>
          <a:ln w="9525">
            <a:solidFill>
              <a:srgbClr val="DAE0E6"/>
            </a:solidFill>
            <a:prstDash val="solid"/>
          </a:ln>
        </p:spPr>
      </p:sp>
      <p:sp>
        <p:nvSpPr>
          <p:cNvPr id="24" name="Shape 22"/>
          <p:cNvSpPr/>
          <p:nvPr/>
        </p:nvSpPr>
        <p:spPr>
          <a:xfrm>
            <a:off x="804672" y="2862072"/>
            <a:ext cx="329184" cy="329184"/>
          </a:xfrm>
          <a:prstGeom prst="roundRect">
            <a:avLst>
              <a:gd name="adj" fmla="val 16667"/>
            </a:avLst>
          </a:prstGeom>
          <a:solidFill>
            <a:srgbClr val="DE9A3E"/>
          </a:solidFill>
          <a:ln/>
        </p:spPr>
      </p:sp>
      <p:sp>
        <p:nvSpPr>
          <p:cNvPr id="25" name="Text 23"/>
          <p:cNvSpPr/>
          <p:nvPr/>
        </p:nvSpPr>
        <p:spPr>
          <a:xfrm>
            <a:off x="804672" y="286207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6" name="Text 24"/>
          <p:cNvSpPr/>
          <p:nvPr/>
        </p:nvSpPr>
        <p:spPr>
          <a:xfrm>
            <a:off x="1261872" y="2798064"/>
            <a:ext cx="1737360" cy="457200"/>
          </a:xfrm>
          <a:prstGeom prst="rect">
            <a:avLst/>
          </a:prstGeom>
          <a:noFill/>
          <a:ln/>
        </p:spPr>
        <p:txBody>
          <a:bodyPr wrap="square" lIns="0" tIns="0" rIns="0" bIns="0" rtlCol="0" anchor="ctr"/>
          <a:lstStyle/>
          <a:p>
            <a:pPr indent="0" marL="0">
              <a:buNone/>
            </a:pPr>
            <a:r>
              <a:rPr lang="en-US" sz="1050" b="1" dirty="0">
                <a:solidFill>
                  <a:srgbClr val="2B4257"/>
                </a:solidFill>
                <a:latin typeface="Calibri" pitchFamily="34" charset="0"/>
                <a:ea typeface="Calibri" pitchFamily="34" charset="-122"/>
                <a:cs typeface="Calibri" pitchFamily="34" charset="-120"/>
              </a:rPr>
              <a:t>AXI4-Stream</a:t>
            </a:r>
            <a:endParaRPr lang="en-US" sz="1050" dirty="0"/>
          </a:p>
        </p:txBody>
      </p:sp>
      <p:sp>
        <p:nvSpPr>
          <p:cNvPr id="27" name="Text 25"/>
          <p:cNvSpPr/>
          <p:nvPr/>
        </p:nvSpPr>
        <p:spPr>
          <a:xfrm>
            <a:off x="3063240" y="2798064"/>
            <a:ext cx="4389120" cy="457200"/>
          </a:xfrm>
          <a:prstGeom prst="rect">
            <a:avLst/>
          </a:prstGeom>
          <a:noFill/>
          <a:ln/>
        </p:spPr>
        <p:txBody>
          <a:bodyPr wrap="square" lIns="0" tIns="0" rIns="0" bIns="0" rtlCol="0" anchor="ctr"/>
          <a:lstStyle/>
          <a:p>
            <a:pPr indent="0" marL="0">
              <a:buNone/>
            </a:pPr>
            <a:r>
              <a:rPr lang="en-US" sz="950" dirty="0">
                <a:solidFill>
                  <a:srgbClr val="5F6B76"/>
                </a:solidFill>
                <a:latin typeface="Calibri" pitchFamily="34" charset="0"/>
                <a:ea typeface="Calibri" pitchFamily="34" charset="-122"/>
                <a:cs typeface="Calibri" pitchFamily="34" charset="-120"/>
              </a:rPr>
              <a:t>16 beats of 32 bits per block, with back-pressure between blocks</a:t>
            </a:r>
            <a:endParaRPr lang="en-US" sz="950" dirty="0"/>
          </a:p>
        </p:txBody>
      </p:sp>
      <p:sp>
        <p:nvSpPr>
          <p:cNvPr id="28" name="Shape 26"/>
          <p:cNvSpPr/>
          <p:nvPr/>
        </p:nvSpPr>
        <p:spPr>
          <a:xfrm>
            <a:off x="640080" y="3401568"/>
            <a:ext cx="6949440" cy="566928"/>
          </a:xfrm>
          <a:prstGeom prst="roundRect">
            <a:avLst>
              <a:gd name="adj" fmla="val 6452"/>
            </a:avLst>
          </a:prstGeom>
          <a:solidFill>
            <a:srgbClr val="F9FAFC"/>
          </a:solidFill>
          <a:ln w="9525">
            <a:solidFill>
              <a:srgbClr val="DAE0E6"/>
            </a:solidFill>
            <a:prstDash val="solid"/>
          </a:ln>
        </p:spPr>
      </p:sp>
      <p:sp>
        <p:nvSpPr>
          <p:cNvPr id="29" name="Shape 27"/>
          <p:cNvSpPr/>
          <p:nvPr/>
        </p:nvSpPr>
        <p:spPr>
          <a:xfrm>
            <a:off x="804672" y="3520440"/>
            <a:ext cx="329184" cy="329184"/>
          </a:xfrm>
          <a:prstGeom prst="roundRect">
            <a:avLst>
              <a:gd name="adj" fmla="val 16667"/>
            </a:avLst>
          </a:prstGeom>
          <a:solidFill>
            <a:srgbClr val="00A39B"/>
          </a:solidFill>
          <a:ln/>
        </p:spPr>
      </p:sp>
      <p:sp>
        <p:nvSpPr>
          <p:cNvPr id="30" name="Text 28"/>
          <p:cNvSpPr/>
          <p:nvPr/>
        </p:nvSpPr>
        <p:spPr>
          <a:xfrm>
            <a:off x="804672" y="352044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1" name="Text 29"/>
          <p:cNvSpPr/>
          <p:nvPr/>
        </p:nvSpPr>
        <p:spPr>
          <a:xfrm>
            <a:off x="1261872" y="3456432"/>
            <a:ext cx="1737360" cy="457200"/>
          </a:xfrm>
          <a:prstGeom prst="rect">
            <a:avLst/>
          </a:prstGeom>
          <a:noFill/>
          <a:ln/>
        </p:spPr>
        <p:txBody>
          <a:bodyPr wrap="square" lIns="0" tIns="0" rIns="0" bIns="0" rtlCol="0" anchor="ctr"/>
          <a:lstStyle/>
          <a:p>
            <a:pPr indent="0" marL="0">
              <a:buNone/>
            </a:pPr>
            <a:r>
              <a:rPr lang="en-US" sz="1050" b="1" dirty="0">
                <a:solidFill>
                  <a:srgbClr val="2B4257"/>
                </a:solidFill>
                <a:latin typeface="Calibri" pitchFamily="34" charset="0"/>
                <a:ea typeface="Calibri" pitchFamily="34" charset="-122"/>
                <a:cs typeface="Calibri" pitchFamily="34" charset="-120"/>
              </a:rPr>
              <a:t>AXI4-Lite poll</a:t>
            </a:r>
            <a:endParaRPr lang="en-US" sz="1050" dirty="0"/>
          </a:p>
        </p:txBody>
      </p:sp>
      <p:sp>
        <p:nvSpPr>
          <p:cNvPr id="32" name="Text 30"/>
          <p:cNvSpPr/>
          <p:nvPr/>
        </p:nvSpPr>
        <p:spPr>
          <a:xfrm>
            <a:off x="3063240" y="3456432"/>
            <a:ext cx="4389120" cy="457200"/>
          </a:xfrm>
          <a:prstGeom prst="rect">
            <a:avLst/>
          </a:prstGeom>
          <a:noFill/>
          <a:ln/>
        </p:spPr>
        <p:txBody>
          <a:bodyPr wrap="square" lIns="0" tIns="0" rIns="0" bIns="0" rtlCol="0" anchor="ctr"/>
          <a:lstStyle/>
          <a:p>
            <a:pPr indent="0" marL="0">
              <a:buNone/>
            </a:pPr>
            <a:r>
              <a:rPr lang="en-US" sz="950" dirty="0">
                <a:solidFill>
                  <a:srgbClr val="5F6B76"/>
                </a:solidFill>
                <a:latin typeface="Calibri" pitchFamily="34" charset="0"/>
                <a:ea typeface="Calibri" pitchFamily="34" charset="-122"/>
                <a:cs typeface="Calibri" pitchFamily="34" charset="-120"/>
              </a:rPr>
              <a:t>STATUS until DIGEST_VALID asserts</a:t>
            </a:r>
            <a:endParaRPr lang="en-US" sz="950" dirty="0"/>
          </a:p>
        </p:txBody>
      </p:sp>
      <p:sp>
        <p:nvSpPr>
          <p:cNvPr id="33" name="Shape 31"/>
          <p:cNvSpPr/>
          <p:nvPr/>
        </p:nvSpPr>
        <p:spPr>
          <a:xfrm>
            <a:off x="640080" y="4059936"/>
            <a:ext cx="6949440" cy="566928"/>
          </a:xfrm>
          <a:prstGeom prst="roundRect">
            <a:avLst>
              <a:gd name="adj" fmla="val 6452"/>
            </a:avLst>
          </a:prstGeom>
          <a:solidFill>
            <a:srgbClr val="EEF1F4"/>
          </a:solidFill>
          <a:ln w="9525">
            <a:solidFill>
              <a:srgbClr val="DAE0E6"/>
            </a:solidFill>
            <a:prstDash val="solid"/>
          </a:ln>
        </p:spPr>
      </p:sp>
      <p:sp>
        <p:nvSpPr>
          <p:cNvPr id="34" name="Shape 32"/>
          <p:cNvSpPr/>
          <p:nvPr/>
        </p:nvSpPr>
        <p:spPr>
          <a:xfrm>
            <a:off x="804672" y="4178808"/>
            <a:ext cx="329184" cy="329184"/>
          </a:xfrm>
          <a:prstGeom prst="roundRect">
            <a:avLst>
              <a:gd name="adj" fmla="val 16667"/>
            </a:avLst>
          </a:prstGeom>
          <a:solidFill>
            <a:srgbClr val="00A39B"/>
          </a:solidFill>
          <a:ln/>
        </p:spPr>
      </p:sp>
      <p:sp>
        <p:nvSpPr>
          <p:cNvPr id="35" name="Text 33"/>
          <p:cNvSpPr/>
          <p:nvPr/>
        </p:nvSpPr>
        <p:spPr>
          <a:xfrm>
            <a:off x="804672" y="417880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6" name="Text 34"/>
          <p:cNvSpPr/>
          <p:nvPr/>
        </p:nvSpPr>
        <p:spPr>
          <a:xfrm>
            <a:off x="1261872" y="4114800"/>
            <a:ext cx="1737360" cy="457200"/>
          </a:xfrm>
          <a:prstGeom prst="rect">
            <a:avLst/>
          </a:prstGeom>
          <a:noFill/>
          <a:ln/>
        </p:spPr>
        <p:txBody>
          <a:bodyPr wrap="square" lIns="0" tIns="0" rIns="0" bIns="0" rtlCol="0" anchor="ctr"/>
          <a:lstStyle/>
          <a:p>
            <a:pPr indent="0" marL="0">
              <a:buNone/>
            </a:pPr>
            <a:r>
              <a:rPr lang="en-US" sz="1050" b="1" dirty="0">
                <a:solidFill>
                  <a:srgbClr val="2B4257"/>
                </a:solidFill>
                <a:latin typeface="Calibri" pitchFamily="34" charset="0"/>
                <a:ea typeface="Calibri" pitchFamily="34" charset="-122"/>
                <a:cs typeface="Calibri" pitchFamily="34" charset="-120"/>
              </a:rPr>
              <a:t>AXI4-Lite read</a:t>
            </a:r>
            <a:endParaRPr lang="en-US" sz="1050" dirty="0"/>
          </a:p>
        </p:txBody>
      </p:sp>
      <p:sp>
        <p:nvSpPr>
          <p:cNvPr id="37" name="Text 35"/>
          <p:cNvSpPr/>
          <p:nvPr/>
        </p:nvSpPr>
        <p:spPr>
          <a:xfrm>
            <a:off x="3063240" y="4114800"/>
            <a:ext cx="4389120" cy="457200"/>
          </a:xfrm>
          <a:prstGeom prst="rect">
            <a:avLst/>
          </a:prstGeom>
          <a:noFill/>
          <a:ln/>
        </p:spPr>
        <p:txBody>
          <a:bodyPr wrap="square" lIns="0" tIns="0" rIns="0" bIns="0" rtlCol="0" anchor="ctr"/>
          <a:lstStyle/>
          <a:p>
            <a:pPr indent="0" marL="0">
              <a:buNone/>
            </a:pPr>
            <a:r>
              <a:rPr lang="en-US" sz="950" dirty="0">
                <a:solidFill>
                  <a:srgbClr val="5F6B76"/>
                </a:solidFill>
                <a:latin typeface="Calibri" pitchFamily="34" charset="0"/>
                <a:ea typeface="Calibri" pitchFamily="34" charset="-122"/>
                <a:cs typeface="Calibri" pitchFamily="34" charset="-120"/>
              </a:rPr>
              <a:t>eight register reads return H0..H7</a:t>
            </a:r>
            <a:endParaRPr lang="en-US" sz="950" dirty="0"/>
          </a:p>
        </p:txBody>
      </p:sp>
      <p:sp>
        <p:nvSpPr>
          <p:cNvPr id="38" name="Shape 36"/>
          <p:cNvSpPr/>
          <p:nvPr/>
        </p:nvSpPr>
        <p:spPr>
          <a:xfrm>
            <a:off x="7772400" y="1426464"/>
            <a:ext cx="3840480" cy="3200400"/>
          </a:xfrm>
          <a:prstGeom prst="roundRect">
            <a:avLst>
              <a:gd name="adj" fmla="val 1429"/>
            </a:avLst>
          </a:prstGeom>
          <a:solidFill>
            <a:srgbClr val="F9FAFC"/>
          </a:solidFill>
          <a:ln w="12700">
            <a:solidFill>
              <a:srgbClr val="D2D9E1"/>
            </a:solidFill>
            <a:prstDash val="solid"/>
          </a:ln>
        </p:spPr>
      </p:sp>
      <p:sp>
        <p:nvSpPr>
          <p:cNvPr id="39" name="Text 37"/>
          <p:cNvSpPr/>
          <p:nvPr/>
        </p:nvSpPr>
        <p:spPr>
          <a:xfrm>
            <a:off x="7973568" y="1536192"/>
            <a:ext cx="3438144" cy="256032"/>
          </a:xfrm>
          <a:prstGeom prst="rect">
            <a:avLst/>
          </a:prstGeom>
          <a:noFill/>
          <a:ln/>
        </p:spPr>
        <p:txBody>
          <a:bodyPr wrap="square" lIns="0" tIns="0" rIns="0" bIns="0" rtlCol="0" anchor="ctr"/>
          <a:lstStyle/>
          <a:p>
            <a:pPr indent="0" marL="0">
              <a:buNone/>
            </a:pPr>
            <a:r>
              <a:rPr lang="en-US" sz="1200" b="1" dirty="0">
                <a:solidFill>
                  <a:srgbClr val="2B4257"/>
                </a:solidFill>
                <a:latin typeface="Calibri" pitchFamily="34" charset="0"/>
                <a:ea typeface="Calibri" pitchFamily="34" charset="-122"/>
                <a:cs typeface="Calibri" pitchFamily="34" charset="-120"/>
              </a:rPr>
              <a:t>Verified over AXI</a:t>
            </a:r>
            <a:endParaRPr lang="en-US" sz="1200" dirty="0"/>
          </a:p>
        </p:txBody>
      </p:sp>
      <p:sp>
        <p:nvSpPr>
          <p:cNvPr id="40" name="Text 38"/>
          <p:cNvSpPr/>
          <p:nvPr/>
        </p:nvSpPr>
        <p:spPr>
          <a:xfrm>
            <a:off x="7973568" y="1865376"/>
            <a:ext cx="3438144" cy="2651760"/>
          </a:xfrm>
          <a:prstGeom prst="rect">
            <a:avLst/>
          </a:prstGeom>
          <a:noFill/>
          <a:ln/>
        </p:spPr>
        <p:txBody>
          <a:bodyPr wrap="square" lIns="0" tIns="0" rIns="0" bIns="0" rtlCol="0" anchor="ctr"/>
          <a:lstStyle/>
          <a:p>
            <a:pPr marL="342900" indent="-342900">
              <a:spcAft>
                <a:spcPts val="700"/>
              </a:spcAft>
              <a:buSzPct val="100000"/>
              <a:buChar char="•"/>
            </a:pPr>
            <a:r>
              <a:rPr lang="en-US" sz="950" dirty="0">
                <a:solidFill>
                  <a:srgbClr val="15191F"/>
                </a:solidFill>
                <a:latin typeface="Calibri" pitchFamily="34" charset="0"/>
                <a:ea typeface="Calibri" pitchFamily="34" charset="-122"/>
                <a:cs typeface="Calibri" pitchFamily="34" charset="-120"/>
              </a:rPr>
              <a:t>Register map and VERSION ID</a:t>
            </a:r>
            <a:endParaRPr lang="en-US" sz="950" dirty="0"/>
          </a:p>
          <a:p>
            <a:pPr marL="342900" indent="-342900">
              <a:spcAft>
                <a:spcPts val="700"/>
              </a:spcAft>
              <a:buSzPct val="100000"/>
              <a:buChar char="•"/>
            </a:pPr>
            <a:r>
              <a:rPr lang="en-US" sz="950" dirty="0">
                <a:solidFill>
                  <a:srgbClr val="15191F"/>
                </a:solidFill>
                <a:latin typeface="Calibri" pitchFamily="34" charset="0"/>
                <a:ea typeface="Calibri" pitchFamily="34" charset="-122"/>
                <a:cs typeface="Calibri" pitchFamily="34" charset="-120"/>
              </a:rPr>
              <a:t>Single-block message</a:t>
            </a:r>
            <a:endParaRPr lang="en-US" sz="950" dirty="0"/>
          </a:p>
          <a:p>
            <a:pPr marL="342900" indent="-342900">
              <a:spcAft>
                <a:spcPts val="700"/>
              </a:spcAft>
              <a:buSzPct val="100000"/>
              <a:buChar char="•"/>
            </a:pPr>
            <a:r>
              <a:rPr lang="en-US" sz="950" dirty="0">
                <a:solidFill>
                  <a:srgbClr val="15191F"/>
                </a:solidFill>
                <a:latin typeface="Calibri" pitchFamily="34" charset="0"/>
                <a:ea typeface="Calibri" pitchFamily="34" charset="-122"/>
                <a:cs typeface="Calibri" pitchFamily="34" charset="-120"/>
              </a:rPr>
              <a:t>Empty message</a:t>
            </a:r>
            <a:endParaRPr lang="en-US" sz="950" dirty="0"/>
          </a:p>
          <a:p>
            <a:pPr marL="342900" indent="-342900">
              <a:spcAft>
                <a:spcPts val="700"/>
              </a:spcAft>
              <a:buSzPct val="100000"/>
              <a:buChar char="•"/>
            </a:pPr>
            <a:r>
              <a:rPr lang="en-US" sz="950" dirty="0">
                <a:solidFill>
                  <a:srgbClr val="15191F"/>
                </a:solidFill>
                <a:latin typeface="Calibri" pitchFamily="34" charset="0"/>
                <a:ea typeface="Calibri" pitchFamily="34" charset="-122"/>
                <a:cs typeface="Calibri" pitchFamily="34" charset="-120"/>
              </a:rPr>
              <a:t>Two-block message, chaining</a:t>
            </a:r>
            <a:endParaRPr lang="en-US" sz="950" dirty="0"/>
          </a:p>
          <a:p>
            <a:pPr marL="342900" indent="-342900">
              <a:spcAft>
                <a:spcPts val="700"/>
              </a:spcAft>
              <a:buSzPct val="100000"/>
              <a:buChar char="•"/>
            </a:pPr>
            <a:r>
              <a:rPr lang="en-US" sz="950" dirty="0">
                <a:solidFill>
                  <a:srgbClr val="15191F"/>
                </a:solidFill>
                <a:latin typeface="Calibri" pitchFamily="34" charset="0"/>
                <a:ea typeface="Calibri" pitchFamily="34" charset="-122"/>
                <a:cs typeface="Calibri" pitchFamily="34" charset="-120"/>
              </a:rPr>
              <a:t>Re-arm without reset</a:t>
            </a:r>
            <a:endParaRPr lang="en-US" sz="950" dirty="0"/>
          </a:p>
          <a:p>
            <a:pPr marL="342900" indent="-342900">
              <a:spcAft>
                <a:spcPts val="700"/>
              </a:spcAft>
              <a:buSzPct val="100000"/>
              <a:buChar char="•"/>
            </a:pPr>
            <a:r>
              <a:rPr lang="en-US" sz="950" dirty="0">
                <a:solidFill>
                  <a:srgbClr val="15191F"/>
                </a:solidFill>
                <a:latin typeface="Calibri" pitchFamily="34" charset="0"/>
                <a:ea typeface="Calibri" pitchFamily="34" charset="-122"/>
                <a:cs typeface="Calibri" pitchFamily="34" charset="-120"/>
              </a:rPr>
              <a:t>Soft reset then hash again</a:t>
            </a:r>
            <a:endParaRPr lang="en-US" sz="950" dirty="0"/>
          </a:p>
          <a:p>
            <a:pPr marL="342900" indent="-342900">
              <a:spcAft>
                <a:spcPts val="700"/>
              </a:spcAft>
              <a:buSzPct val="100000"/>
              <a:buChar char="•"/>
            </a:pPr>
            <a:r>
              <a:rPr lang="en-US" sz="950" dirty="0">
                <a:solidFill>
                  <a:srgbClr val="15191F"/>
                </a:solidFill>
                <a:latin typeface="Calibri" pitchFamily="34" charset="0"/>
                <a:ea typeface="Calibri" pitchFamily="34" charset="-122"/>
                <a:cs typeface="Calibri" pitchFamily="34" charset="-120"/>
              </a:rPr>
              <a:t>Back-pressure between blocks</a:t>
            </a:r>
            <a:endParaRPr lang="en-US" sz="950" dirty="0"/>
          </a:p>
          <a:p>
            <a:pPr marL="342900" indent="-342900">
              <a:spcAft>
                <a:spcPts val="700"/>
              </a:spcAft>
              <a:buSzPct val="100000"/>
              <a:buChar char="•"/>
            </a:pPr>
            <a:r>
              <a:rPr lang="en-US" sz="950" dirty="0">
                <a:solidFill>
                  <a:srgbClr val="15191F"/>
                </a:solidFill>
                <a:latin typeface="Calibri" pitchFamily="34" charset="0"/>
                <a:ea typeface="Calibri" pitchFamily="34" charset="-122"/>
                <a:cs typeface="Calibri" pitchFamily="34" charset="-120"/>
              </a:rPr>
              <a:t>Digest readback, 8 registers</a:t>
            </a:r>
            <a:endParaRPr lang="en-US" sz="950" dirty="0"/>
          </a:p>
        </p:txBody>
      </p:sp>
      <p:sp>
        <p:nvSpPr>
          <p:cNvPr id="41" name="Shape 39"/>
          <p:cNvSpPr/>
          <p:nvPr/>
        </p:nvSpPr>
        <p:spPr>
          <a:xfrm>
            <a:off x="640080" y="4846320"/>
            <a:ext cx="10972800" cy="1298448"/>
          </a:xfrm>
          <a:prstGeom prst="roundRect">
            <a:avLst>
              <a:gd name="adj" fmla="val 2817"/>
            </a:avLst>
          </a:prstGeom>
          <a:solidFill>
            <a:srgbClr val="E3F3F1"/>
          </a:solidFill>
          <a:ln/>
          <a:effectLst>
            <a:outerShdw sx="100000" sy="100000" kx="0" ky="0" algn="bl" rotWithShape="0" blurRad="76200" dist="12700" dir="5400000">
              <a:srgbClr val="A6AFB8">
                <a:alpha val="25000"/>
              </a:srgbClr>
            </a:outerShdw>
          </a:effectLst>
        </p:spPr>
      </p:sp>
      <p:sp>
        <p:nvSpPr>
          <p:cNvPr id="42" name="Text 40"/>
          <p:cNvSpPr/>
          <p:nvPr/>
        </p:nvSpPr>
        <p:spPr>
          <a:xfrm>
            <a:off x="868680" y="4937760"/>
            <a:ext cx="10515600" cy="274320"/>
          </a:xfrm>
          <a:prstGeom prst="rect">
            <a:avLst/>
          </a:prstGeom>
          <a:noFill/>
          <a:ln/>
        </p:spPr>
        <p:txBody>
          <a:bodyPr wrap="square" lIns="0" tIns="0" rIns="0" bIns="0" rtlCol="0" anchor="ctr"/>
          <a:lstStyle/>
          <a:p>
            <a:pPr indent="0" marL="0">
              <a:buNone/>
            </a:pPr>
            <a:r>
              <a:rPr lang="en-US" sz="1200" b="1" dirty="0">
                <a:solidFill>
                  <a:srgbClr val="00756F"/>
                </a:solidFill>
                <a:latin typeface="Calibri" pitchFamily="34" charset="0"/>
                <a:ea typeface="Calibri" pitchFamily="34" charset="-122"/>
                <a:cs typeface="Calibri" pitchFamily="34" charset="-120"/>
              </a:rPr>
              <a:t>Two integration bugs found and fixed — both in the testbench, not the RTL</a:t>
            </a:r>
            <a:endParaRPr lang="en-US" sz="1200" dirty="0"/>
          </a:p>
        </p:txBody>
      </p:sp>
      <p:sp>
        <p:nvSpPr>
          <p:cNvPr id="43" name="Text 41"/>
          <p:cNvSpPr/>
          <p:nvPr/>
        </p:nvSpPr>
        <p:spPr>
          <a:xfrm>
            <a:off x="868680" y="5230368"/>
            <a:ext cx="10515600" cy="822960"/>
          </a:xfrm>
          <a:prstGeom prst="rect">
            <a:avLst/>
          </a:prstGeom>
          <a:noFill/>
          <a:ln/>
        </p:spPr>
        <p:txBody>
          <a:bodyPr wrap="square" lIns="0" tIns="0" rIns="0" bIns="0" rtlCol="0" anchor="ctr"/>
          <a:lstStyle/>
          <a:p>
            <a:pPr indent="0" marL="0">
              <a:buNone/>
            </a:pPr>
            <a:r>
              <a:rPr lang="en-US" sz="1000" dirty="0">
                <a:solidFill>
                  <a:srgbClr val="15191F"/>
                </a:solidFill>
                <a:latin typeface="Calibri" pitchFamily="34" charset="0"/>
                <a:ea typeface="Calibri" pitchFamily="34" charset="-122"/>
                <a:cs typeface="Calibri" pitchFamily="34" charset="-120"/>
              </a:rPr>
              <a:t>1.  The AXI bus functional model deasserted VALID as soon as READY appeared. A transfer completes on the rising edge where both are high, so VALID must be held THROUGH that edge — dropping it early loses the transfer silently.</a:t>
            </a:r>
            <a:endParaRPr lang="en-US" sz="1000" dirty="0"/>
          </a:p>
          <a:p>
            <a:pPr indent="0" marL="0">
              <a:buNone/>
            </a:pPr>
            <a:endParaRPr lang="en-US" sz="1000" dirty="0"/>
          </a:p>
          <a:p>
            <a:pPr indent="0" marL="0">
              <a:buNone/>
            </a:pPr>
            <a:r>
              <a:rPr lang="en-US" sz="1000" dirty="0">
                <a:solidFill>
                  <a:srgbClr val="15191F"/>
                </a:solidFill>
                <a:latin typeface="Calibri" pitchFamily="34" charset="0"/>
                <a:ea typeface="Calibri" pitchFamily="34" charset="-122"/>
                <a:cs typeface="Calibri" pitchFamily="34" charset="-120"/>
              </a:rPr>
              <a:t>2.  Driving stimulus on the positive edge races the design's own clocked block, letting the core latch block_valid a cycle early and shifting the entire round trace by one. All stimulus now drives on the negative edge.</a:t>
            </a:r>
            <a:endParaRPr lang="en-US" sz="1000" dirty="0"/>
          </a:p>
        </p:txBody>
      </p:sp>
      <p:sp>
        <p:nvSpPr>
          <p:cNvPr id="44" name="Text 42"/>
          <p:cNvSpPr/>
          <p:nvPr/>
        </p:nvSpPr>
        <p:spPr>
          <a:xfrm>
            <a:off x="548640" y="6419088"/>
            <a:ext cx="11064240" cy="274320"/>
          </a:xfrm>
          <a:prstGeom prst="rect">
            <a:avLst/>
          </a:prstGeom>
          <a:noFill/>
          <a:ln/>
        </p:spPr>
        <p:txBody>
          <a:bodyPr wrap="square" lIns="0" tIns="0" rIns="0" bIns="0" rtlCol="0" anchor="ctr"/>
          <a:lstStyle/>
          <a:p>
            <a:pPr algn="r" indent="0" marL="0">
              <a:buNone/>
            </a:pPr>
            <a:r>
              <a:rPr lang="en-US" sz="900" dirty="0">
                <a:solidFill>
                  <a:srgbClr val="97A2AC"/>
                </a:solidFill>
                <a:latin typeface="Calibri" pitchFamily="34" charset="0"/>
                <a:ea typeface="Calibri" pitchFamily="34" charset="-122"/>
                <a:cs typeface="Calibri" pitchFamily="34" charset="-120"/>
              </a:rPr>
              <a:t>Review 2  ·  Amritha S  ·  23BEC1368  ·  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66928" y="512064"/>
            <a:ext cx="91440" cy="91440"/>
          </a:xfrm>
          <a:prstGeom prst="rect">
            <a:avLst/>
          </a:prstGeom>
          <a:solidFill>
            <a:srgbClr val="00A39B"/>
          </a:solidFill>
          <a:ln/>
        </p:spPr>
      </p:sp>
      <p:sp>
        <p:nvSpPr>
          <p:cNvPr id="3" name="Shape 1"/>
          <p:cNvSpPr/>
          <p:nvPr/>
        </p:nvSpPr>
        <p:spPr>
          <a:xfrm>
            <a:off x="691286" y="512064"/>
            <a:ext cx="91440" cy="91440"/>
          </a:xfrm>
          <a:prstGeom prst="rect">
            <a:avLst/>
          </a:prstGeom>
          <a:solidFill>
            <a:srgbClr val="C2CBD4"/>
          </a:solidFill>
          <a:ln/>
        </p:spPr>
      </p:sp>
      <p:sp>
        <p:nvSpPr>
          <p:cNvPr id="4" name="Shape 2"/>
          <p:cNvSpPr/>
          <p:nvPr/>
        </p:nvSpPr>
        <p:spPr>
          <a:xfrm>
            <a:off x="815645" y="512064"/>
            <a:ext cx="91440" cy="91440"/>
          </a:xfrm>
          <a:prstGeom prst="rect">
            <a:avLst/>
          </a:prstGeom>
          <a:solidFill>
            <a:srgbClr val="C2CBD4"/>
          </a:solidFill>
          <a:ln/>
        </p:spPr>
      </p:sp>
      <p:sp>
        <p:nvSpPr>
          <p:cNvPr id="5" name="Shape 3"/>
          <p:cNvSpPr/>
          <p:nvPr/>
        </p:nvSpPr>
        <p:spPr>
          <a:xfrm>
            <a:off x="940003" y="512064"/>
            <a:ext cx="91440" cy="91440"/>
          </a:xfrm>
          <a:prstGeom prst="rect">
            <a:avLst/>
          </a:prstGeom>
          <a:solidFill>
            <a:srgbClr val="C2CBD4"/>
          </a:solidFill>
          <a:ln/>
        </p:spPr>
      </p:sp>
      <p:sp>
        <p:nvSpPr>
          <p:cNvPr id="6" name="Shape 4"/>
          <p:cNvSpPr/>
          <p:nvPr/>
        </p:nvSpPr>
        <p:spPr>
          <a:xfrm>
            <a:off x="1064362" y="512064"/>
            <a:ext cx="91440" cy="91440"/>
          </a:xfrm>
          <a:prstGeom prst="rect">
            <a:avLst/>
          </a:prstGeom>
          <a:solidFill>
            <a:srgbClr val="00A39B"/>
          </a:solidFill>
          <a:ln/>
        </p:spPr>
      </p:sp>
      <p:sp>
        <p:nvSpPr>
          <p:cNvPr id="7" name="Shape 5"/>
          <p:cNvSpPr/>
          <p:nvPr/>
        </p:nvSpPr>
        <p:spPr>
          <a:xfrm>
            <a:off x="1188720" y="512064"/>
            <a:ext cx="91440" cy="91440"/>
          </a:xfrm>
          <a:prstGeom prst="rect">
            <a:avLst/>
          </a:prstGeom>
          <a:solidFill>
            <a:srgbClr val="C2CBD4"/>
          </a:solidFill>
          <a:ln/>
        </p:spPr>
      </p:sp>
      <p:sp>
        <p:nvSpPr>
          <p:cNvPr id="8" name="Shape 6"/>
          <p:cNvSpPr/>
          <p:nvPr/>
        </p:nvSpPr>
        <p:spPr>
          <a:xfrm>
            <a:off x="1313078" y="512064"/>
            <a:ext cx="91440" cy="91440"/>
          </a:xfrm>
          <a:prstGeom prst="rect">
            <a:avLst/>
          </a:prstGeom>
          <a:solidFill>
            <a:srgbClr val="C2CBD4"/>
          </a:solidFill>
          <a:ln/>
        </p:spPr>
      </p:sp>
      <p:sp>
        <p:nvSpPr>
          <p:cNvPr id="9" name="Shape 7"/>
          <p:cNvSpPr/>
          <p:nvPr/>
        </p:nvSpPr>
        <p:spPr>
          <a:xfrm>
            <a:off x="1437437" y="512064"/>
            <a:ext cx="91440" cy="91440"/>
          </a:xfrm>
          <a:prstGeom prst="rect">
            <a:avLst/>
          </a:prstGeom>
          <a:solidFill>
            <a:srgbClr val="C2CBD4"/>
          </a:solidFill>
          <a:ln/>
        </p:spPr>
      </p:sp>
      <p:sp>
        <p:nvSpPr>
          <p:cNvPr id="10" name="Text 8"/>
          <p:cNvSpPr/>
          <p:nvPr/>
        </p:nvSpPr>
        <p:spPr>
          <a:xfrm>
            <a:off x="1517904" y="310896"/>
            <a:ext cx="10058400" cy="530352"/>
          </a:xfrm>
          <a:prstGeom prst="rect">
            <a:avLst/>
          </a:prstGeom>
          <a:noFill/>
          <a:ln/>
        </p:spPr>
        <p:txBody>
          <a:bodyPr wrap="square" lIns="0" tIns="0" rIns="0" bIns="0" rtlCol="0" anchor="ctr"/>
          <a:lstStyle/>
          <a:p>
            <a:pPr algn="l" indent="0" marL="0">
              <a:buNone/>
            </a:pPr>
            <a:r>
              <a:rPr lang="en-US" sz="2600" b="1" dirty="0">
                <a:solidFill>
                  <a:srgbClr val="2B4257"/>
                </a:solidFill>
                <a:latin typeface="Cambria" pitchFamily="34" charset="0"/>
                <a:ea typeface="Cambria" pitchFamily="34" charset="-122"/>
                <a:cs typeface="Cambria" pitchFamily="34" charset="-120"/>
              </a:rPr>
              <a:t>In Progress — Synthesis and Implementation</a:t>
            </a:r>
            <a:endParaRPr lang="en-US" sz="2600" dirty="0"/>
          </a:p>
        </p:txBody>
      </p:sp>
      <p:sp>
        <p:nvSpPr>
          <p:cNvPr id="11" name="Text 9"/>
          <p:cNvSpPr/>
          <p:nvPr/>
        </p:nvSpPr>
        <p:spPr>
          <a:xfrm>
            <a:off x="10972800" y="347472"/>
            <a:ext cx="640080" cy="365760"/>
          </a:xfrm>
          <a:prstGeom prst="rect">
            <a:avLst/>
          </a:prstGeom>
          <a:noFill/>
          <a:ln/>
        </p:spPr>
        <p:txBody>
          <a:bodyPr wrap="square" lIns="0" tIns="0" rIns="0" bIns="0" rtlCol="0" anchor="ctr"/>
          <a:lstStyle/>
          <a:p>
            <a:pPr algn="r" indent="0" marL="0">
              <a:buNone/>
            </a:pPr>
            <a:r>
              <a:rPr lang="en-US" sz="1100" b="1" dirty="0">
                <a:solidFill>
                  <a:srgbClr val="00A39B"/>
                </a:solidFill>
                <a:latin typeface="Calibri" pitchFamily="34" charset="0"/>
                <a:ea typeface="Calibri" pitchFamily="34" charset="-122"/>
                <a:cs typeface="Calibri" pitchFamily="34" charset="-120"/>
              </a:rPr>
              <a:t>07</a:t>
            </a:r>
            <a:endParaRPr lang="en-US" sz="1100" dirty="0"/>
          </a:p>
        </p:txBody>
      </p:sp>
      <p:sp>
        <p:nvSpPr>
          <p:cNvPr id="12" name="Text 10"/>
          <p:cNvSpPr/>
          <p:nvPr/>
        </p:nvSpPr>
        <p:spPr>
          <a:xfrm>
            <a:off x="1536192" y="841248"/>
            <a:ext cx="10058400" cy="274320"/>
          </a:xfrm>
          <a:prstGeom prst="rect">
            <a:avLst/>
          </a:prstGeom>
          <a:noFill/>
          <a:ln/>
        </p:spPr>
        <p:txBody>
          <a:bodyPr wrap="square" lIns="0" tIns="0" rIns="0" bIns="0" rtlCol="0" anchor="ctr"/>
          <a:lstStyle/>
          <a:p>
            <a:pPr algn="l" indent="0" marL="0">
              <a:buNone/>
            </a:pPr>
            <a:r>
              <a:rPr lang="en-US" sz="1250" i="1" dirty="0">
                <a:solidFill>
                  <a:srgbClr val="5F6B76"/>
                </a:solidFill>
                <a:latin typeface="Calibri" pitchFamily="34" charset="0"/>
                <a:ea typeface="Calibri" pitchFamily="34" charset="-122"/>
                <a:cs typeface="Calibri" pitchFamily="34" charset="-120"/>
              </a:rPr>
              <a:t>Fully scripted so both configurations see an identical system</a:t>
            </a:r>
            <a:endParaRPr lang="en-US" sz="1250" dirty="0"/>
          </a:p>
        </p:txBody>
      </p:sp>
      <p:sp>
        <p:nvSpPr>
          <p:cNvPr id="13" name="Shape 11"/>
          <p:cNvSpPr/>
          <p:nvPr/>
        </p:nvSpPr>
        <p:spPr>
          <a:xfrm>
            <a:off x="640080" y="1371600"/>
            <a:ext cx="10972800" cy="1133856"/>
          </a:xfrm>
          <a:prstGeom prst="roundRect">
            <a:avLst>
              <a:gd name="adj" fmla="val 3226"/>
            </a:avLst>
          </a:prstGeom>
          <a:solidFill>
            <a:srgbClr val="F9FAFC"/>
          </a:solidFill>
          <a:ln/>
          <a:effectLst>
            <a:outerShdw sx="100000" sy="100000" kx="0" ky="0" algn="bl" rotWithShape="0" blurRad="76200" dist="12700" dir="5400000">
              <a:srgbClr val="A6AFB8">
                <a:alpha val="25000"/>
              </a:srgbClr>
            </a:outerShdw>
          </a:effectLst>
        </p:spPr>
      </p:sp>
      <p:sp>
        <p:nvSpPr>
          <p:cNvPr id="14" name="Text 12"/>
          <p:cNvSpPr/>
          <p:nvPr/>
        </p:nvSpPr>
        <p:spPr>
          <a:xfrm>
            <a:off x="868680" y="1371600"/>
            <a:ext cx="10515600" cy="1133856"/>
          </a:xfrm>
          <a:prstGeom prst="rect">
            <a:avLst/>
          </a:prstGeom>
          <a:noFill/>
          <a:ln/>
        </p:spPr>
        <p:txBody>
          <a:bodyPr wrap="square" lIns="0" tIns="0" rIns="0" bIns="0" rtlCol="0" anchor="ctr"/>
          <a:lstStyle/>
          <a:p>
            <a:pPr indent="0" marL="0">
              <a:buNone/>
            </a:pPr>
            <a:r>
              <a:rPr lang="en-US" sz="1200" dirty="0">
                <a:solidFill>
                  <a:srgbClr val="2B4257"/>
                </a:solidFill>
                <a:latin typeface="Courier New" pitchFamily="34" charset="0"/>
                <a:ea typeface="Courier New" pitchFamily="34" charset="-122"/>
                <a:cs typeface="Courier New" pitchFamily="34" charset="-120"/>
              </a:rPr>
              <a:t>vivado -mode batch -source vivado/build_system.tcl            # Config A</a:t>
            </a:r>
            <a:endParaRPr lang="en-US" sz="1200" dirty="0"/>
          </a:p>
          <a:p>
            <a:pPr indent="0" marL="0">
              <a:buNone/>
            </a:pPr>
            <a:r>
              <a:rPr lang="en-US" sz="1200" dirty="0">
                <a:solidFill>
                  <a:srgbClr val="2B4257"/>
                </a:solidFill>
                <a:latin typeface="Courier New" pitchFamily="34" charset="0"/>
                <a:ea typeface="Courier New" pitchFamily="34" charset="-122"/>
                <a:cs typeface="Courier New" pitchFamily="34" charset="-120"/>
              </a:rPr>
              <a:t>vivado -mode batch -source vivado/build_system.tcl -tclargs 1  # Config B</a:t>
            </a:r>
            <a:endParaRPr lang="en-US" sz="1200" dirty="0"/>
          </a:p>
        </p:txBody>
      </p:sp>
      <p:sp>
        <p:nvSpPr>
          <p:cNvPr id="15" name="Shape 13"/>
          <p:cNvSpPr/>
          <p:nvPr/>
        </p:nvSpPr>
        <p:spPr>
          <a:xfrm>
            <a:off x="640080" y="2688336"/>
            <a:ext cx="5349240" cy="658368"/>
          </a:xfrm>
          <a:prstGeom prst="roundRect">
            <a:avLst>
              <a:gd name="adj" fmla="val 5556"/>
            </a:avLst>
          </a:prstGeom>
          <a:solidFill>
            <a:srgbClr val="EEF1F4"/>
          </a:solidFill>
          <a:ln w="9525">
            <a:solidFill>
              <a:srgbClr val="DAE0E6"/>
            </a:solidFill>
            <a:prstDash val="solid"/>
          </a:ln>
        </p:spPr>
      </p:sp>
      <p:sp>
        <p:nvSpPr>
          <p:cNvPr id="16" name="Shape 14"/>
          <p:cNvSpPr/>
          <p:nvPr/>
        </p:nvSpPr>
        <p:spPr>
          <a:xfrm>
            <a:off x="786384" y="2852928"/>
            <a:ext cx="329184" cy="329184"/>
          </a:xfrm>
          <a:prstGeom prst="roundRect">
            <a:avLst>
              <a:gd name="adj" fmla="val 16667"/>
            </a:avLst>
          </a:prstGeom>
          <a:solidFill>
            <a:srgbClr val="2B4257"/>
          </a:solidFill>
          <a:ln/>
        </p:spPr>
      </p:sp>
      <p:sp>
        <p:nvSpPr>
          <p:cNvPr id="17" name="Text 15"/>
          <p:cNvSpPr/>
          <p:nvPr/>
        </p:nvSpPr>
        <p:spPr>
          <a:xfrm>
            <a:off x="786384" y="2852928"/>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8" name="Text 16"/>
          <p:cNvSpPr/>
          <p:nvPr/>
        </p:nvSpPr>
        <p:spPr>
          <a:xfrm>
            <a:off x="1225296" y="2743200"/>
            <a:ext cx="4617720" cy="274320"/>
          </a:xfrm>
          <a:prstGeom prst="rect">
            <a:avLst/>
          </a:prstGeom>
          <a:noFill/>
          <a:ln/>
        </p:spPr>
        <p:txBody>
          <a:bodyPr wrap="square" lIns="0" tIns="0" rIns="0" bIns="0" rtlCol="0" anchor="ctr"/>
          <a:lstStyle/>
          <a:p>
            <a:pPr indent="0" marL="0">
              <a:buNone/>
            </a:pPr>
            <a:r>
              <a:rPr lang="en-US" sz="1050" b="1" dirty="0">
                <a:solidFill>
                  <a:srgbClr val="15191F"/>
                </a:solidFill>
                <a:latin typeface="Calibri" pitchFamily="34" charset="0"/>
                <a:ea typeface="Calibri" pitchFamily="34" charset="-122"/>
                <a:cs typeface="Calibri" pitchFamily="34" charset="-120"/>
              </a:rPr>
              <a:t>Package sha256_top as a Vivado IP</a:t>
            </a:r>
            <a:endParaRPr lang="en-US" sz="1050" dirty="0"/>
          </a:p>
        </p:txBody>
      </p:sp>
      <p:sp>
        <p:nvSpPr>
          <p:cNvPr id="19" name="Text 17"/>
          <p:cNvSpPr/>
          <p:nvPr/>
        </p:nvSpPr>
        <p:spPr>
          <a:xfrm>
            <a:off x="1225296" y="3017520"/>
            <a:ext cx="4617720" cy="274320"/>
          </a:xfrm>
          <a:prstGeom prst="rect">
            <a:avLst/>
          </a:prstGeom>
          <a:noFill/>
          <a:ln/>
        </p:spPr>
        <p:txBody>
          <a:bodyPr wrap="square" lIns="0" tIns="0" rIns="0" bIns="0" rtlCol="0" anchor="ctr"/>
          <a:lstStyle/>
          <a:p>
            <a:pPr indent="0" marL="0">
              <a:buNone/>
            </a:pPr>
            <a:r>
              <a:rPr lang="en-US" sz="900" dirty="0">
                <a:solidFill>
                  <a:srgbClr val="5F6B76"/>
                </a:solidFill>
                <a:latin typeface="Calibri" pitchFamily="34" charset="0"/>
                <a:ea typeface="Calibri" pitchFamily="34" charset="-122"/>
                <a:cs typeface="Calibri" pitchFamily="34" charset="-120"/>
              </a:rPr>
              <a:t>CORE_SELECT exposed as a parameter</a:t>
            </a:r>
            <a:endParaRPr lang="en-US" sz="900" dirty="0"/>
          </a:p>
        </p:txBody>
      </p:sp>
      <p:sp>
        <p:nvSpPr>
          <p:cNvPr id="20" name="Shape 18"/>
          <p:cNvSpPr/>
          <p:nvPr/>
        </p:nvSpPr>
        <p:spPr>
          <a:xfrm>
            <a:off x="6263640" y="2688336"/>
            <a:ext cx="5349240" cy="658368"/>
          </a:xfrm>
          <a:prstGeom prst="roundRect">
            <a:avLst>
              <a:gd name="adj" fmla="val 5556"/>
            </a:avLst>
          </a:prstGeom>
          <a:solidFill>
            <a:srgbClr val="EEF1F4"/>
          </a:solidFill>
          <a:ln w="9525">
            <a:solidFill>
              <a:srgbClr val="DAE0E6"/>
            </a:solidFill>
            <a:prstDash val="solid"/>
          </a:ln>
        </p:spPr>
      </p:sp>
      <p:sp>
        <p:nvSpPr>
          <p:cNvPr id="21" name="Shape 19"/>
          <p:cNvSpPr/>
          <p:nvPr/>
        </p:nvSpPr>
        <p:spPr>
          <a:xfrm>
            <a:off x="6409944" y="2852928"/>
            <a:ext cx="329184" cy="329184"/>
          </a:xfrm>
          <a:prstGeom prst="roundRect">
            <a:avLst>
              <a:gd name="adj" fmla="val 16667"/>
            </a:avLst>
          </a:prstGeom>
          <a:solidFill>
            <a:srgbClr val="2B4257"/>
          </a:solidFill>
          <a:ln/>
        </p:spPr>
      </p:sp>
      <p:sp>
        <p:nvSpPr>
          <p:cNvPr id="22" name="Text 20"/>
          <p:cNvSpPr/>
          <p:nvPr/>
        </p:nvSpPr>
        <p:spPr>
          <a:xfrm>
            <a:off x="6409944" y="2852928"/>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3" name="Text 21"/>
          <p:cNvSpPr/>
          <p:nvPr/>
        </p:nvSpPr>
        <p:spPr>
          <a:xfrm>
            <a:off x="6848856" y="2743200"/>
            <a:ext cx="4617720" cy="274320"/>
          </a:xfrm>
          <a:prstGeom prst="rect">
            <a:avLst/>
          </a:prstGeom>
          <a:noFill/>
          <a:ln/>
        </p:spPr>
        <p:txBody>
          <a:bodyPr wrap="square" lIns="0" tIns="0" rIns="0" bIns="0" rtlCol="0" anchor="ctr"/>
          <a:lstStyle/>
          <a:p>
            <a:pPr indent="0" marL="0">
              <a:buNone/>
            </a:pPr>
            <a:r>
              <a:rPr lang="en-US" sz="1050" b="1" dirty="0">
                <a:solidFill>
                  <a:srgbClr val="15191F"/>
                </a:solidFill>
                <a:latin typeface="Calibri" pitchFamily="34" charset="0"/>
                <a:ea typeface="Calibri" pitchFamily="34" charset="-122"/>
                <a:cs typeface="Calibri" pitchFamily="34" charset="-120"/>
              </a:rPr>
              <a:t>Build the block design</a:t>
            </a:r>
            <a:endParaRPr lang="en-US" sz="1050" dirty="0"/>
          </a:p>
        </p:txBody>
      </p:sp>
      <p:sp>
        <p:nvSpPr>
          <p:cNvPr id="24" name="Text 22"/>
          <p:cNvSpPr/>
          <p:nvPr/>
        </p:nvSpPr>
        <p:spPr>
          <a:xfrm>
            <a:off x="6848856" y="3017520"/>
            <a:ext cx="4617720" cy="274320"/>
          </a:xfrm>
          <a:prstGeom prst="rect">
            <a:avLst/>
          </a:prstGeom>
          <a:noFill/>
          <a:ln/>
        </p:spPr>
        <p:txBody>
          <a:bodyPr wrap="square" lIns="0" tIns="0" rIns="0" bIns="0" rtlCol="0" anchor="ctr"/>
          <a:lstStyle/>
          <a:p>
            <a:pPr indent="0" marL="0">
              <a:buNone/>
            </a:pPr>
            <a:r>
              <a:rPr lang="en-US" sz="900" dirty="0">
                <a:solidFill>
                  <a:srgbClr val="5F6B76"/>
                </a:solidFill>
                <a:latin typeface="Calibri" pitchFamily="34" charset="0"/>
                <a:ea typeface="Calibri" pitchFamily="34" charset="-122"/>
                <a:cs typeface="Calibri" pitchFamily="34" charset="-120"/>
              </a:rPr>
              <a:t>ZYNQ7 PS + AXI DMA (MM2S only) + accelerator</a:t>
            </a:r>
            <a:endParaRPr lang="en-US" sz="900" dirty="0"/>
          </a:p>
        </p:txBody>
      </p:sp>
      <p:sp>
        <p:nvSpPr>
          <p:cNvPr id="25" name="Shape 23"/>
          <p:cNvSpPr/>
          <p:nvPr/>
        </p:nvSpPr>
        <p:spPr>
          <a:xfrm>
            <a:off x="640080" y="3456432"/>
            <a:ext cx="5349240" cy="658368"/>
          </a:xfrm>
          <a:prstGeom prst="roundRect">
            <a:avLst>
              <a:gd name="adj" fmla="val 5556"/>
            </a:avLst>
          </a:prstGeom>
          <a:solidFill>
            <a:srgbClr val="EEF1F4"/>
          </a:solidFill>
          <a:ln w="9525">
            <a:solidFill>
              <a:srgbClr val="DAE0E6"/>
            </a:solidFill>
            <a:prstDash val="solid"/>
          </a:ln>
        </p:spPr>
      </p:sp>
      <p:sp>
        <p:nvSpPr>
          <p:cNvPr id="26" name="Shape 24"/>
          <p:cNvSpPr/>
          <p:nvPr/>
        </p:nvSpPr>
        <p:spPr>
          <a:xfrm>
            <a:off x="786384" y="3621024"/>
            <a:ext cx="329184" cy="329184"/>
          </a:xfrm>
          <a:prstGeom prst="roundRect">
            <a:avLst>
              <a:gd name="adj" fmla="val 16667"/>
            </a:avLst>
          </a:prstGeom>
          <a:solidFill>
            <a:srgbClr val="2B4257"/>
          </a:solidFill>
          <a:ln/>
        </p:spPr>
      </p:sp>
      <p:sp>
        <p:nvSpPr>
          <p:cNvPr id="27" name="Text 25"/>
          <p:cNvSpPr/>
          <p:nvPr/>
        </p:nvSpPr>
        <p:spPr>
          <a:xfrm>
            <a:off x="786384" y="3621024"/>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8" name="Text 26"/>
          <p:cNvSpPr/>
          <p:nvPr/>
        </p:nvSpPr>
        <p:spPr>
          <a:xfrm>
            <a:off x="1225296" y="3511296"/>
            <a:ext cx="4617720" cy="274320"/>
          </a:xfrm>
          <a:prstGeom prst="rect">
            <a:avLst/>
          </a:prstGeom>
          <a:noFill/>
          <a:ln/>
        </p:spPr>
        <p:txBody>
          <a:bodyPr wrap="square" lIns="0" tIns="0" rIns="0" bIns="0" rtlCol="0" anchor="ctr"/>
          <a:lstStyle/>
          <a:p>
            <a:pPr indent="0" marL="0">
              <a:buNone/>
            </a:pPr>
            <a:r>
              <a:rPr lang="en-US" sz="1050" b="1" dirty="0">
                <a:solidFill>
                  <a:srgbClr val="15191F"/>
                </a:solidFill>
                <a:latin typeface="Calibri" pitchFamily="34" charset="0"/>
                <a:ea typeface="Calibri" pitchFamily="34" charset="-122"/>
                <a:cs typeface="Calibri" pitchFamily="34" charset="-120"/>
              </a:rPr>
              <a:t>Apply an identical timing constraint</a:t>
            </a:r>
            <a:endParaRPr lang="en-US" sz="1050" dirty="0"/>
          </a:p>
        </p:txBody>
      </p:sp>
      <p:sp>
        <p:nvSpPr>
          <p:cNvPr id="29" name="Text 27"/>
          <p:cNvSpPr/>
          <p:nvPr/>
        </p:nvSpPr>
        <p:spPr>
          <a:xfrm>
            <a:off x="1225296" y="3785616"/>
            <a:ext cx="4617720" cy="274320"/>
          </a:xfrm>
          <a:prstGeom prst="rect">
            <a:avLst/>
          </a:prstGeom>
          <a:noFill/>
          <a:ln/>
        </p:spPr>
        <p:txBody>
          <a:bodyPr wrap="square" lIns="0" tIns="0" rIns="0" bIns="0" rtlCol="0" anchor="ctr"/>
          <a:lstStyle/>
          <a:p>
            <a:pPr indent="0" marL="0">
              <a:buNone/>
            </a:pPr>
            <a:r>
              <a:rPr lang="en-US" sz="900" dirty="0">
                <a:solidFill>
                  <a:srgbClr val="5F6B76"/>
                </a:solidFill>
                <a:latin typeface="Calibri" pitchFamily="34" charset="0"/>
                <a:ea typeface="Calibri" pitchFamily="34" charset="-122"/>
                <a:cs typeface="Calibri" pitchFamily="34" charset="-120"/>
              </a:rPr>
              <a:t>same 10 ns target for both configurations</a:t>
            </a:r>
            <a:endParaRPr lang="en-US" sz="900" dirty="0"/>
          </a:p>
        </p:txBody>
      </p:sp>
      <p:sp>
        <p:nvSpPr>
          <p:cNvPr id="30" name="Shape 28"/>
          <p:cNvSpPr/>
          <p:nvPr/>
        </p:nvSpPr>
        <p:spPr>
          <a:xfrm>
            <a:off x="6263640" y="3456432"/>
            <a:ext cx="5349240" cy="658368"/>
          </a:xfrm>
          <a:prstGeom prst="roundRect">
            <a:avLst>
              <a:gd name="adj" fmla="val 5556"/>
            </a:avLst>
          </a:prstGeom>
          <a:solidFill>
            <a:srgbClr val="EEF1F4"/>
          </a:solidFill>
          <a:ln w="9525">
            <a:solidFill>
              <a:srgbClr val="DAE0E6"/>
            </a:solidFill>
            <a:prstDash val="solid"/>
          </a:ln>
        </p:spPr>
      </p:sp>
      <p:sp>
        <p:nvSpPr>
          <p:cNvPr id="31" name="Shape 29"/>
          <p:cNvSpPr/>
          <p:nvPr/>
        </p:nvSpPr>
        <p:spPr>
          <a:xfrm>
            <a:off x="6409944" y="3621024"/>
            <a:ext cx="329184" cy="329184"/>
          </a:xfrm>
          <a:prstGeom prst="roundRect">
            <a:avLst>
              <a:gd name="adj" fmla="val 16667"/>
            </a:avLst>
          </a:prstGeom>
          <a:solidFill>
            <a:srgbClr val="2B4257"/>
          </a:solidFill>
          <a:ln/>
        </p:spPr>
      </p:sp>
      <p:sp>
        <p:nvSpPr>
          <p:cNvPr id="32" name="Text 30"/>
          <p:cNvSpPr/>
          <p:nvPr/>
        </p:nvSpPr>
        <p:spPr>
          <a:xfrm>
            <a:off x="6409944" y="3621024"/>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3" name="Text 31"/>
          <p:cNvSpPr/>
          <p:nvPr/>
        </p:nvSpPr>
        <p:spPr>
          <a:xfrm>
            <a:off x="6848856" y="3511296"/>
            <a:ext cx="4617720" cy="274320"/>
          </a:xfrm>
          <a:prstGeom prst="rect">
            <a:avLst/>
          </a:prstGeom>
          <a:noFill/>
          <a:ln/>
        </p:spPr>
        <p:txBody>
          <a:bodyPr wrap="square" lIns="0" tIns="0" rIns="0" bIns="0" rtlCol="0" anchor="ctr"/>
          <a:lstStyle/>
          <a:p>
            <a:pPr indent="0" marL="0">
              <a:buNone/>
            </a:pPr>
            <a:r>
              <a:rPr lang="en-US" sz="1050" b="1" dirty="0">
                <a:solidFill>
                  <a:srgbClr val="15191F"/>
                </a:solidFill>
                <a:latin typeface="Calibri" pitchFamily="34" charset="0"/>
                <a:ea typeface="Calibri" pitchFamily="34" charset="-122"/>
                <a:cs typeface="Calibri" pitchFamily="34" charset="-120"/>
              </a:rPr>
              <a:t>Synthesise, implement, generate bitstream</a:t>
            </a:r>
            <a:endParaRPr lang="en-US" sz="1050" dirty="0"/>
          </a:p>
        </p:txBody>
      </p:sp>
      <p:sp>
        <p:nvSpPr>
          <p:cNvPr id="34" name="Text 32"/>
          <p:cNvSpPr/>
          <p:nvPr/>
        </p:nvSpPr>
        <p:spPr>
          <a:xfrm>
            <a:off x="6848856" y="3785616"/>
            <a:ext cx="4617720" cy="274320"/>
          </a:xfrm>
          <a:prstGeom prst="rect">
            <a:avLst/>
          </a:prstGeom>
          <a:noFill/>
          <a:ln/>
        </p:spPr>
        <p:txBody>
          <a:bodyPr wrap="square" lIns="0" tIns="0" rIns="0" bIns="0" rtlCol="0" anchor="ctr"/>
          <a:lstStyle/>
          <a:p>
            <a:pPr indent="0" marL="0">
              <a:buNone/>
            </a:pPr>
            <a:r>
              <a:rPr lang="en-US" sz="900" dirty="0">
                <a:solidFill>
                  <a:srgbClr val="5F6B76"/>
                </a:solidFill>
                <a:latin typeface="Calibri" pitchFamily="34" charset="0"/>
                <a:ea typeface="Calibri" pitchFamily="34" charset="-122"/>
                <a:cs typeface="Calibri" pitchFamily="34" charset="-120"/>
              </a:rPr>
              <a:t>unattended, roughly 15 minutes each</a:t>
            </a:r>
            <a:endParaRPr lang="en-US" sz="900" dirty="0"/>
          </a:p>
        </p:txBody>
      </p:sp>
      <p:sp>
        <p:nvSpPr>
          <p:cNvPr id="35" name="Shape 33"/>
          <p:cNvSpPr/>
          <p:nvPr/>
        </p:nvSpPr>
        <p:spPr>
          <a:xfrm>
            <a:off x="640080" y="4224528"/>
            <a:ext cx="5349240" cy="658368"/>
          </a:xfrm>
          <a:prstGeom prst="roundRect">
            <a:avLst>
              <a:gd name="adj" fmla="val 5556"/>
            </a:avLst>
          </a:prstGeom>
          <a:solidFill>
            <a:srgbClr val="EEF1F4"/>
          </a:solidFill>
          <a:ln w="9525">
            <a:solidFill>
              <a:srgbClr val="DAE0E6"/>
            </a:solidFill>
            <a:prstDash val="solid"/>
          </a:ln>
        </p:spPr>
      </p:sp>
      <p:sp>
        <p:nvSpPr>
          <p:cNvPr id="36" name="Shape 34"/>
          <p:cNvSpPr/>
          <p:nvPr/>
        </p:nvSpPr>
        <p:spPr>
          <a:xfrm>
            <a:off x="786384" y="4389120"/>
            <a:ext cx="329184" cy="329184"/>
          </a:xfrm>
          <a:prstGeom prst="roundRect">
            <a:avLst>
              <a:gd name="adj" fmla="val 16667"/>
            </a:avLst>
          </a:prstGeom>
          <a:solidFill>
            <a:srgbClr val="2B4257"/>
          </a:solidFill>
          <a:ln/>
        </p:spPr>
      </p:sp>
      <p:sp>
        <p:nvSpPr>
          <p:cNvPr id="37" name="Text 35"/>
          <p:cNvSpPr/>
          <p:nvPr/>
        </p:nvSpPr>
        <p:spPr>
          <a:xfrm>
            <a:off x="786384" y="4389120"/>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38" name="Text 36"/>
          <p:cNvSpPr/>
          <p:nvPr/>
        </p:nvSpPr>
        <p:spPr>
          <a:xfrm>
            <a:off x="1225296" y="4279392"/>
            <a:ext cx="4617720" cy="274320"/>
          </a:xfrm>
          <a:prstGeom prst="rect">
            <a:avLst/>
          </a:prstGeom>
          <a:noFill/>
          <a:ln/>
        </p:spPr>
        <p:txBody>
          <a:bodyPr wrap="square" lIns="0" tIns="0" rIns="0" bIns="0" rtlCol="0" anchor="ctr"/>
          <a:lstStyle/>
          <a:p>
            <a:pPr indent="0" marL="0">
              <a:buNone/>
            </a:pPr>
            <a:r>
              <a:rPr lang="en-US" sz="1050" b="1" dirty="0">
                <a:solidFill>
                  <a:srgbClr val="15191F"/>
                </a:solidFill>
                <a:latin typeface="Calibri" pitchFamily="34" charset="0"/>
                <a:ea typeface="Calibri" pitchFamily="34" charset="-122"/>
                <a:cs typeface="Calibri" pitchFamily="34" charset="-120"/>
              </a:rPr>
              <a:t>Extract accelerator-only resource counts</a:t>
            </a:r>
            <a:endParaRPr lang="en-US" sz="1050" dirty="0"/>
          </a:p>
        </p:txBody>
      </p:sp>
      <p:sp>
        <p:nvSpPr>
          <p:cNvPr id="39" name="Text 37"/>
          <p:cNvSpPr/>
          <p:nvPr/>
        </p:nvSpPr>
        <p:spPr>
          <a:xfrm>
            <a:off x="1225296" y="4553712"/>
            <a:ext cx="4617720" cy="274320"/>
          </a:xfrm>
          <a:prstGeom prst="rect">
            <a:avLst/>
          </a:prstGeom>
          <a:noFill/>
          <a:ln/>
        </p:spPr>
        <p:txBody>
          <a:bodyPr wrap="square" lIns="0" tIns="0" rIns="0" bIns="0" rtlCol="0" anchor="ctr"/>
          <a:lstStyle/>
          <a:p>
            <a:pPr indent="0" marL="0">
              <a:buNone/>
            </a:pPr>
            <a:r>
              <a:rPr lang="en-US" sz="900" dirty="0">
                <a:solidFill>
                  <a:srgbClr val="5F6B76"/>
                </a:solidFill>
                <a:latin typeface="Calibri" pitchFamily="34" charset="0"/>
                <a:ea typeface="Calibri" pitchFamily="34" charset="-122"/>
                <a:cs typeface="Calibri" pitchFamily="34" charset="-120"/>
              </a:rPr>
              <a:t>filters out the DMA and interconnect</a:t>
            </a:r>
            <a:endParaRPr lang="en-US" sz="900" dirty="0"/>
          </a:p>
        </p:txBody>
      </p:sp>
      <p:sp>
        <p:nvSpPr>
          <p:cNvPr id="40" name="Shape 38"/>
          <p:cNvSpPr/>
          <p:nvPr/>
        </p:nvSpPr>
        <p:spPr>
          <a:xfrm>
            <a:off x="6263640" y="4224528"/>
            <a:ext cx="5349240" cy="658368"/>
          </a:xfrm>
          <a:prstGeom prst="roundRect">
            <a:avLst>
              <a:gd name="adj" fmla="val 5556"/>
            </a:avLst>
          </a:prstGeom>
          <a:solidFill>
            <a:srgbClr val="EEF1F4"/>
          </a:solidFill>
          <a:ln w="9525">
            <a:solidFill>
              <a:srgbClr val="DAE0E6"/>
            </a:solidFill>
            <a:prstDash val="solid"/>
          </a:ln>
        </p:spPr>
      </p:sp>
      <p:sp>
        <p:nvSpPr>
          <p:cNvPr id="41" name="Shape 39"/>
          <p:cNvSpPr/>
          <p:nvPr/>
        </p:nvSpPr>
        <p:spPr>
          <a:xfrm>
            <a:off x="6409944" y="4389120"/>
            <a:ext cx="329184" cy="329184"/>
          </a:xfrm>
          <a:prstGeom prst="roundRect">
            <a:avLst>
              <a:gd name="adj" fmla="val 16667"/>
            </a:avLst>
          </a:prstGeom>
          <a:solidFill>
            <a:srgbClr val="2B4257"/>
          </a:solidFill>
          <a:ln/>
        </p:spPr>
      </p:sp>
      <p:sp>
        <p:nvSpPr>
          <p:cNvPr id="42" name="Text 40"/>
          <p:cNvSpPr/>
          <p:nvPr/>
        </p:nvSpPr>
        <p:spPr>
          <a:xfrm>
            <a:off x="6409944" y="4389120"/>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43" name="Text 41"/>
          <p:cNvSpPr/>
          <p:nvPr/>
        </p:nvSpPr>
        <p:spPr>
          <a:xfrm>
            <a:off x="6848856" y="4279392"/>
            <a:ext cx="4617720" cy="274320"/>
          </a:xfrm>
          <a:prstGeom prst="rect">
            <a:avLst/>
          </a:prstGeom>
          <a:noFill/>
          <a:ln/>
        </p:spPr>
        <p:txBody>
          <a:bodyPr wrap="square" lIns="0" tIns="0" rIns="0" bIns="0" rtlCol="0" anchor="ctr"/>
          <a:lstStyle/>
          <a:p>
            <a:pPr indent="0" marL="0">
              <a:buNone/>
            </a:pPr>
            <a:r>
              <a:rPr lang="en-US" sz="1050" b="1" dirty="0">
                <a:solidFill>
                  <a:srgbClr val="15191F"/>
                </a:solidFill>
                <a:latin typeface="Calibri" pitchFamily="34" charset="0"/>
                <a:ea typeface="Calibri" pitchFamily="34" charset="-122"/>
                <a:cs typeface="Calibri" pitchFamily="34" charset="-120"/>
              </a:rPr>
              <a:t>Export the XSA for Vitis</a:t>
            </a:r>
            <a:endParaRPr lang="en-US" sz="1050" dirty="0"/>
          </a:p>
        </p:txBody>
      </p:sp>
      <p:sp>
        <p:nvSpPr>
          <p:cNvPr id="44" name="Text 42"/>
          <p:cNvSpPr/>
          <p:nvPr/>
        </p:nvSpPr>
        <p:spPr>
          <a:xfrm>
            <a:off x="6848856" y="4553712"/>
            <a:ext cx="4617720" cy="274320"/>
          </a:xfrm>
          <a:prstGeom prst="rect">
            <a:avLst/>
          </a:prstGeom>
          <a:noFill/>
          <a:ln/>
        </p:spPr>
        <p:txBody>
          <a:bodyPr wrap="square" lIns="0" tIns="0" rIns="0" bIns="0" rtlCol="0" anchor="ctr"/>
          <a:lstStyle/>
          <a:p>
            <a:pPr indent="0" marL="0">
              <a:buNone/>
            </a:pPr>
            <a:r>
              <a:rPr lang="en-US" sz="900" dirty="0">
                <a:solidFill>
                  <a:srgbClr val="5F6B76"/>
                </a:solidFill>
                <a:latin typeface="Calibri" pitchFamily="34" charset="0"/>
                <a:ea typeface="Calibri" pitchFamily="34" charset="-122"/>
                <a:cs typeface="Calibri" pitchFamily="34" charset="-120"/>
              </a:rPr>
              <a:t>hardware handoff for the software build</a:t>
            </a:r>
            <a:endParaRPr lang="en-US" sz="900" dirty="0"/>
          </a:p>
        </p:txBody>
      </p:sp>
      <p:sp>
        <p:nvSpPr>
          <p:cNvPr id="45" name="Shape 43"/>
          <p:cNvSpPr/>
          <p:nvPr/>
        </p:nvSpPr>
        <p:spPr>
          <a:xfrm>
            <a:off x="640080" y="5120640"/>
            <a:ext cx="10972800" cy="1042416"/>
          </a:xfrm>
          <a:prstGeom prst="roundRect">
            <a:avLst>
              <a:gd name="adj" fmla="val 3509"/>
            </a:avLst>
          </a:prstGeom>
          <a:solidFill>
            <a:srgbClr val="FBF3E6"/>
          </a:solidFill>
          <a:ln/>
          <a:effectLst>
            <a:outerShdw sx="100000" sy="100000" kx="0" ky="0" algn="bl" rotWithShape="0" blurRad="76200" dist="12700" dir="5400000">
              <a:srgbClr val="A6AFB8">
                <a:alpha val="25000"/>
              </a:srgbClr>
            </a:outerShdw>
          </a:effectLst>
        </p:spPr>
      </p:sp>
      <p:sp>
        <p:nvSpPr>
          <p:cNvPr id="46" name="Text 44"/>
          <p:cNvSpPr/>
          <p:nvPr/>
        </p:nvSpPr>
        <p:spPr>
          <a:xfrm>
            <a:off x="868680" y="5212080"/>
            <a:ext cx="10515600" cy="274320"/>
          </a:xfrm>
          <a:prstGeom prst="rect">
            <a:avLst/>
          </a:prstGeom>
          <a:noFill/>
          <a:ln/>
        </p:spPr>
        <p:txBody>
          <a:bodyPr wrap="square" lIns="0" tIns="0" rIns="0" bIns="0" rtlCol="0" anchor="ctr"/>
          <a:lstStyle/>
          <a:p>
            <a:pPr indent="0" marL="0">
              <a:buNone/>
            </a:pPr>
            <a:r>
              <a:rPr lang="en-US" sz="1200" b="1" dirty="0">
                <a:solidFill>
                  <a:srgbClr val="9A6A16"/>
                </a:solidFill>
                <a:latin typeface="Calibri" pitchFamily="34" charset="0"/>
                <a:ea typeface="Calibri" pitchFamily="34" charset="-122"/>
                <a:cs typeface="Calibri" pitchFamily="34" charset="-120"/>
              </a:rPr>
              <a:t>Why the build is scripted rather than clicked</a:t>
            </a:r>
            <a:endParaRPr lang="en-US" sz="1200" dirty="0"/>
          </a:p>
        </p:txBody>
      </p:sp>
      <p:sp>
        <p:nvSpPr>
          <p:cNvPr id="47" name="Text 45"/>
          <p:cNvSpPr/>
          <p:nvPr/>
        </p:nvSpPr>
        <p:spPr>
          <a:xfrm>
            <a:off x="868680" y="5486400"/>
            <a:ext cx="10515600" cy="603504"/>
          </a:xfrm>
          <a:prstGeom prst="rect">
            <a:avLst/>
          </a:prstGeom>
          <a:noFill/>
          <a:ln/>
        </p:spPr>
        <p:txBody>
          <a:bodyPr wrap="square" lIns="0" tIns="0" rIns="0" bIns="0" rtlCol="0" anchor="ctr"/>
          <a:lstStyle/>
          <a:p>
            <a:pPr indent="0" marL="0">
              <a:buNone/>
            </a:pPr>
            <a:r>
              <a:rPr lang="en-US" sz="1000" dirty="0">
                <a:solidFill>
                  <a:srgbClr val="15191F"/>
                </a:solidFill>
                <a:latin typeface="Calibri" pitchFamily="34" charset="0"/>
                <a:ea typeface="Calibri" pitchFamily="34" charset="-122"/>
                <a:cs typeface="Calibri" pitchFamily="34" charset="-120"/>
              </a:rPr>
              <a:t>The whole project rests on comparing two frequency numbers. If the two builds differ in interconnect topology, constraint wording or implementation strategy, the comparison is worthless. Scripting guarantees the surrounding system is bit-for-bit identical and only CORE_SELECT changes — which is what makes this a controlled experiment rather than two unrelated designs.</a:t>
            </a:r>
            <a:endParaRPr lang="en-US" sz="1000" dirty="0"/>
          </a:p>
        </p:txBody>
      </p:sp>
      <p:sp>
        <p:nvSpPr>
          <p:cNvPr id="48" name="Text 46"/>
          <p:cNvSpPr/>
          <p:nvPr/>
        </p:nvSpPr>
        <p:spPr>
          <a:xfrm>
            <a:off x="548640" y="6419088"/>
            <a:ext cx="11064240" cy="274320"/>
          </a:xfrm>
          <a:prstGeom prst="rect">
            <a:avLst/>
          </a:prstGeom>
          <a:noFill/>
          <a:ln/>
        </p:spPr>
        <p:txBody>
          <a:bodyPr wrap="square" lIns="0" tIns="0" rIns="0" bIns="0" rtlCol="0" anchor="ctr"/>
          <a:lstStyle/>
          <a:p>
            <a:pPr algn="r" indent="0" marL="0">
              <a:buNone/>
            </a:pPr>
            <a:r>
              <a:rPr lang="en-US" sz="900" dirty="0">
                <a:solidFill>
                  <a:srgbClr val="97A2AC"/>
                </a:solidFill>
                <a:latin typeface="Calibri" pitchFamily="34" charset="0"/>
                <a:ea typeface="Calibri" pitchFamily="34" charset="-122"/>
                <a:cs typeface="Calibri" pitchFamily="34" charset="-120"/>
              </a:rPr>
              <a:t>Review 2  ·  Amritha S  ·  23BEC1368  ·  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66928" y="512064"/>
            <a:ext cx="91440" cy="91440"/>
          </a:xfrm>
          <a:prstGeom prst="rect">
            <a:avLst/>
          </a:prstGeom>
          <a:solidFill>
            <a:srgbClr val="00A39B"/>
          </a:solidFill>
          <a:ln/>
        </p:spPr>
      </p:sp>
      <p:sp>
        <p:nvSpPr>
          <p:cNvPr id="3" name="Shape 1"/>
          <p:cNvSpPr/>
          <p:nvPr/>
        </p:nvSpPr>
        <p:spPr>
          <a:xfrm>
            <a:off x="691286" y="512064"/>
            <a:ext cx="91440" cy="91440"/>
          </a:xfrm>
          <a:prstGeom prst="rect">
            <a:avLst/>
          </a:prstGeom>
          <a:solidFill>
            <a:srgbClr val="C2CBD4"/>
          </a:solidFill>
          <a:ln/>
        </p:spPr>
      </p:sp>
      <p:sp>
        <p:nvSpPr>
          <p:cNvPr id="4" name="Shape 2"/>
          <p:cNvSpPr/>
          <p:nvPr/>
        </p:nvSpPr>
        <p:spPr>
          <a:xfrm>
            <a:off x="815645" y="512064"/>
            <a:ext cx="91440" cy="91440"/>
          </a:xfrm>
          <a:prstGeom prst="rect">
            <a:avLst/>
          </a:prstGeom>
          <a:solidFill>
            <a:srgbClr val="C2CBD4"/>
          </a:solidFill>
          <a:ln/>
        </p:spPr>
      </p:sp>
      <p:sp>
        <p:nvSpPr>
          <p:cNvPr id="5" name="Shape 3"/>
          <p:cNvSpPr/>
          <p:nvPr/>
        </p:nvSpPr>
        <p:spPr>
          <a:xfrm>
            <a:off x="940003" y="512064"/>
            <a:ext cx="91440" cy="91440"/>
          </a:xfrm>
          <a:prstGeom prst="rect">
            <a:avLst/>
          </a:prstGeom>
          <a:solidFill>
            <a:srgbClr val="C2CBD4"/>
          </a:solidFill>
          <a:ln/>
        </p:spPr>
      </p:sp>
      <p:sp>
        <p:nvSpPr>
          <p:cNvPr id="6" name="Shape 4"/>
          <p:cNvSpPr/>
          <p:nvPr/>
        </p:nvSpPr>
        <p:spPr>
          <a:xfrm>
            <a:off x="1064362" y="512064"/>
            <a:ext cx="91440" cy="91440"/>
          </a:xfrm>
          <a:prstGeom prst="rect">
            <a:avLst/>
          </a:prstGeom>
          <a:solidFill>
            <a:srgbClr val="00A39B"/>
          </a:solidFill>
          <a:ln/>
        </p:spPr>
      </p:sp>
      <p:sp>
        <p:nvSpPr>
          <p:cNvPr id="7" name="Shape 5"/>
          <p:cNvSpPr/>
          <p:nvPr/>
        </p:nvSpPr>
        <p:spPr>
          <a:xfrm>
            <a:off x="1188720" y="512064"/>
            <a:ext cx="91440" cy="91440"/>
          </a:xfrm>
          <a:prstGeom prst="rect">
            <a:avLst/>
          </a:prstGeom>
          <a:solidFill>
            <a:srgbClr val="C2CBD4"/>
          </a:solidFill>
          <a:ln/>
        </p:spPr>
      </p:sp>
      <p:sp>
        <p:nvSpPr>
          <p:cNvPr id="8" name="Shape 6"/>
          <p:cNvSpPr/>
          <p:nvPr/>
        </p:nvSpPr>
        <p:spPr>
          <a:xfrm>
            <a:off x="1313078" y="512064"/>
            <a:ext cx="91440" cy="91440"/>
          </a:xfrm>
          <a:prstGeom prst="rect">
            <a:avLst/>
          </a:prstGeom>
          <a:solidFill>
            <a:srgbClr val="C2CBD4"/>
          </a:solidFill>
          <a:ln/>
        </p:spPr>
      </p:sp>
      <p:sp>
        <p:nvSpPr>
          <p:cNvPr id="9" name="Shape 7"/>
          <p:cNvSpPr/>
          <p:nvPr/>
        </p:nvSpPr>
        <p:spPr>
          <a:xfrm>
            <a:off x="1437437" y="512064"/>
            <a:ext cx="91440" cy="91440"/>
          </a:xfrm>
          <a:prstGeom prst="rect">
            <a:avLst/>
          </a:prstGeom>
          <a:solidFill>
            <a:srgbClr val="C2CBD4"/>
          </a:solidFill>
          <a:ln/>
        </p:spPr>
      </p:sp>
      <p:sp>
        <p:nvSpPr>
          <p:cNvPr id="10" name="Text 8"/>
          <p:cNvSpPr/>
          <p:nvPr/>
        </p:nvSpPr>
        <p:spPr>
          <a:xfrm>
            <a:off x="1517904" y="310896"/>
            <a:ext cx="10058400" cy="530352"/>
          </a:xfrm>
          <a:prstGeom prst="rect">
            <a:avLst/>
          </a:prstGeom>
          <a:noFill/>
          <a:ln/>
        </p:spPr>
        <p:txBody>
          <a:bodyPr wrap="square" lIns="0" tIns="0" rIns="0" bIns="0" rtlCol="0" anchor="ctr"/>
          <a:lstStyle/>
          <a:p>
            <a:pPr algn="l" indent="0" marL="0">
              <a:buNone/>
            </a:pPr>
            <a:r>
              <a:rPr lang="en-US" sz="2600" b="1" dirty="0">
                <a:solidFill>
                  <a:srgbClr val="2B4257"/>
                </a:solidFill>
                <a:latin typeface="Cambria" pitchFamily="34" charset="0"/>
                <a:ea typeface="Cambria" pitchFamily="34" charset="-122"/>
                <a:cs typeface="Cambria" pitchFamily="34" charset="-120"/>
              </a:rPr>
              <a:t>Results Table — Ready to Fill</a:t>
            </a:r>
            <a:endParaRPr lang="en-US" sz="2600" dirty="0"/>
          </a:p>
        </p:txBody>
      </p:sp>
      <p:sp>
        <p:nvSpPr>
          <p:cNvPr id="11" name="Text 9"/>
          <p:cNvSpPr/>
          <p:nvPr/>
        </p:nvSpPr>
        <p:spPr>
          <a:xfrm>
            <a:off x="10972800" y="347472"/>
            <a:ext cx="640080" cy="365760"/>
          </a:xfrm>
          <a:prstGeom prst="rect">
            <a:avLst/>
          </a:prstGeom>
          <a:noFill/>
          <a:ln/>
        </p:spPr>
        <p:txBody>
          <a:bodyPr wrap="square" lIns="0" tIns="0" rIns="0" bIns="0" rtlCol="0" anchor="ctr"/>
          <a:lstStyle/>
          <a:p>
            <a:pPr algn="r" indent="0" marL="0">
              <a:buNone/>
            </a:pPr>
            <a:r>
              <a:rPr lang="en-US" sz="1100" b="1" dirty="0">
                <a:solidFill>
                  <a:srgbClr val="00A39B"/>
                </a:solidFill>
                <a:latin typeface="Calibri" pitchFamily="34" charset="0"/>
                <a:ea typeface="Calibri" pitchFamily="34" charset="-122"/>
                <a:cs typeface="Calibri" pitchFamily="34" charset="-120"/>
              </a:rPr>
              <a:t>08</a:t>
            </a:r>
            <a:endParaRPr lang="en-US" sz="1100" dirty="0"/>
          </a:p>
        </p:txBody>
      </p:sp>
      <p:sp>
        <p:nvSpPr>
          <p:cNvPr id="12" name="Text 10"/>
          <p:cNvSpPr/>
          <p:nvPr/>
        </p:nvSpPr>
        <p:spPr>
          <a:xfrm>
            <a:off x="1536192" y="841248"/>
            <a:ext cx="10058400" cy="274320"/>
          </a:xfrm>
          <a:prstGeom prst="rect">
            <a:avLst/>
          </a:prstGeom>
          <a:noFill/>
          <a:ln/>
        </p:spPr>
        <p:txBody>
          <a:bodyPr wrap="square" lIns="0" tIns="0" rIns="0" bIns="0" rtlCol="0" anchor="ctr"/>
          <a:lstStyle/>
          <a:p>
            <a:pPr algn="l" indent="0" marL="0">
              <a:buNone/>
            </a:pPr>
            <a:r>
              <a:rPr lang="en-US" sz="1250" i="1" dirty="0">
                <a:solidFill>
                  <a:srgbClr val="5F6B76"/>
                </a:solidFill>
                <a:latin typeface="Calibri" pitchFamily="34" charset="0"/>
                <a:ea typeface="Calibri" pitchFamily="34" charset="-122"/>
                <a:cs typeface="Calibri" pitchFamily="34" charset="-120"/>
              </a:rPr>
              <a:t>Every measurement has a defined source; nothing is estimated</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426464"/>
          <a:ext cx="10972800" cy="914400"/>
        </p:xfrm>
        <a:graphic>
          <a:graphicData uri="http://schemas.openxmlformats.org/drawingml/2006/table">
            <a:tbl>
              <a:tblPr/>
              <a:tblGrid>
                <a:gridCol w="3291840"/>
                <a:gridCol w="1645920"/>
                <a:gridCol w="1645920"/>
                <a:gridCol w="2560320"/>
                <a:gridCol w="1828800"/>
              </a:tblGrid>
              <a:tr h="301752">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2B4257"/>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Config A</a:t>
                      </a:r>
                      <a:endParaRPr lang="en-US" sz="110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2B4257"/>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Config B</a:t>
                      </a:r>
                      <a:endParaRPr lang="en-US" sz="110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2B4257"/>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Source</a:t>
                      </a:r>
                      <a:endParaRPr lang="en-US" sz="110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2B4257"/>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2B4257"/>
                    </a:solidFill>
                  </a:tcPr>
                </a:tc>
              </a:tr>
              <a:tr h="301752">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Cycles per 512-bit block (core)</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66</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34</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simulation</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MEASURED</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Cycles per block (system)</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85</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53</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simulation</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MEASURED</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Streaming overhead</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19</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19</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derived</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MEASURED</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Fmax (MHz)</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____</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____</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reports/summary.txt</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pending</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Fmax ratio B/A</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____</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derived</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pending</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vs revised threshold 0.624</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____</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derived</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THE RESULT</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Accelerator LUT</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____</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____</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reports/summary.txt</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pending</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Accelerator FF</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____</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____</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reports/summary.txt</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pending</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BRAM</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____</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____</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reports/summary.txt</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expect 0</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DSP48</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____</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____</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reports/summary.txt</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MUST be 0</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Throughput on board (Mbit/s)</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____</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____</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UART, TEST 3</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pending</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Software throughput (Mbit/s)</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____</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____</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UART, TEST 3</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pending</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Speedup over software</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____</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____</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derived</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c>
                  <a:txBody>
                    <a:bodyPr/>
                    <a:lstStyle/>
                    <a:p>
                      <a:pPr algn="l" indent="0" marL="0">
                        <a:buNone/>
                      </a:pPr>
                      <a:r>
                        <a:rPr lang="en-US" sz="950" dirty="0">
                          <a:solidFill>
                            <a:srgbClr val="15191F"/>
                          </a:solidFill>
                          <a:latin typeface="Calibri" pitchFamily="34" charset="0"/>
                          <a:ea typeface="Calibri" pitchFamily="34" charset="-122"/>
                          <a:cs typeface="Calibri" pitchFamily="34" charset="-120"/>
                        </a:rPr>
                        <a:t>expect ~3x</a:t>
                      </a:r>
                      <a:endParaRPr lang="en-US" sz="950" dirty="0">
                        <a:latin typeface="Calibri" charset="0"/>
                        <a:ea typeface="Calibri" charset="0"/>
                        <a:cs typeface="Calibri" charset="0"/>
                      </a:endParaRPr>
                    </a:p>
                  </a:txBody>
                  <a:tcPr marL="91440" marR="91440" marT="45720" marB="45720" anchor="ctr">
                    <a:lnL w="6350" cap="flat" cmpd="sng" algn="ctr">
                      <a:solidFill>
                        <a:srgbClr val="CCD5DD"/>
                      </a:solidFill>
                      <a:prstDash val="solid"/>
                      <a:round/>
                      <a:headEnd type="none" w="med" len="med"/>
                      <a:tailEnd type="none" w="med" len="med"/>
                    </a:lnL>
                    <a:lnR w="6350" cap="flat" cmpd="sng" algn="ctr">
                      <a:solidFill>
                        <a:srgbClr val="CCD5DD"/>
                      </a:solidFill>
                      <a:prstDash val="solid"/>
                      <a:round/>
                      <a:headEnd type="none" w="med" len="med"/>
                      <a:tailEnd type="none" w="med" len="med"/>
                    </a:lnR>
                    <a:lnT w="6350" cap="flat" cmpd="sng" algn="ctr">
                      <a:solidFill>
                        <a:srgbClr val="CCD5DD"/>
                      </a:solidFill>
                      <a:prstDash val="solid"/>
                      <a:round/>
                      <a:headEnd type="none" w="med" len="med"/>
                      <a:tailEnd type="none" w="med" len="med"/>
                    </a:lnT>
                    <a:lnB w="6350" cap="flat" cmpd="sng" algn="ctr">
                      <a:solidFill>
                        <a:srgbClr val="CCD5DD"/>
                      </a:solidFill>
                      <a:prstDash val="solid"/>
                      <a:round/>
                      <a:headEnd type="none" w="med" len="med"/>
                      <a:tailEnd type="none" w="med" len="med"/>
                    </a:lnB>
                    <a:solidFill>
                      <a:srgbClr val="FFFFFF"/>
                    </a:solidFill>
                  </a:tcPr>
                </a:tc>
              </a:tr>
            </a:tbl>
          </a:graphicData>
        </a:graphic>
      </p:graphicFrame>
      <p:sp>
        <p:nvSpPr>
          <p:cNvPr id="14" name="Shape 11"/>
          <p:cNvSpPr/>
          <p:nvPr/>
        </p:nvSpPr>
        <p:spPr>
          <a:xfrm>
            <a:off x="640080" y="5724144"/>
            <a:ext cx="10972800" cy="548640"/>
          </a:xfrm>
          <a:prstGeom prst="roundRect">
            <a:avLst>
              <a:gd name="adj" fmla="val 6667"/>
            </a:avLst>
          </a:prstGeom>
          <a:solidFill>
            <a:srgbClr val="E3F3F1"/>
          </a:solidFill>
          <a:ln/>
          <a:effectLst>
            <a:outerShdw sx="100000" sy="100000" kx="0" ky="0" algn="bl" rotWithShape="0" blurRad="76200" dist="12700" dir="5400000">
              <a:srgbClr val="A6AFB8">
                <a:alpha val="25000"/>
              </a:srgbClr>
            </a:outerShdw>
          </a:effectLst>
        </p:spPr>
      </p:sp>
      <p:sp>
        <p:nvSpPr>
          <p:cNvPr id="15" name="Text 12"/>
          <p:cNvSpPr/>
          <p:nvPr/>
        </p:nvSpPr>
        <p:spPr>
          <a:xfrm>
            <a:off x="868680" y="5724144"/>
            <a:ext cx="10515600" cy="548640"/>
          </a:xfrm>
          <a:prstGeom prst="rect">
            <a:avLst/>
          </a:prstGeom>
          <a:noFill/>
          <a:ln/>
        </p:spPr>
        <p:txBody>
          <a:bodyPr wrap="square" lIns="0" tIns="0" rIns="0" bIns="0" rtlCol="0" anchor="ctr"/>
          <a:lstStyle/>
          <a:p>
            <a:pPr indent="0" marL="0">
              <a:buNone/>
            </a:pPr>
            <a:r>
              <a:rPr lang="en-US" sz="1050" b="1" dirty="0">
                <a:solidFill>
                  <a:srgbClr val="00756F"/>
                </a:solidFill>
                <a:latin typeface="Calibri" pitchFamily="34" charset="0"/>
                <a:ea typeface="Calibri" pitchFamily="34" charset="-122"/>
                <a:cs typeface="Calibri" pitchFamily="34" charset="-120"/>
              </a:rPr>
              <a:t>Three rows are already measured in simulation and will not change. The rest come from two Vivado reports and one UART session. Once those exist, the results chapter is arithmetic.</a:t>
            </a:r>
            <a:endParaRPr lang="en-US" sz="1050" dirty="0"/>
          </a:p>
        </p:txBody>
      </p:sp>
      <p:sp>
        <p:nvSpPr>
          <p:cNvPr id="16" name="Text 13"/>
          <p:cNvSpPr/>
          <p:nvPr/>
        </p:nvSpPr>
        <p:spPr>
          <a:xfrm>
            <a:off x="548640" y="6419088"/>
            <a:ext cx="11064240" cy="274320"/>
          </a:xfrm>
          <a:prstGeom prst="rect">
            <a:avLst/>
          </a:prstGeom>
          <a:noFill/>
          <a:ln/>
        </p:spPr>
        <p:txBody>
          <a:bodyPr wrap="square" lIns="0" tIns="0" rIns="0" bIns="0" rtlCol="0" anchor="ctr"/>
          <a:lstStyle/>
          <a:p>
            <a:pPr algn="r" indent="0" marL="0">
              <a:buNone/>
            </a:pPr>
            <a:r>
              <a:rPr lang="en-US" sz="900" dirty="0">
                <a:solidFill>
                  <a:srgbClr val="97A2AC"/>
                </a:solidFill>
                <a:latin typeface="Calibri" pitchFamily="34" charset="0"/>
                <a:ea typeface="Calibri" pitchFamily="34" charset="-122"/>
                <a:cs typeface="Calibri" pitchFamily="34" charset="-120"/>
              </a:rPr>
              <a:t>Review 2  ·  Amritha S  ·  23BEC1368  ·  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66928" y="512064"/>
            <a:ext cx="91440" cy="91440"/>
          </a:xfrm>
          <a:prstGeom prst="rect">
            <a:avLst/>
          </a:prstGeom>
          <a:solidFill>
            <a:srgbClr val="00A39B"/>
          </a:solidFill>
          <a:ln/>
        </p:spPr>
      </p:sp>
      <p:sp>
        <p:nvSpPr>
          <p:cNvPr id="3" name="Shape 1"/>
          <p:cNvSpPr/>
          <p:nvPr/>
        </p:nvSpPr>
        <p:spPr>
          <a:xfrm>
            <a:off x="691286" y="512064"/>
            <a:ext cx="91440" cy="91440"/>
          </a:xfrm>
          <a:prstGeom prst="rect">
            <a:avLst/>
          </a:prstGeom>
          <a:solidFill>
            <a:srgbClr val="C2CBD4"/>
          </a:solidFill>
          <a:ln/>
        </p:spPr>
      </p:sp>
      <p:sp>
        <p:nvSpPr>
          <p:cNvPr id="4" name="Shape 2"/>
          <p:cNvSpPr/>
          <p:nvPr/>
        </p:nvSpPr>
        <p:spPr>
          <a:xfrm>
            <a:off x="815645" y="512064"/>
            <a:ext cx="91440" cy="91440"/>
          </a:xfrm>
          <a:prstGeom prst="rect">
            <a:avLst/>
          </a:prstGeom>
          <a:solidFill>
            <a:srgbClr val="C2CBD4"/>
          </a:solidFill>
          <a:ln/>
        </p:spPr>
      </p:sp>
      <p:sp>
        <p:nvSpPr>
          <p:cNvPr id="5" name="Shape 3"/>
          <p:cNvSpPr/>
          <p:nvPr/>
        </p:nvSpPr>
        <p:spPr>
          <a:xfrm>
            <a:off x="940003" y="512064"/>
            <a:ext cx="91440" cy="91440"/>
          </a:xfrm>
          <a:prstGeom prst="rect">
            <a:avLst/>
          </a:prstGeom>
          <a:solidFill>
            <a:srgbClr val="C2CBD4"/>
          </a:solidFill>
          <a:ln/>
        </p:spPr>
      </p:sp>
      <p:sp>
        <p:nvSpPr>
          <p:cNvPr id="6" name="Shape 4"/>
          <p:cNvSpPr/>
          <p:nvPr/>
        </p:nvSpPr>
        <p:spPr>
          <a:xfrm>
            <a:off x="1064362" y="512064"/>
            <a:ext cx="91440" cy="91440"/>
          </a:xfrm>
          <a:prstGeom prst="rect">
            <a:avLst/>
          </a:prstGeom>
          <a:solidFill>
            <a:srgbClr val="00A39B"/>
          </a:solidFill>
          <a:ln/>
        </p:spPr>
      </p:sp>
      <p:sp>
        <p:nvSpPr>
          <p:cNvPr id="7" name="Shape 5"/>
          <p:cNvSpPr/>
          <p:nvPr/>
        </p:nvSpPr>
        <p:spPr>
          <a:xfrm>
            <a:off x="1188720" y="512064"/>
            <a:ext cx="91440" cy="91440"/>
          </a:xfrm>
          <a:prstGeom prst="rect">
            <a:avLst/>
          </a:prstGeom>
          <a:solidFill>
            <a:srgbClr val="C2CBD4"/>
          </a:solidFill>
          <a:ln/>
        </p:spPr>
      </p:sp>
      <p:sp>
        <p:nvSpPr>
          <p:cNvPr id="8" name="Shape 6"/>
          <p:cNvSpPr/>
          <p:nvPr/>
        </p:nvSpPr>
        <p:spPr>
          <a:xfrm>
            <a:off x="1313078" y="512064"/>
            <a:ext cx="91440" cy="91440"/>
          </a:xfrm>
          <a:prstGeom prst="rect">
            <a:avLst/>
          </a:prstGeom>
          <a:solidFill>
            <a:srgbClr val="C2CBD4"/>
          </a:solidFill>
          <a:ln/>
        </p:spPr>
      </p:sp>
      <p:sp>
        <p:nvSpPr>
          <p:cNvPr id="9" name="Shape 7"/>
          <p:cNvSpPr/>
          <p:nvPr/>
        </p:nvSpPr>
        <p:spPr>
          <a:xfrm>
            <a:off x="1437437" y="512064"/>
            <a:ext cx="91440" cy="91440"/>
          </a:xfrm>
          <a:prstGeom prst="rect">
            <a:avLst/>
          </a:prstGeom>
          <a:solidFill>
            <a:srgbClr val="C2CBD4"/>
          </a:solidFill>
          <a:ln/>
        </p:spPr>
      </p:sp>
      <p:sp>
        <p:nvSpPr>
          <p:cNvPr id="10" name="Text 8"/>
          <p:cNvSpPr/>
          <p:nvPr/>
        </p:nvSpPr>
        <p:spPr>
          <a:xfrm>
            <a:off x="1517904" y="310896"/>
            <a:ext cx="10058400" cy="530352"/>
          </a:xfrm>
          <a:prstGeom prst="rect">
            <a:avLst/>
          </a:prstGeom>
          <a:noFill/>
          <a:ln/>
        </p:spPr>
        <p:txBody>
          <a:bodyPr wrap="square" lIns="0" tIns="0" rIns="0" bIns="0" rtlCol="0" anchor="ctr"/>
          <a:lstStyle/>
          <a:p>
            <a:pPr algn="l" indent="0" marL="0">
              <a:buNone/>
            </a:pPr>
            <a:r>
              <a:rPr lang="en-US" sz="2600" b="1" dirty="0">
                <a:solidFill>
                  <a:srgbClr val="2B4257"/>
                </a:solidFill>
                <a:latin typeface="Cambria" pitchFamily="34" charset="0"/>
                <a:ea typeface="Cambria" pitchFamily="34" charset="-122"/>
                <a:cs typeface="Cambria" pitchFamily="34" charset="-120"/>
              </a:rPr>
              <a:t>Remaining Work to Review 3</a:t>
            </a:r>
            <a:endParaRPr lang="en-US" sz="2600" dirty="0"/>
          </a:p>
        </p:txBody>
      </p:sp>
      <p:sp>
        <p:nvSpPr>
          <p:cNvPr id="11" name="Text 9"/>
          <p:cNvSpPr/>
          <p:nvPr/>
        </p:nvSpPr>
        <p:spPr>
          <a:xfrm>
            <a:off x="10972800" y="347472"/>
            <a:ext cx="640080" cy="365760"/>
          </a:xfrm>
          <a:prstGeom prst="rect">
            <a:avLst/>
          </a:prstGeom>
          <a:noFill/>
          <a:ln/>
        </p:spPr>
        <p:txBody>
          <a:bodyPr wrap="square" lIns="0" tIns="0" rIns="0" bIns="0" rtlCol="0" anchor="ctr"/>
          <a:lstStyle/>
          <a:p>
            <a:pPr algn="r" indent="0" marL="0">
              <a:buNone/>
            </a:pPr>
            <a:r>
              <a:rPr lang="en-US" sz="1100" b="1" dirty="0">
                <a:solidFill>
                  <a:srgbClr val="00A39B"/>
                </a:solidFill>
                <a:latin typeface="Calibri" pitchFamily="34" charset="0"/>
                <a:ea typeface="Calibri" pitchFamily="34" charset="-122"/>
                <a:cs typeface="Calibri" pitchFamily="34" charset="-120"/>
              </a:rPr>
              <a:t>09</a:t>
            </a:r>
            <a:endParaRPr lang="en-US" sz="1100" dirty="0"/>
          </a:p>
        </p:txBody>
      </p:sp>
      <p:sp>
        <p:nvSpPr>
          <p:cNvPr id="12" name="Text 10"/>
          <p:cNvSpPr/>
          <p:nvPr/>
        </p:nvSpPr>
        <p:spPr>
          <a:xfrm>
            <a:off x="1536192" y="841248"/>
            <a:ext cx="10058400" cy="274320"/>
          </a:xfrm>
          <a:prstGeom prst="rect">
            <a:avLst/>
          </a:prstGeom>
          <a:noFill/>
          <a:ln/>
        </p:spPr>
        <p:txBody>
          <a:bodyPr wrap="square" lIns="0" tIns="0" rIns="0" bIns="0" rtlCol="0" anchor="ctr"/>
          <a:lstStyle/>
          <a:p>
            <a:pPr algn="l" indent="0" marL="0">
              <a:buNone/>
            </a:pPr>
            <a:r>
              <a:rPr lang="en-US" sz="1250" i="1" dirty="0">
                <a:solidFill>
                  <a:srgbClr val="5F6B76"/>
                </a:solidFill>
                <a:latin typeface="Calibri" pitchFamily="34" charset="0"/>
                <a:ea typeface="Calibri" pitchFamily="34" charset="-122"/>
                <a:cs typeface="Calibri" pitchFamily="34" charset="-120"/>
              </a:rPr>
              <a:t>Four weeks, with two designated buffer weeks already spent</a:t>
            </a:r>
            <a:endParaRPr lang="en-US" sz="1250" dirty="0"/>
          </a:p>
        </p:txBody>
      </p:sp>
      <p:sp>
        <p:nvSpPr>
          <p:cNvPr id="13" name="Shape 11"/>
          <p:cNvSpPr/>
          <p:nvPr/>
        </p:nvSpPr>
        <p:spPr>
          <a:xfrm>
            <a:off x="640080" y="1426464"/>
            <a:ext cx="10972800" cy="713232"/>
          </a:xfrm>
          <a:prstGeom prst="roundRect">
            <a:avLst>
              <a:gd name="adj" fmla="val 5128"/>
            </a:avLst>
          </a:prstGeom>
          <a:solidFill>
            <a:srgbClr val="F9FAFC"/>
          </a:solidFill>
          <a:ln w="9525">
            <a:solidFill>
              <a:srgbClr val="DAE0E6"/>
            </a:solidFill>
            <a:prstDash val="solid"/>
          </a:ln>
        </p:spPr>
      </p:sp>
      <p:sp>
        <p:nvSpPr>
          <p:cNvPr id="14" name="Shape 12"/>
          <p:cNvSpPr/>
          <p:nvPr/>
        </p:nvSpPr>
        <p:spPr>
          <a:xfrm>
            <a:off x="822960" y="1600200"/>
            <a:ext cx="402336" cy="365760"/>
          </a:xfrm>
          <a:prstGeom prst="roundRect">
            <a:avLst>
              <a:gd name="adj" fmla="val 17500"/>
            </a:avLst>
          </a:prstGeom>
          <a:solidFill>
            <a:srgbClr val="DE9A3E"/>
          </a:solidFill>
          <a:ln/>
        </p:spPr>
      </p:sp>
      <p:sp>
        <p:nvSpPr>
          <p:cNvPr id="15" name="Text 13"/>
          <p:cNvSpPr/>
          <p:nvPr/>
        </p:nvSpPr>
        <p:spPr>
          <a:xfrm>
            <a:off x="822960" y="1600200"/>
            <a:ext cx="402336"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16" name="Text 14"/>
          <p:cNvSpPr/>
          <p:nvPr/>
        </p:nvSpPr>
        <p:spPr>
          <a:xfrm>
            <a:off x="1371600" y="1517904"/>
            <a:ext cx="5852160" cy="274320"/>
          </a:xfrm>
          <a:prstGeom prst="rect">
            <a:avLst/>
          </a:prstGeom>
          <a:noFill/>
          <a:ln/>
        </p:spPr>
        <p:txBody>
          <a:bodyPr wrap="square" lIns="0" tIns="0" rIns="0" bIns="0" rtlCol="0" anchor="ctr"/>
          <a:lstStyle/>
          <a:p>
            <a:pPr indent="0" marL="0">
              <a:buNone/>
            </a:pPr>
            <a:r>
              <a:rPr lang="en-US" sz="1150" b="1" dirty="0">
                <a:solidFill>
                  <a:srgbClr val="15191F"/>
                </a:solidFill>
                <a:latin typeface="Calibri" pitchFamily="34" charset="0"/>
                <a:ea typeface="Calibri" pitchFamily="34" charset="-122"/>
                <a:cs typeface="Calibri" pitchFamily="34" charset="-120"/>
              </a:rPr>
              <a:t>Run both Vivado builds; record area and Fmax</a:t>
            </a:r>
            <a:endParaRPr lang="en-US" sz="1150" dirty="0"/>
          </a:p>
        </p:txBody>
      </p:sp>
      <p:sp>
        <p:nvSpPr>
          <p:cNvPr id="17" name="Text 15"/>
          <p:cNvSpPr/>
          <p:nvPr/>
        </p:nvSpPr>
        <p:spPr>
          <a:xfrm>
            <a:off x="1371600" y="1810512"/>
            <a:ext cx="5852160" cy="256032"/>
          </a:xfrm>
          <a:prstGeom prst="rect">
            <a:avLst/>
          </a:prstGeom>
          <a:noFill/>
          <a:ln/>
        </p:spPr>
        <p:txBody>
          <a:bodyPr wrap="square" lIns="0" tIns="0" rIns="0" bIns="0" rtlCol="0" anchor="ctr"/>
          <a:lstStyle/>
          <a:p>
            <a:pPr indent="0" marL="0">
              <a:buNone/>
            </a:pPr>
            <a:r>
              <a:rPr lang="en-US" sz="950" i="1" dirty="0">
                <a:solidFill>
                  <a:srgbClr val="5F6B76"/>
                </a:solidFill>
                <a:latin typeface="Calibri" pitchFamily="34" charset="0"/>
                <a:ea typeface="Calibri" pitchFamily="34" charset="-122"/>
                <a:cs typeface="Calibri" pitchFamily="34" charset="-120"/>
              </a:rPr>
              <a:t>reports/summary.txt exists for A and B</a:t>
            </a:r>
            <a:endParaRPr lang="en-US" sz="950" dirty="0"/>
          </a:p>
        </p:txBody>
      </p:sp>
      <p:sp>
        <p:nvSpPr>
          <p:cNvPr id="18" name="Text 16"/>
          <p:cNvSpPr/>
          <p:nvPr/>
        </p:nvSpPr>
        <p:spPr>
          <a:xfrm>
            <a:off x="9692640" y="1600200"/>
            <a:ext cx="1737360" cy="365760"/>
          </a:xfrm>
          <a:prstGeom prst="rect">
            <a:avLst/>
          </a:prstGeom>
          <a:noFill/>
          <a:ln/>
        </p:spPr>
        <p:txBody>
          <a:bodyPr wrap="square" lIns="0" tIns="0" rIns="0" bIns="0" rtlCol="0" anchor="ctr"/>
          <a:lstStyle/>
          <a:p>
            <a:pPr algn="r" indent="0" marL="0">
              <a:buNone/>
            </a:pPr>
            <a:r>
              <a:rPr lang="en-US" sz="1000" b="1" dirty="0">
                <a:solidFill>
                  <a:srgbClr val="9A6A16"/>
                </a:solidFill>
                <a:latin typeface="Calibri" pitchFamily="34" charset="0"/>
                <a:ea typeface="Calibri" pitchFamily="34" charset="-122"/>
                <a:cs typeface="Calibri" pitchFamily="34" charset="-120"/>
              </a:rPr>
              <a:t>critical path</a:t>
            </a:r>
            <a:endParaRPr lang="en-US" sz="1000" dirty="0"/>
          </a:p>
        </p:txBody>
      </p:sp>
      <p:sp>
        <p:nvSpPr>
          <p:cNvPr id="19" name="Shape 17"/>
          <p:cNvSpPr/>
          <p:nvPr/>
        </p:nvSpPr>
        <p:spPr>
          <a:xfrm>
            <a:off x="640080" y="2249424"/>
            <a:ext cx="10972800" cy="713232"/>
          </a:xfrm>
          <a:prstGeom prst="roundRect">
            <a:avLst>
              <a:gd name="adj" fmla="val 5128"/>
            </a:avLst>
          </a:prstGeom>
          <a:solidFill>
            <a:srgbClr val="F9FAFC"/>
          </a:solidFill>
          <a:ln w="9525">
            <a:solidFill>
              <a:srgbClr val="DAE0E6"/>
            </a:solidFill>
            <a:prstDash val="solid"/>
          </a:ln>
        </p:spPr>
      </p:sp>
      <p:sp>
        <p:nvSpPr>
          <p:cNvPr id="20" name="Shape 18"/>
          <p:cNvSpPr/>
          <p:nvPr/>
        </p:nvSpPr>
        <p:spPr>
          <a:xfrm>
            <a:off x="822960" y="2423160"/>
            <a:ext cx="402336" cy="365760"/>
          </a:xfrm>
          <a:prstGeom prst="roundRect">
            <a:avLst>
              <a:gd name="adj" fmla="val 17500"/>
            </a:avLst>
          </a:prstGeom>
          <a:solidFill>
            <a:srgbClr val="DE9A3E"/>
          </a:solidFill>
          <a:ln/>
        </p:spPr>
      </p:sp>
      <p:sp>
        <p:nvSpPr>
          <p:cNvPr id="21" name="Text 19"/>
          <p:cNvSpPr/>
          <p:nvPr/>
        </p:nvSpPr>
        <p:spPr>
          <a:xfrm>
            <a:off x="822960" y="2423160"/>
            <a:ext cx="402336"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22" name="Text 20"/>
          <p:cNvSpPr/>
          <p:nvPr/>
        </p:nvSpPr>
        <p:spPr>
          <a:xfrm>
            <a:off x="1371600" y="2340864"/>
            <a:ext cx="5852160" cy="274320"/>
          </a:xfrm>
          <a:prstGeom prst="rect">
            <a:avLst/>
          </a:prstGeom>
          <a:noFill/>
          <a:ln/>
        </p:spPr>
        <p:txBody>
          <a:bodyPr wrap="square" lIns="0" tIns="0" rIns="0" bIns="0" rtlCol="0" anchor="ctr"/>
          <a:lstStyle/>
          <a:p>
            <a:pPr indent="0" marL="0">
              <a:buNone/>
            </a:pPr>
            <a:r>
              <a:rPr lang="en-US" sz="1150" b="1" dirty="0">
                <a:solidFill>
                  <a:srgbClr val="15191F"/>
                </a:solidFill>
                <a:latin typeface="Calibri" pitchFamily="34" charset="0"/>
                <a:ea typeface="Calibri" pitchFamily="34" charset="-122"/>
                <a:cs typeface="Calibri" pitchFamily="34" charset="-120"/>
              </a:rPr>
              <a:t>Vitis workspace; board bring-up; NIST conformance on hardware</a:t>
            </a:r>
            <a:endParaRPr lang="en-US" sz="1150" dirty="0"/>
          </a:p>
        </p:txBody>
      </p:sp>
      <p:sp>
        <p:nvSpPr>
          <p:cNvPr id="23" name="Text 21"/>
          <p:cNvSpPr/>
          <p:nvPr/>
        </p:nvSpPr>
        <p:spPr>
          <a:xfrm>
            <a:off x="1371600" y="2633472"/>
            <a:ext cx="5852160" cy="256032"/>
          </a:xfrm>
          <a:prstGeom prst="rect">
            <a:avLst/>
          </a:prstGeom>
          <a:noFill/>
          <a:ln/>
        </p:spPr>
        <p:txBody>
          <a:bodyPr wrap="square" lIns="0" tIns="0" rIns="0" bIns="0" rtlCol="0" anchor="ctr"/>
          <a:lstStyle/>
          <a:p>
            <a:pPr indent="0" marL="0">
              <a:buNone/>
            </a:pPr>
            <a:r>
              <a:rPr lang="en-US" sz="950" i="1" dirty="0">
                <a:solidFill>
                  <a:srgbClr val="5F6B76"/>
                </a:solidFill>
                <a:latin typeface="Calibri" pitchFamily="34" charset="0"/>
                <a:ea typeface="Calibri" pitchFamily="34" charset="-122"/>
                <a:cs typeface="Calibri" pitchFamily="34" charset="-120"/>
              </a:rPr>
              <a:t>TEST 1 and TEST 2 pass on the board</a:t>
            </a:r>
            <a:endParaRPr lang="en-US" sz="950" dirty="0"/>
          </a:p>
        </p:txBody>
      </p:sp>
      <p:sp>
        <p:nvSpPr>
          <p:cNvPr id="24" name="Text 22"/>
          <p:cNvSpPr/>
          <p:nvPr/>
        </p:nvSpPr>
        <p:spPr>
          <a:xfrm>
            <a:off x="9692640" y="2423160"/>
            <a:ext cx="1737360" cy="365760"/>
          </a:xfrm>
          <a:prstGeom prst="rect">
            <a:avLst/>
          </a:prstGeom>
          <a:noFill/>
          <a:ln/>
        </p:spPr>
        <p:txBody>
          <a:bodyPr wrap="square" lIns="0" tIns="0" rIns="0" bIns="0" rtlCol="0" anchor="ctr"/>
          <a:lstStyle/>
          <a:p>
            <a:pPr algn="r" indent="0" marL="0">
              <a:buNone/>
            </a:pPr>
            <a:r>
              <a:rPr lang="en-US" sz="1000" b="1" dirty="0">
                <a:solidFill>
                  <a:srgbClr val="9A6A16"/>
                </a:solidFill>
                <a:latin typeface="Calibri" pitchFamily="34" charset="0"/>
                <a:ea typeface="Calibri" pitchFamily="34" charset="-122"/>
                <a:cs typeface="Calibri" pitchFamily="34" charset="-120"/>
              </a:rPr>
              <a:t>critical path</a:t>
            </a:r>
            <a:endParaRPr lang="en-US" sz="1000" dirty="0"/>
          </a:p>
        </p:txBody>
      </p:sp>
      <p:sp>
        <p:nvSpPr>
          <p:cNvPr id="25" name="Shape 23"/>
          <p:cNvSpPr/>
          <p:nvPr/>
        </p:nvSpPr>
        <p:spPr>
          <a:xfrm>
            <a:off x="640080" y="3072384"/>
            <a:ext cx="10972800" cy="713232"/>
          </a:xfrm>
          <a:prstGeom prst="roundRect">
            <a:avLst>
              <a:gd name="adj" fmla="val 5128"/>
            </a:avLst>
          </a:prstGeom>
          <a:solidFill>
            <a:srgbClr val="F9FAFC"/>
          </a:solidFill>
          <a:ln w="9525">
            <a:solidFill>
              <a:srgbClr val="DAE0E6"/>
            </a:solidFill>
            <a:prstDash val="solid"/>
          </a:ln>
        </p:spPr>
      </p:sp>
      <p:sp>
        <p:nvSpPr>
          <p:cNvPr id="26" name="Shape 24"/>
          <p:cNvSpPr/>
          <p:nvPr/>
        </p:nvSpPr>
        <p:spPr>
          <a:xfrm>
            <a:off x="822960" y="3246120"/>
            <a:ext cx="402336" cy="365760"/>
          </a:xfrm>
          <a:prstGeom prst="roundRect">
            <a:avLst>
              <a:gd name="adj" fmla="val 17500"/>
            </a:avLst>
          </a:prstGeom>
          <a:solidFill>
            <a:srgbClr val="00A39B"/>
          </a:solidFill>
          <a:ln/>
        </p:spPr>
      </p:sp>
      <p:sp>
        <p:nvSpPr>
          <p:cNvPr id="27" name="Text 25"/>
          <p:cNvSpPr/>
          <p:nvPr/>
        </p:nvSpPr>
        <p:spPr>
          <a:xfrm>
            <a:off x="822960" y="3246120"/>
            <a:ext cx="402336"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28" name="Text 26"/>
          <p:cNvSpPr/>
          <p:nvPr/>
        </p:nvSpPr>
        <p:spPr>
          <a:xfrm>
            <a:off x="1371600" y="3163824"/>
            <a:ext cx="5852160" cy="274320"/>
          </a:xfrm>
          <a:prstGeom prst="rect">
            <a:avLst/>
          </a:prstGeom>
          <a:noFill/>
          <a:ln/>
        </p:spPr>
        <p:txBody>
          <a:bodyPr wrap="square" lIns="0" tIns="0" rIns="0" bIns="0" rtlCol="0" anchor="ctr"/>
          <a:lstStyle/>
          <a:p>
            <a:pPr indent="0" marL="0">
              <a:buNone/>
            </a:pPr>
            <a:r>
              <a:rPr lang="en-US" sz="1150" b="1" dirty="0">
                <a:solidFill>
                  <a:srgbClr val="15191F"/>
                </a:solidFill>
                <a:latin typeface="Calibri" pitchFamily="34" charset="0"/>
                <a:ea typeface="Calibri" pitchFamily="34" charset="-122"/>
                <a:cs typeface="Calibri" pitchFamily="34" charset="-120"/>
              </a:rPr>
              <a:t>Benchmark hardware vs software; compute the Fmax ratio</a:t>
            </a:r>
            <a:endParaRPr lang="en-US" sz="1150" dirty="0"/>
          </a:p>
        </p:txBody>
      </p:sp>
      <p:sp>
        <p:nvSpPr>
          <p:cNvPr id="29" name="Text 27"/>
          <p:cNvSpPr/>
          <p:nvPr/>
        </p:nvSpPr>
        <p:spPr>
          <a:xfrm>
            <a:off x="1371600" y="3456432"/>
            <a:ext cx="5852160" cy="256032"/>
          </a:xfrm>
          <a:prstGeom prst="rect">
            <a:avLst/>
          </a:prstGeom>
          <a:noFill/>
          <a:ln/>
        </p:spPr>
        <p:txBody>
          <a:bodyPr wrap="square" lIns="0" tIns="0" rIns="0" bIns="0" rtlCol="0" anchor="ctr"/>
          <a:lstStyle/>
          <a:p>
            <a:pPr indent="0" marL="0">
              <a:buNone/>
            </a:pPr>
            <a:r>
              <a:rPr lang="en-US" sz="950" i="1" dirty="0">
                <a:solidFill>
                  <a:srgbClr val="5F6B76"/>
                </a:solidFill>
                <a:latin typeface="Calibri" pitchFamily="34" charset="0"/>
                <a:ea typeface="Calibri" pitchFamily="34" charset="-122"/>
                <a:cs typeface="Calibri" pitchFamily="34" charset="-120"/>
              </a:rPr>
              <a:t>Results table complete</a:t>
            </a:r>
            <a:endParaRPr lang="en-US" sz="950" dirty="0"/>
          </a:p>
        </p:txBody>
      </p:sp>
      <p:sp>
        <p:nvSpPr>
          <p:cNvPr id="30" name="Text 28"/>
          <p:cNvSpPr/>
          <p:nvPr/>
        </p:nvSpPr>
        <p:spPr>
          <a:xfrm>
            <a:off x="9692640" y="3246120"/>
            <a:ext cx="1737360" cy="365760"/>
          </a:xfrm>
          <a:prstGeom prst="rect">
            <a:avLst/>
          </a:prstGeom>
          <a:noFill/>
          <a:ln/>
        </p:spPr>
        <p:txBody>
          <a:bodyPr wrap="square" lIns="0" tIns="0" rIns="0" bIns="0" rtlCol="0" anchor="ctr"/>
          <a:lstStyle/>
          <a:p>
            <a:pPr algn="r" indent="0" marL="0">
              <a:buNone/>
            </a:pPr>
            <a:r>
              <a:rPr lang="en-US" sz="1000" b="1" dirty="0">
                <a:solidFill>
                  <a:srgbClr val="00756F"/>
                </a:solidFill>
                <a:latin typeface="Calibri" pitchFamily="34" charset="0"/>
                <a:ea typeface="Calibri" pitchFamily="34" charset="-122"/>
                <a:cs typeface="Calibri" pitchFamily="34" charset="-120"/>
              </a:rPr>
              <a:t>has slack</a:t>
            </a:r>
            <a:endParaRPr lang="en-US" sz="1000" dirty="0"/>
          </a:p>
        </p:txBody>
      </p:sp>
      <p:sp>
        <p:nvSpPr>
          <p:cNvPr id="31" name="Shape 29"/>
          <p:cNvSpPr/>
          <p:nvPr/>
        </p:nvSpPr>
        <p:spPr>
          <a:xfrm>
            <a:off x="640080" y="3895344"/>
            <a:ext cx="10972800" cy="713232"/>
          </a:xfrm>
          <a:prstGeom prst="roundRect">
            <a:avLst>
              <a:gd name="adj" fmla="val 5128"/>
            </a:avLst>
          </a:prstGeom>
          <a:solidFill>
            <a:srgbClr val="F9FAFC"/>
          </a:solidFill>
          <a:ln w="9525">
            <a:solidFill>
              <a:srgbClr val="DAE0E6"/>
            </a:solidFill>
            <a:prstDash val="solid"/>
          </a:ln>
        </p:spPr>
      </p:sp>
      <p:sp>
        <p:nvSpPr>
          <p:cNvPr id="32" name="Shape 30"/>
          <p:cNvSpPr/>
          <p:nvPr/>
        </p:nvSpPr>
        <p:spPr>
          <a:xfrm>
            <a:off x="822960" y="4069080"/>
            <a:ext cx="402336" cy="365760"/>
          </a:xfrm>
          <a:prstGeom prst="roundRect">
            <a:avLst>
              <a:gd name="adj" fmla="val 17500"/>
            </a:avLst>
          </a:prstGeom>
          <a:solidFill>
            <a:srgbClr val="00A39B"/>
          </a:solidFill>
          <a:ln/>
        </p:spPr>
      </p:sp>
      <p:sp>
        <p:nvSpPr>
          <p:cNvPr id="33" name="Text 31"/>
          <p:cNvSpPr/>
          <p:nvPr/>
        </p:nvSpPr>
        <p:spPr>
          <a:xfrm>
            <a:off x="822960" y="4069080"/>
            <a:ext cx="402336"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11</a:t>
            </a:r>
            <a:endParaRPr lang="en-US" sz="1100" dirty="0"/>
          </a:p>
        </p:txBody>
      </p:sp>
      <p:sp>
        <p:nvSpPr>
          <p:cNvPr id="34" name="Text 32"/>
          <p:cNvSpPr/>
          <p:nvPr/>
        </p:nvSpPr>
        <p:spPr>
          <a:xfrm>
            <a:off x="1371600" y="3986784"/>
            <a:ext cx="5852160" cy="274320"/>
          </a:xfrm>
          <a:prstGeom prst="rect">
            <a:avLst/>
          </a:prstGeom>
          <a:noFill/>
          <a:ln/>
        </p:spPr>
        <p:txBody>
          <a:bodyPr wrap="square" lIns="0" tIns="0" rIns="0" bIns="0" rtlCol="0" anchor="ctr"/>
          <a:lstStyle/>
          <a:p>
            <a:pPr indent="0" marL="0">
              <a:buNone/>
            </a:pPr>
            <a:r>
              <a:rPr lang="en-US" sz="1150" b="1" dirty="0">
                <a:solidFill>
                  <a:srgbClr val="15191F"/>
                </a:solidFill>
                <a:latin typeface="Calibri" pitchFamily="34" charset="0"/>
                <a:ea typeface="Calibri" pitchFamily="34" charset="-122"/>
                <a:cs typeface="Calibri" pitchFamily="34" charset="-120"/>
              </a:rPr>
              <a:t>Capture waveforms; draft the report</a:t>
            </a:r>
            <a:endParaRPr lang="en-US" sz="1150" dirty="0"/>
          </a:p>
        </p:txBody>
      </p:sp>
      <p:sp>
        <p:nvSpPr>
          <p:cNvPr id="35" name="Text 33"/>
          <p:cNvSpPr/>
          <p:nvPr/>
        </p:nvSpPr>
        <p:spPr>
          <a:xfrm>
            <a:off x="1371600" y="4279392"/>
            <a:ext cx="5852160" cy="256032"/>
          </a:xfrm>
          <a:prstGeom prst="rect">
            <a:avLst/>
          </a:prstGeom>
          <a:noFill/>
          <a:ln/>
        </p:spPr>
        <p:txBody>
          <a:bodyPr wrap="square" lIns="0" tIns="0" rIns="0" bIns="0" rtlCol="0" anchor="ctr"/>
          <a:lstStyle/>
          <a:p>
            <a:pPr indent="0" marL="0">
              <a:buNone/>
            </a:pPr>
            <a:r>
              <a:rPr lang="en-US" sz="950" i="1" dirty="0">
                <a:solidFill>
                  <a:srgbClr val="5F6B76"/>
                </a:solidFill>
                <a:latin typeface="Calibri" pitchFamily="34" charset="0"/>
                <a:ea typeface="Calibri" pitchFamily="34" charset="-122"/>
                <a:cs typeface="Calibri" pitchFamily="34" charset="-120"/>
              </a:rPr>
              <a:t>Five waveforms captured, draft complete</a:t>
            </a:r>
            <a:endParaRPr lang="en-US" sz="950" dirty="0"/>
          </a:p>
        </p:txBody>
      </p:sp>
      <p:sp>
        <p:nvSpPr>
          <p:cNvPr id="36" name="Text 34"/>
          <p:cNvSpPr/>
          <p:nvPr/>
        </p:nvSpPr>
        <p:spPr>
          <a:xfrm>
            <a:off x="9692640" y="4069080"/>
            <a:ext cx="1737360" cy="365760"/>
          </a:xfrm>
          <a:prstGeom prst="rect">
            <a:avLst/>
          </a:prstGeom>
          <a:noFill/>
          <a:ln/>
        </p:spPr>
        <p:txBody>
          <a:bodyPr wrap="square" lIns="0" tIns="0" rIns="0" bIns="0" rtlCol="0" anchor="ctr"/>
          <a:lstStyle/>
          <a:p>
            <a:pPr algn="r" indent="0" marL="0">
              <a:buNone/>
            </a:pPr>
            <a:r>
              <a:rPr lang="en-US" sz="1000" b="1" dirty="0">
                <a:solidFill>
                  <a:srgbClr val="00756F"/>
                </a:solidFill>
                <a:latin typeface="Calibri" pitchFamily="34" charset="0"/>
                <a:ea typeface="Calibri" pitchFamily="34" charset="-122"/>
                <a:cs typeface="Calibri" pitchFamily="34" charset="-120"/>
              </a:rPr>
              <a:t>has slack</a:t>
            </a:r>
            <a:endParaRPr lang="en-US" sz="1000" dirty="0"/>
          </a:p>
        </p:txBody>
      </p:sp>
      <p:sp>
        <p:nvSpPr>
          <p:cNvPr id="37" name="Shape 35"/>
          <p:cNvSpPr/>
          <p:nvPr/>
        </p:nvSpPr>
        <p:spPr>
          <a:xfrm>
            <a:off x="640080" y="4718304"/>
            <a:ext cx="10972800" cy="713232"/>
          </a:xfrm>
          <a:prstGeom prst="roundRect">
            <a:avLst>
              <a:gd name="adj" fmla="val 5128"/>
            </a:avLst>
          </a:prstGeom>
          <a:solidFill>
            <a:srgbClr val="F9FAFC"/>
          </a:solidFill>
          <a:ln w="9525">
            <a:solidFill>
              <a:srgbClr val="DAE0E6"/>
            </a:solidFill>
            <a:prstDash val="solid"/>
          </a:ln>
        </p:spPr>
      </p:sp>
      <p:sp>
        <p:nvSpPr>
          <p:cNvPr id="38" name="Shape 36"/>
          <p:cNvSpPr/>
          <p:nvPr/>
        </p:nvSpPr>
        <p:spPr>
          <a:xfrm>
            <a:off x="822960" y="4892040"/>
            <a:ext cx="402336" cy="365760"/>
          </a:xfrm>
          <a:prstGeom prst="roundRect">
            <a:avLst>
              <a:gd name="adj" fmla="val 17500"/>
            </a:avLst>
          </a:prstGeom>
          <a:solidFill>
            <a:srgbClr val="00A39B"/>
          </a:solidFill>
          <a:ln/>
        </p:spPr>
      </p:sp>
      <p:sp>
        <p:nvSpPr>
          <p:cNvPr id="39" name="Text 37"/>
          <p:cNvSpPr/>
          <p:nvPr/>
        </p:nvSpPr>
        <p:spPr>
          <a:xfrm>
            <a:off x="822960" y="4892040"/>
            <a:ext cx="402336"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12</a:t>
            </a:r>
            <a:endParaRPr lang="en-US" sz="1100" dirty="0"/>
          </a:p>
        </p:txBody>
      </p:sp>
      <p:sp>
        <p:nvSpPr>
          <p:cNvPr id="40" name="Text 38"/>
          <p:cNvSpPr/>
          <p:nvPr/>
        </p:nvSpPr>
        <p:spPr>
          <a:xfrm>
            <a:off x="1371600" y="4809744"/>
            <a:ext cx="5852160" cy="274320"/>
          </a:xfrm>
          <a:prstGeom prst="rect">
            <a:avLst/>
          </a:prstGeom>
          <a:noFill/>
          <a:ln/>
        </p:spPr>
        <p:txBody>
          <a:bodyPr wrap="square" lIns="0" tIns="0" rIns="0" bIns="0" rtlCol="0" anchor="ctr"/>
          <a:lstStyle/>
          <a:p>
            <a:pPr indent="0" marL="0">
              <a:buNone/>
            </a:pPr>
            <a:r>
              <a:rPr lang="en-US" sz="1150" b="1" dirty="0">
                <a:solidFill>
                  <a:srgbClr val="15191F"/>
                </a:solidFill>
                <a:latin typeface="Calibri" pitchFamily="34" charset="0"/>
                <a:ea typeface="Calibri" pitchFamily="34" charset="-122"/>
                <a:cs typeface="Calibri" pitchFamily="34" charset="-120"/>
              </a:rPr>
              <a:t>Slides, demo rehearsal, final submission</a:t>
            </a:r>
            <a:endParaRPr lang="en-US" sz="1150" dirty="0"/>
          </a:p>
        </p:txBody>
      </p:sp>
      <p:sp>
        <p:nvSpPr>
          <p:cNvPr id="41" name="Text 39"/>
          <p:cNvSpPr/>
          <p:nvPr/>
        </p:nvSpPr>
        <p:spPr>
          <a:xfrm>
            <a:off x="1371600" y="5102352"/>
            <a:ext cx="5852160" cy="256032"/>
          </a:xfrm>
          <a:prstGeom prst="rect">
            <a:avLst/>
          </a:prstGeom>
          <a:noFill/>
          <a:ln/>
        </p:spPr>
        <p:txBody>
          <a:bodyPr wrap="square" lIns="0" tIns="0" rIns="0" bIns="0" rtlCol="0" anchor="ctr"/>
          <a:lstStyle/>
          <a:p>
            <a:pPr indent="0" marL="0">
              <a:buNone/>
            </a:pPr>
            <a:r>
              <a:rPr lang="en-US" sz="950" i="1" dirty="0">
                <a:solidFill>
                  <a:srgbClr val="5F6B76"/>
                </a:solidFill>
                <a:latin typeface="Calibri" pitchFamily="34" charset="0"/>
                <a:ea typeface="Calibri" pitchFamily="34" charset="-122"/>
                <a:cs typeface="Calibri" pitchFamily="34" charset="-120"/>
              </a:rPr>
              <a:t>All deliverables submitted</a:t>
            </a:r>
            <a:endParaRPr lang="en-US" sz="950" dirty="0"/>
          </a:p>
        </p:txBody>
      </p:sp>
      <p:sp>
        <p:nvSpPr>
          <p:cNvPr id="42" name="Text 40"/>
          <p:cNvSpPr/>
          <p:nvPr/>
        </p:nvSpPr>
        <p:spPr>
          <a:xfrm>
            <a:off x="9692640" y="4892040"/>
            <a:ext cx="1737360" cy="365760"/>
          </a:xfrm>
          <a:prstGeom prst="rect">
            <a:avLst/>
          </a:prstGeom>
          <a:noFill/>
          <a:ln/>
        </p:spPr>
        <p:txBody>
          <a:bodyPr wrap="square" lIns="0" tIns="0" rIns="0" bIns="0" rtlCol="0" anchor="ctr"/>
          <a:lstStyle/>
          <a:p>
            <a:pPr algn="r" indent="0" marL="0">
              <a:buNone/>
            </a:pPr>
            <a:r>
              <a:rPr lang="en-US" sz="1000" b="1" dirty="0">
                <a:solidFill>
                  <a:srgbClr val="00756F"/>
                </a:solidFill>
                <a:latin typeface="Calibri" pitchFamily="34" charset="0"/>
                <a:ea typeface="Calibri" pitchFamily="34" charset="-122"/>
                <a:cs typeface="Calibri" pitchFamily="34" charset="-120"/>
              </a:rPr>
              <a:t>has slack</a:t>
            </a:r>
            <a:endParaRPr lang="en-US" sz="1000" dirty="0"/>
          </a:p>
        </p:txBody>
      </p:sp>
      <p:sp>
        <p:nvSpPr>
          <p:cNvPr id="43" name="Shape 41"/>
          <p:cNvSpPr/>
          <p:nvPr/>
        </p:nvSpPr>
        <p:spPr>
          <a:xfrm>
            <a:off x="640080" y="5632704"/>
            <a:ext cx="10972800" cy="640080"/>
          </a:xfrm>
          <a:prstGeom prst="roundRect">
            <a:avLst>
              <a:gd name="adj" fmla="val 5714"/>
            </a:avLst>
          </a:prstGeom>
          <a:solidFill>
            <a:srgbClr val="FBF3E6"/>
          </a:solidFill>
          <a:ln/>
          <a:effectLst>
            <a:outerShdw sx="100000" sy="100000" kx="0" ky="0" algn="bl" rotWithShape="0" blurRad="76200" dist="12700" dir="5400000">
              <a:srgbClr val="A6AFB8">
                <a:alpha val="25000"/>
              </a:srgbClr>
            </a:outerShdw>
          </a:effectLst>
        </p:spPr>
      </p:sp>
      <p:sp>
        <p:nvSpPr>
          <p:cNvPr id="44" name="Text 42"/>
          <p:cNvSpPr/>
          <p:nvPr/>
        </p:nvSpPr>
        <p:spPr>
          <a:xfrm>
            <a:off x="868680" y="5632704"/>
            <a:ext cx="10515600" cy="640080"/>
          </a:xfrm>
          <a:prstGeom prst="rect">
            <a:avLst/>
          </a:prstGeom>
          <a:noFill/>
          <a:ln/>
        </p:spPr>
        <p:txBody>
          <a:bodyPr wrap="square" lIns="0" tIns="0" rIns="0" bIns="0" rtlCol="0" anchor="ctr"/>
          <a:lstStyle/>
          <a:p>
            <a:pPr indent="0" marL="0">
              <a:buNone/>
            </a:pPr>
            <a:r>
              <a:rPr lang="en-US" sz="1050" dirty="0">
                <a:solidFill>
                  <a:srgbClr val="15191F"/>
                </a:solidFill>
                <a:latin typeface="Calibri" pitchFamily="34" charset="0"/>
                <a:ea typeface="Calibri" pitchFamily="34" charset="-122"/>
                <a:cs typeface="Calibri" pitchFamily="34" charset="-120"/>
              </a:rPr>
              <a:t>Weeks 8 and 9 are the only ones on the critical path. Everything after them is analysis and writing, both of which can absorb delay. If board access slips, the fallback is to report synthesis results only and present the hardware demo at Review 3.</a:t>
            </a:r>
            <a:endParaRPr lang="en-US" sz="1050" dirty="0"/>
          </a:p>
        </p:txBody>
      </p:sp>
      <p:sp>
        <p:nvSpPr>
          <p:cNvPr id="45" name="Text 43"/>
          <p:cNvSpPr/>
          <p:nvPr/>
        </p:nvSpPr>
        <p:spPr>
          <a:xfrm>
            <a:off x="548640" y="6419088"/>
            <a:ext cx="11064240" cy="274320"/>
          </a:xfrm>
          <a:prstGeom prst="rect">
            <a:avLst/>
          </a:prstGeom>
          <a:noFill/>
          <a:ln/>
        </p:spPr>
        <p:txBody>
          <a:bodyPr wrap="square" lIns="0" tIns="0" rIns="0" bIns="0" rtlCol="0" anchor="ctr"/>
          <a:lstStyle/>
          <a:p>
            <a:pPr algn="r" indent="0" marL="0">
              <a:buNone/>
            </a:pPr>
            <a:r>
              <a:rPr lang="en-US" sz="900" dirty="0">
                <a:solidFill>
                  <a:srgbClr val="97A2AC"/>
                </a:solidFill>
                <a:latin typeface="Calibri" pitchFamily="34" charset="0"/>
                <a:ea typeface="Calibri" pitchFamily="34" charset="-122"/>
                <a:cs typeface="Calibri" pitchFamily="34" charset="-120"/>
              </a:rPr>
              <a:t>Review 2  ·  Amritha S  ·  23BEC1368  ·  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66928" y="512064"/>
            <a:ext cx="91440" cy="91440"/>
          </a:xfrm>
          <a:prstGeom prst="rect">
            <a:avLst/>
          </a:prstGeom>
          <a:solidFill>
            <a:srgbClr val="00A39B"/>
          </a:solidFill>
          <a:ln/>
        </p:spPr>
      </p:sp>
      <p:sp>
        <p:nvSpPr>
          <p:cNvPr id="3" name="Shape 1"/>
          <p:cNvSpPr/>
          <p:nvPr/>
        </p:nvSpPr>
        <p:spPr>
          <a:xfrm>
            <a:off x="691286" y="512064"/>
            <a:ext cx="91440" cy="91440"/>
          </a:xfrm>
          <a:prstGeom prst="rect">
            <a:avLst/>
          </a:prstGeom>
          <a:solidFill>
            <a:srgbClr val="C2CBD4"/>
          </a:solidFill>
          <a:ln/>
        </p:spPr>
      </p:sp>
      <p:sp>
        <p:nvSpPr>
          <p:cNvPr id="4" name="Shape 2"/>
          <p:cNvSpPr/>
          <p:nvPr/>
        </p:nvSpPr>
        <p:spPr>
          <a:xfrm>
            <a:off x="815645" y="512064"/>
            <a:ext cx="91440" cy="91440"/>
          </a:xfrm>
          <a:prstGeom prst="rect">
            <a:avLst/>
          </a:prstGeom>
          <a:solidFill>
            <a:srgbClr val="C2CBD4"/>
          </a:solidFill>
          <a:ln/>
        </p:spPr>
      </p:sp>
      <p:sp>
        <p:nvSpPr>
          <p:cNvPr id="5" name="Shape 3"/>
          <p:cNvSpPr/>
          <p:nvPr/>
        </p:nvSpPr>
        <p:spPr>
          <a:xfrm>
            <a:off x="940003" y="512064"/>
            <a:ext cx="91440" cy="91440"/>
          </a:xfrm>
          <a:prstGeom prst="rect">
            <a:avLst/>
          </a:prstGeom>
          <a:solidFill>
            <a:srgbClr val="C2CBD4"/>
          </a:solidFill>
          <a:ln/>
        </p:spPr>
      </p:sp>
      <p:sp>
        <p:nvSpPr>
          <p:cNvPr id="6" name="Shape 4"/>
          <p:cNvSpPr/>
          <p:nvPr/>
        </p:nvSpPr>
        <p:spPr>
          <a:xfrm>
            <a:off x="1064362" y="512064"/>
            <a:ext cx="91440" cy="91440"/>
          </a:xfrm>
          <a:prstGeom prst="rect">
            <a:avLst/>
          </a:prstGeom>
          <a:solidFill>
            <a:srgbClr val="00A39B"/>
          </a:solidFill>
          <a:ln/>
        </p:spPr>
      </p:sp>
      <p:sp>
        <p:nvSpPr>
          <p:cNvPr id="7" name="Shape 5"/>
          <p:cNvSpPr/>
          <p:nvPr/>
        </p:nvSpPr>
        <p:spPr>
          <a:xfrm>
            <a:off x="1188720" y="512064"/>
            <a:ext cx="91440" cy="91440"/>
          </a:xfrm>
          <a:prstGeom prst="rect">
            <a:avLst/>
          </a:prstGeom>
          <a:solidFill>
            <a:srgbClr val="C2CBD4"/>
          </a:solidFill>
          <a:ln/>
        </p:spPr>
      </p:sp>
      <p:sp>
        <p:nvSpPr>
          <p:cNvPr id="8" name="Shape 6"/>
          <p:cNvSpPr/>
          <p:nvPr/>
        </p:nvSpPr>
        <p:spPr>
          <a:xfrm>
            <a:off x="1313078" y="512064"/>
            <a:ext cx="91440" cy="91440"/>
          </a:xfrm>
          <a:prstGeom prst="rect">
            <a:avLst/>
          </a:prstGeom>
          <a:solidFill>
            <a:srgbClr val="C2CBD4"/>
          </a:solidFill>
          <a:ln/>
        </p:spPr>
      </p:sp>
      <p:sp>
        <p:nvSpPr>
          <p:cNvPr id="9" name="Shape 7"/>
          <p:cNvSpPr/>
          <p:nvPr/>
        </p:nvSpPr>
        <p:spPr>
          <a:xfrm>
            <a:off x="1437437" y="512064"/>
            <a:ext cx="91440" cy="91440"/>
          </a:xfrm>
          <a:prstGeom prst="rect">
            <a:avLst/>
          </a:prstGeom>
          <a:solidFill>
            <a:srgbClr val="C2CBD4"/>
          </a:solidFill>
          <a:ln/>
        </p:spPr>
      </p:sp>
      <p:sp>
        <p:nvSpPr>
          <p:cNvPr id="10" name="Text 8"/>
          <p:cNvSpPr/>
          <p:nvPr/>
        </p:nvSpPr>
        <p:spPr>
          <a:xfrm>
            <a:off x="1517904" y="310896"/>
            <a:ext cx="10058400" cy="530352"/>
          </a:xfrm>
          <a:prstGeom prst="rect">
            <a:avLst/>
          </a:prstGeom>
          <a:noFill/>
          <a:ln/>
        </p:spPr>
        <p:txBody>
          <a:bodyPr wrap="square" lIns="0" tIns="0" rIns="0" bIns="0" rtlCol="0" anchor="ctr"/>
          <a:lstStyle/>
          <a:p>
            <a:pPr algn="l" indent="0" marL="0">
              <a:buNone/>
            </a:pPr>
            <a:r>
              <a:rPr lang="en-US" sz="2600" b="1" dirty="0">
                <a:solidFill>
                  <a:srgbClr val="2B4257"/>
                </a:solidFill>
                <a:latin typeface="Cambria" pitchFamily="34" charset="0"/>
                <a:ea typeface="Cambria" pitchFamily="34" charset="-122"/>
                <a:cs typeface="Cambria" pitchFamily="34" charset="-120"/>
              </a:rPr>
              <a:t>Risk Register — Updated</a:t>
            </a:r>
            <a:endParaRPr lang="en-US" sz="2600" dirty="0"/>
          </a:p>
        </p:txBody>
      </p:sp>
      <p:sp>
        <p:nvSpPr>
          <p:cNvPr id="11" name="Text 9"/>
          <p:cNvSpPr/>
          <p:nvPr/>
        </p:nvSpPr>
        <p:spPr>
          <a:xfrm>
            <a:off x="10972800" y="347472"/>
            <a:ext cx="640080" cy="365760"/>
          </a:xfrm>
          <a:prstGeom prst="rect">
            <a:avLst/>
          </a:prstGeom>
          <a:noFill/>
          <a:ln/>
        </p:spPr>
        <p:txBody>
          <a:bodyPr wrap="square" lIns="0" tIns="0" rIns="0" bIns="0" rtlCol="0" anchor="ctr"/>
          <a:lstStyle/>
          <a:p>
            <a:pPr algn="r" indent="0" marL="0">
              <a:buNone/>
            </a:pPr>
            <a:r>
              <a:rPr lang="en-US" sz="1100" b="1" dirty="0">
                <a:solidFill>
                  <a:srgbClr val="00A39B"/>
                </a:solidFill>
                <a:latin typeface="Calibri" pitchFamily="34" charset="0"/>
                <a:ea typeface="Calibri" pitchFamily="34" charset="-122"/>
                <a:cs typeface="Calibri" pitchFamily="34" charset="-120"/>
              </a:rPr>
              <a:t>10</a:t>
            </a:r>
            <a:endParaRPr lang="en-US" sz="1100" dirty="0"/>
          </a:p>
        </p:txBody>
      </p:sp>
      <p:sp>
        <p:nvSpPr>
          <p:cNvPr id="12" name="Text 10"/>
          <p:cNvSpPr/>
          <p:nvPr/>
        </p:nvSpPr>
        <p:spPr>
          <a:xfrm>
            <a:off x="1536192" y="841248"/>
            <a:ext cx="10058400" cy="274320"/>
          </a:xfrm>
          <a:prstGeom prst="rect">
            <a:avLst/>
          </a:prstGeom>
          <a:noFill/>
          <a:ln/>
        </p:spPr>
        <p:txBody>
          <a:bodyPr wrap="square" lIns="0" tIns="0" rIns="0" bIns="0" rtlCol="0" anchor="ctr"/>
          <a:lstStyle/>
          <a:p>
            <a:pPr algn="l" indent="0" marL="0">
              <a:buNone/>
            </a:pPr>
            <a:r>
              <a:rPr lang="en-US" sz="1250" i="1" dirty="0">
                <a:solidFill>
                  <a:srgbClr val="5F6B76"/>
                </a:solidFill>
                <a:latin typeface="Calibri" pitchFamily="34" charset="0"/>
                <a:ea typeface="Calibri" pitchFamily="34" charset="-122"/>
                <a:cs typeface="Calibri" pitchFamily="34" charset="-120"/>
              </a:rPr>
              <a:t>Four of the seven Review 1 risks are now retired</a:t>
            </a:r>
            <a:endParaRPr lang="en-US" sz="1250" dirty="0"/>
          </a:p>
        </p:txBody>
      </p:sp>
      <p:sp>
        <p:nvSpPr>
          <p:cNvPr id="13" name="Shape 11"/>
          <p:cNvSpPr/>
          <p:nvPr/>
        </p:nvSpPr>
        <p:spPr>
          <a:xfrm>
            <a:off x="640080" y="1426464"/>
            <a:ext cx="10972800" cy="585216"/>
          </a:xfrm>
          <a:prstGeom prst="roundRect">
            <a:avLst>
              <a:gd name="adj" fmla="val 6250"/>
            </a:avLst>
          </a:prstGeom>
          <a:solidFill>
            <a:srgbClr val="EEF1F4"/>
          </a:solidFill>
          <a:ln w="9525">
            <a:solidFill>
              <a:srgbClr val="DAE0E6"/>
            </a:solidFill>
            <a:prstDash val="solid"/>
          </a:ln>
        </p:spPr>
      </p:sp>
      <p:sp>
        <p:nvSpPr>
          <p:cNvPr id="14" name="Shape 12"/>
          <p:cNvSpPr/>
          <p:nvPr/>
        </p:nvSpPr>
        <p:spPr>
          <a:xfrm>
            <a:off x="822960" y="1563624"/>
            <a:ext cx="310896" cy="310896"/>
          </a:xfrm>
          <a:prstGeom prst="ellipse">
            <a:avLst/>
          </a:prstGeom>
          <a:solidFill>
            <a:srgbClr val="00A39B"/>
          </a:solidFill>
          <a:ln/>
        </p:spPr>
      </p:sp>
      <p:sp>
        <p:nvSpPr>
          <p:cNvPr id="15" name="Text 13"/>
          <p:cNvSpPr/>
          <p:nvPr/>
        </p:nvSpPr>
        <p:spPr>
          <a:xfrm>
            <a:off x="822960" y="1563624"/>
            <a:ext cx="310896" cy="31089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R1</a:t>
            </a:r>
            <a:endParaRPr lang="en-US" sz="800" dirty="0"/>
          </a:p>
        </p:txBody>
      </p:sp>
      <p:sp>
        <p:nvSpPr>
          <p:cNvPr id="16" name="Text 14"/>
          <p:cNvSpPr/>
          <p:nvPr/>
        </p:nvSpPr>
        <p:spPr>
          <a:xfrm>
            <a:off x="1280160" y="1463040"/>
            <a:ext cx="3017520" cy="512064"/>
          </a:xfrm>
          <a:prstGeom prst="rect">
            <a:avLst/>
          </a:prstGeom>
          <a:noFill/>
          <a:ln/>
        </p:spPr>
        <p:txBody>
          <a:bodyPr wrap="square" lIns="0" tIns="0" rIns="0" bIns="0" rtlCol="0" anchor="ctr"/>
          <a:lstStyle/>
          <a:p>
            <a:pPr indent="0" marL="0">
              <a:buNone/>
            </a:pPr>
            <a:r>
              <a:rPr lang="en-US" sz="1050" b="1" dirty="0">
                <a:solidFill>
                  <a:srgbClr val="15191F"/>
                </a:solidFill>
                <a:latin typeface="Calibri" pitchFamily="34" charset="0"/>
                <a:ea typeface="Calibri" pitchFamily="34" charset="-122"/>
                <a:cs typeface="Calibri" pitchFamily="34" charset="-120"/>
              </a:rPr>
              <a:t>Big-endian word ordering</a:t>
            </a:r>
            <a:endParaRPr lang="en-US" sz="1050" dirty="0"/>
          </a:p>
        </p:txBody>
      </p:sp>
      <p:sp>
        <p:nvSpPr>
          <p:cNvPr id="17" name="Text 15"/>
          <p:cNvSpPr/>
          <p:nvPr/>
        </p:nvSpPr>
        <p:spPr>
          <a:xfrm>
            <a:off x="4389120" y="1463040"/>
            <a:ext cx="1097280" cy="512064"/>
          </a:xfrm>
          <a:prstGeom prst="rect">
            <a:avLst/>
          </a:prstGeom>
          <a:noFill/>
          <a:ln/>
        </p:spPr>
        <p:txBody>
          <a:bodyPr wrap="square" lIns="0" tIns="0" rIns="0" bIns="0" rtlCol="0" anchor="ctr"/>
          <a:lstStyle/>
          <a:p>
            <a:pPr indent="0" marL="0">
              <a:buNone/>
            </a:pPr>
            <a:r>
              <a:rPr lang="en-US" sz="950" b="1" dirty="0">
                <a:solidFill>
                  <a:srgbClr val="00A39B"/>
                </a:solidFill>
                <a:latin typeface="Calibri" pitchFamily="34" charset="0"/>
                <a:ea typeface="Calibri" pitchFamily="34" charset="-122"/>
                <a:cs typeface="Calibri" pitchFamily="34" charset="-120"/>
              </a:rPr>
              <a:t>RETIRED</a:t>
            </a:r>
            <a:endParaRPr lang="en-US" sz="950" dirty="0"/>
          </a:p>
        </p:txBody>
      </p:sp>
      <p:sp>
        <p:nvSpPr>
          <p:cNvPr id="18" name="Text 16"/>
          <p:cNvSpPr/>
          <p:nvPr/>
        </p:nvSpPr>
        <p:spPr>
          <a:xfrm>
            <a:off x="5577840" y="1463040"/>
            <a:ext cx="5852160" cy="512064"/>
          </a:xfrm>
          <a:prstGeom prst="rect">
            <a:avLst/>
          </a:prstGeom>
          <a:noFill/>
          <a:ln/>
        </p:spPr>
        <p:txBody>
          <a:bodyPr wrap="square" lIns="0" tIns="0" rIns="0" bIns="0" rtlCol="0" anchor="ctr"/>
          <a:lstStyle/>
          <a:p>
            <a:pPr indent="0" marL="0">
              <a:buNone/>
            </a:pPr>
            <a:r>
              <a:rPr lang="en-US" sz="900" dirty="0">
                <a:solidFill>
                  <a:srgbClr val="5F6B76"/>
                </a:solidFill>
                <a:latin typeface="Calibri" pitchFamily="34" charset="0"/>
                <a:ea typeface="Calibri" pitchFamily="34" charset="-122"/>
                <a:cs typeface="Calibri" pitchFamily="34" charset="-120"/>
              </a:rPr>
              <a:t>Verified over AXI with real streamed beats; per-round trace confirms W[t] at every round</a:t>
            </a:r>
            <a:endParaRPr lang="en-US" sz="900" dirty="0"/>
          </a:p>
        </p:txBody>
      </p:sp>
      <p:sp>
        <p:nvSpPr>
          <p:cNvPr id="19" name="Shape 17"/>
          <p:cNvSpPr/>
          <p:nvPr/>
        </p:nvSpPr>
        <p:spPr>
          <a:xfrm>
            <a:off x="640080" y="2084832"/>
            <a:ext cx="10972800" cy="585216"/>
          </a:xfrm>
          <a:prstGeom prst="roundRect">
            <a:avLst>
              <a:gd name="adj" fmla="val 6250"/>
            </a:avLst>
          </a:prstGeom>
          <a:solidFill>
            <a:srgbClr val="F9FAFC"/>
          </a:solidFill>
          <a:ln w="9525">
            <a:solidFill>
              <a:srgbClr val="DAE0E6"/>
            </a:solidFill>
            <a:prstDash val="solid"/>
          </a:ln>
        </p:spPr>
      </p:sp>
      <p:sp>
        <p:nvSpPr>
          <p:cNvPr id="20" name="Shape 18"/>
          <p:cNvSpPr/>
          <p:nvPr/>
        </p:nvSpPr>
        <p:spPr>
          <a:xfrm>
            <a:off x="822960" y="2221992"/>
            <a:ext cx="310896" cy="310896"/>
          </a:xfrm>
          <a:prstGeom prst="ellipse">
            <a:avLst/>
          </a:prstGeom>
          <a:solidFill>
            <a:srgbClr val="00A39B"/>
          </a:solidFill>
          <a:ln/>
        </p:spPr>
      </p:sp>
      <p:sp>
        <p:nvSpPr>
          <p:cNvPr id="21" name="Text 19"/>
          <p:cNvSpPr/>
          <p:nvPr/>
        </p:nvSpPr>
        <p:spPr>
          <a:xfrm>
            <a:off x="822960" y="2221992"/>
            <a:ext cx="310896" cy="31089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R2</a:t>
            </a:r>
            <a:endParaRPr lang="en-US" sz="800" dirty="0"/>
          </a:p>
        </p:txBody>
      </p:sp>
      <p:sp>
        <p:nvSpPr>
          <p:cNvPr id="22" name="Text 20"/>
          <p:cNvSpPr/>
          <p:nvPr/>
        </p:nvSpPr>
        <p:spPr>
          <a:xfrm>
            <a:off x="1280160" y="2121408"/>
            <a:ext cx="3017520" cy="512064"/>
          </a:xfrm>
          <a:prstGeom prst="rect">
            <a:avLst/>
          </a:prstGeom>
          <a:noFill/>
          <a:ln/>
        </p:spPr>
        <p:txBody>
          <a:bodyPr wrap="square" lIns="0" tIns="0" rIns="0" bIns="0" rtlCol="0" anchor="ctr"/>
          <a:lstStyle/>
          <a:p>
            <a:pPr indent="0" marL="0">
              <a:buNone/>
            </a:pPr>
            <a:r>
              <a:rPr lang="en-US" sz="1050" b="1" dirty="0">
                <a:solidFill>
                  <a:srgbClr val="15191F"/>
                </a:solidFill>
                <a:latin typeface="Calibri" pitchFamily="34" charset="0"/>
                <a:ea typeface="Calibri" pitchFamily="34" charset="-122"/>
                <a:cs typeface="Calibri" pitchFamily="34" charset="-120"/>
              </a:rPr>
              <a:t>Schedule window off-by-one</a:t>
            </a:r>
            <a:endParaRPr lang="en-US" sz="1050" dirty="0"/>
          </a:p>
        </p:txBody>
      </p:sp>
      <p:sp>
        <p:nvSpPr>
          <p:cNvPr id="23" name="Text 21"/>
          <p:cNvSpPr/>
          <p:nvPr/>
        </p:nvSpPr>
        <p:spPr>
          <a:xfrm>
            <a:off x="4389120" y="2121408"/>
            <a:ext cx="1097280" cy="512064"/>
          </a:xfrm>
          <a:prstGeom prst="rect">
            <a:avLst/>
          </a:prstGeom>
          <a:noFill/>
          <a:ln/>
        </p:spPr>
        <p:txBody>
          <a:bodyPr wrap="square" lIns="0" tIns="0" rIns="0" bIns="0" rtlCol="0" anchor="ctr"/>
          <a:lstStyle/>
          <a:p>
            <a:pPr indent="0" marL="0">
              <a:buNone/>
            </a:pPr>
            <a:r>
              <a:rPr lang="en-US" sz="950" b="1" dirty="0">
                <a:solidFill>
                  <a:srgbClr val="00A39B"/>
                </a:solidFill>
                <a:latin typeface="Calibri" pitchFamily="34" charset="0"/>
                <a:ea typeface="Calibri" pitchFamily="34" charset="-122"/>
                <a:cs typeface="Calibri" pitchFamily="34" charset="-120"/>
              </a:rPr>
              <a:t>RETIRED</a:t>
            </a:r>
            <a:endParaRPr lang="en-US" sz="950" dirty="0"/>
          </a:p>
        </p:txBody>
      </p:sp>
      <p:sp>
        <p:nvSpPr>
          <p:cNvPr id="24" name="Text 22"/>
          <p:cNvSpPr/>
          <p:nvPr/>
        </p:nvSpPr>
        <p:spPr>
          <a:xfrm>
            <a:off x="5577840" y="2121408"/>
            <a:ext cx="5852160" cy="512064"/>
          </a:xfrm>
          <a:prstGeom prst="rect">
            <a:avLst/>
          </a:prstGeom>
          <a:noFill/>
          <a:ln/>
        </p:spPr>
        <p:txBody>
          <a:bodyPr wrap="square" lIns="0" tIns="0" rIns="0" bIns="0" rtlCol="0" anchor="ctr"/>
          <a:lstStyle/>
          <a:p>
            <a:pPr indent="0" marL="0">
              <a:buNone/>
            </a:pPr>
            <a:r>
              <a:rPr lang="en-US" sz="900" dirty="0">
                <a:solidFill>
                  <a:srgbClr val="5F6B76"/>
                </a:solidFill>
                <a:latin typeface="Calibri" pitchFamily="34" charset="0"/>
                <a:ea typeface="Calibri" pitchFamily="34" charset="-122"/>
                <a:cs typeface="Calibri" pitchFamily="34" charset="-120"/>
              </a:rPr>
              <a:t>W[t] compared against the golden model at all 64 rounds</a:t>
            </a:r>
            <a:endParaRPr lang="en-US" sz="900" dirty="0"/>
          </a:p>
        </p:txBody>
      </p:sp>
      <p:sp>
        <p:nvSpPr>
          <p:cNvPr id="25" name="Shape 23"/>
          <p:cNvSpPr/>
          <p:nvPr/>
        </p:nvSpPr>
        <p:spPr>
          <a:xfrm>
            <a:off x="640080" y="2743200"/>
            <a:ext cx="10972800" cy="585216"/>
          </a:xfrm>
          <a:prstGeom prst="roundRect">
            <a:avLst>
              <a:gd name="adj" fmla="val 6250"/>
            </a:avLst>
          </a:prstGeom>
          <a:solidFill>
            <a:srgbClr val="EEF1F4"/>
          </a:solidFill>
          <a:ln w="9525">
            <a:solidFill>
              <a:srgbClr val="DAE0E6"/>
            </a:solidFill>
            <a:prstDash val="solid"/>
          </a:ln>
        </p:spPr>
      </p:sp>
      <p:sp>
        <p:nvSpPr>
          <p:cNvPr id="26" name="Shape 24"/>
          <p:cNvSpPr/>
          <p:nvPr/>
        </p:nvSpPr>
        <p:spPr>
          <a:xfrm>
            <a:off x="822960" y="2880360"/>
            <a:ext cx="310896" cy="310896"/>
          </a:xfrm>
          <a:prstGeom prst="ellipse">
            <a:avLst/>
          </a:prstGeom>
          <a:solidFill>
            <a:srgbClr val="00A39B"/>
          </a:solidFill>
          <a:ln/>
        </p:spPr>
      </p:sp>
      <p:sp>
        <p:nvSpPr>
          <p:cNvPr id="27" name="Text 25"/>
          <p:cNvSpPr/>
          <p:nvPr/>
        </p:nvSpPr>
        <p:spPr>
          <a:xfrm>
            <a:off x="822960" y="2880360"/>
            <a:ext cx="310896" cy="31089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R3</a:t>
            </a:r>
            <a:endParaRPr lang="en-US" sz="800" dirty="0"/>
          </a:p>
        </p:txBody>
      </p:sp>
      <p:sp>
        <p:nvSpPr>
          <p:cNvPr id="28" name="Text 26"/>
          <p:cNvSpPr/>
          <p:nvPr/>
        </p:nvSpPr>
        <p:spPr>
          <a:xfrm>
            <a:off x="1280160" y="2779776"/>
            <a:ext cx="3017520" cy="512064"/>
          </a:xfrm>
          <a:prstGeom prst="rect">
            <a:avLst/>
          </a:prstGeom>
          <a:noFill/>
          <a:ln/>
        </p:spPr>
        <p:txBody>
          <a:bodyPr wrap="square" lIns="0" tIns="0" rIns="0" bIns="0" rtlCol="0" anchor="ctr"/>
          <a:lstStyle/>
          <a:p>
            <a:pPr indent="0" marL="0">
              <a:buNone/>
            </a:pPr>
            <a:r>
              <a:rPr lang="en-US" sz="1050" b="1" dirty="0">
                <a:solidFill>
                  <a:srgbClr val="15191F"/>
                </a:solidFill>
                <a:latin typeface="Calibri" pitchFamily="34" charset="0"/>
                <a:ea typeface="Calibri" pitchFamily="34" charset="-122"/>
                <a:cs typeface="Calibri" pitchFamily="34" charset="-120"/>
              </a:rPr>
              <a:t>Missing final H accumulation</a:t>
            </a:r>
            <a:endParaRPr lang="en-US" sz="1050" dirty="0"/>
          </a:p>
        </p:txBody>
      </p:sp>
      <p:sp>
        <p:nvSpPr>
          <p:cNvPr id="29" name="Text 27"/>
          <p:cNvSpPr/>
          <p:nvPr/>
        </p:nvSpPr>
        <p:spPr>
          <a:xfrm>
            <a:off x="4389120" y="2779776"/>
            <a:ext cx="1097280" cy="512064"/>
          </a:xfrm>
          <a:prstGeom prst="rect">
            <a:avLst/>
          </a:prstGeom>
          <a:noFill/>
          <a:ln/>
        </p:spPr>
        <p:txBody>
          <a:bodyPr wrap="square" lIns="0" tIns="0" rIns="0" bIns="0" rtlCol="0" anchor="ctr"/>
          <a:lstStyle/>
          <a:p>
            <a:pPr indent="0" marL="0">
              <a:buNone/>
            </a:pPr>
            <a:r>
              <a:rPr lang="en-US" sz="950" b="1" dirty="0">
                <a:solidFill>
                  <a:srgbClr val="00A39B"/>
                </a:solidFill>
                <a:latin typeface="Calibri" pitchFamily="34" charset="0"/>
                <a:ea typeface="Calibri" pitchFamily="34" charset="-122"/>
                <a:cs typeface="Calibri" pitchFamily="34" charset="-120"/>
              </a:rPr>
              <a:t>RETIRED</a:t>
            </a:r>
            <a:endParaRPr lang="en-US" sz="950" dirty="0"/>
          </a:p>
        </p:txBody>
      </p:sp>
      <p:sp>
        <p:nvSpPr>
          <p:cNvPr id="30" name="Text 28"/>
          <p:cNvSpPr/>
          <p:nvPr/>
        </p:nvSpPr>
        <p:spPr>
          <a:xfrm>
            <a:off x="5577840" y="2779776"/>
            <a:ext cx="5852160" cy="512064"/>
          </a:xfrm>
          <a:prstGeom prst="rect">
            <a:avLst/>
          </a:prstGeom>
          <a:noFill/>
          <a:ln/>
        </p:spPr>
        <p:txBody>
          <a:bodyPr wrap="square" lIns="0" tIns="0" rIns="0" bIns="0" rtlCol="0" anchor="ctr"/>
          <a:lstStyle/>
          <a:p>
            <a:pPr indent="0" marL="0">
              <a:buNone/>
            </a:pPr>
            <a:r>
              <a:rPr lang="en-US" sz="900" dirty="0">
                <a:solidFill>
                  <a:srgbClr val="5F6B76"/>
                </a:solidFill>
                <a:latin typeface="Calibri" pitchFamily="34" charset="0"/>
                <a:ea typeface="Calibri" pitchFamily="34" charset="-122"/>
                <a:cs typeface="Calibri" pitchFamily="34" charset="-120"/>
              </a:rPr>
              <a:t>NIST digests correct for 12 messages, both configurations</a:t>
            </a:r>
            <a:endParaRPr lang="en-US" sz="900" dirty="0"/>
          </a:p>
        </p:txBody>
      </p:sp>
      <p:sp>
        <p:nvSpPr>
          <p:cNvPr id="31" name="Shape 29"/>
          <p:cNvSpPr/>
          <p:nvPr/>
        </p:nvSpPr>
        <p:spPr>
          <a:xfrm>
            <a:off x="640080" y="3401568"/>
            <a:ext cx="10972800" cy="585216"/>
          </a:xfrm>
          <a:prstGeom prst="roundRect">
            <a:avLst>
              <a:gd name="adj" fmla="val 6250"/>
            </a:avLst>
          </a:prstGeom>
          <a:solidFill>
            <a:srgbClr val="F9FAFC"/>
          </a:solidFill>
          <a:ln w="9525">
            <a:solidFill>
              <a:srgbClr val="DAE0E6"/>
            </a:solidFill>
            <a:prstDash val="solid"/>
          </a:ln>
        </p:spPr>
      </p:sp>
      <p:sp>
        <p:nvSpPr>
          <p:cNvPr id="32" name="Shape 30"/>
          <p:cNvSpPr/>
          <p:nvPr/>
        </p:nvSpPr>
        <p:spPr>
          <a:xfrm>
            <a:off x="822960" y="3538728"/>
            <a:ext cx="310896" cy="310896"/>
          </a:xfrm>
          <a:prstGeom prst="ellipse">
            <a:avLst/>
          </a:prstGeom>
          <a:solidFill>
            <a:srgbClr val="00A39B"/>
          </a:solidFill>
          <a:ln/>
        </p:spPr>
      </p:sp>
      <p:sp>
        <p:nvSpPr>
          <p:cNvPr id="33" name="Text 31"/>
          <p:cNvSpPr/>
          <p:nvPr/>
        </p:nvSpPr>
        <p:spPr>
          <a:xfrm>
            <a:off x="822960" y="3538728"/>
            <a:ext cx="310896" cy="31089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R4</a:t>
            </a:r>
            <a:endParaRPr lang="en-US" sz="800" dirty="0"/>
          </a:p>
        </p:txBody>
      </p:sp>
      <p:sp>
        <p:nvSpPr>
          <p:cNvPr id="34" name="Text 32"/>
          <p:cNvSpPr/>
          <p:nvPr/>
        </p:nvSpPr>
        <p:spPr>
          <a:xfrm>
            <a:off x="1280160" y="3438144"/>
            <a:ext cx="3017520" cy="512064"/>
          </a:xfrm>
          <a:prstGeom prst="rect">
            <a:avLst/>
          </a:prstGeom>
          <a:noFill/>
          <a:ln/>
        </p:spPr>
        <p:txBody>
          <a:bodyPr wrap="square" lIns="0" tIns="0" rIns="0" bIns="0" rtlCol="0" anchor="ctr"/>
          <a:lstStyle/>
          <a:p>
            <a:pPr indent="0" marL="0">
              <a:buNone/>
            </a:pPr>
            <a:r>
              <a:rPr lang="en-US" sz="1050" b="1" dirty="0">
                <a:solidFill>
                  <a:srgbClr val="15191F"/>
                </a:solidFill>
                <a:latin typeface="Calibri" pitchFamily="34" charset="0"/>
                <a:ea typeface="Calibri" pitchFamily="34" charset="-122"/>
                <a:cs typeface="Calibri" pitchFamily="34" charset="-120"/>
              </a:rPr>
              <a:t>Chaining across blocks</a:t>
            </a:r>
            <a:endParaRPr lang="en-US" sz="1050" dirty="0"/>
          </a:p>
        </p:txBody>
      </p:sp>
      <p:sp>
        <p:nvSpPr>
          <p:cNvPr id="35" name="Text 33"/>
          <p:cNvSpPr/>
          <p:nvPr/>
        </p:nvSpPr>
        <p:spPr>
          <a:xfrm>
            <a:off x="4389120" y="3438144"/>
            <a:ext cx="1097280" cy="512064"/>
          </a:xfrm>
          <a:prstGeom prst="rect">
            <a:avLst/>
          </a:prstGeom>
          <a:noFill/>
          <a:ln/>
        </p:spPr>
        <p:txBody>
          <a:bodyPr wrap="square" lIns="0" tIns="0" rIns="0" bIns="0" rtlCol="0" anchor="ctr"/>
          <a:lstStyle/>
          <a:p>
            <a:pPr indent="0" marL="0">
              <a:buNone/>
            </a:pPr>
            <a:r>
              <a:rPr lang="en-US" sz="950" b="1" dirty="0">
                <a:solidFill>
                  <a:srgbClr val="00A39B"/>
                </a:solidFill>
                <a:latin typeface="Calibri" pitchFamily="34" charset="0"/>
                <a:ea typeface="Calibri" pitchFamily="34" charset="-122"/>
                <a:cs typeface="Calibri" pitchFamily="34" charset="-120"/>
              </a:rPr>
              <a:t>RETIRED</a:t>
            </a:r>
            <a:endParaRPr lang="en-US" sz="950" dirty="0"/>
          </a:p>
        </p:txBody>
      </p:sp>
      <p:sp>
        <p:nvSpPr>
          <p:cNvPr id="36" name="Text 34"/>
          <p:cNvSpPr/>
          <p:nvPr/>
        </p:nvSpPr>
        <p:spPr>
          <a:xfrm>
            <a:off x="5577840" y="3438144"/>
            <a:ext cx="5852160" cy="512064"/>
          </a:xfrm>
          <a:prstGeom prst="rect">
            <a:avLst/>
          </a:prstGeom>
          <a:noFill/>
          <a:ln/>
        </p:spPr>
        <p:txBody>
          <a:bodyPr wrap="square" lIns="0" tIns="0" rIns="0" bIns="0" rtlCol="0" anchor="ctr"/>
          <a:lstStyle/>
          <a:p>
            <a:pPr indent="0" marL="0">
              <a:buNone/>
            </a:pPr>
            <a:r>
              <a:rPr lang="en-US" sz="900" dirty="0">
                <a:solidFill>
                  <a:srgbClr val="5F6B76"/>
                </a:solidFill>
                <a:latin typeface="Calibri" pitchFamily="34" charset="0"/>
                <a:ea typeface="Calibri" pitchFamily="34" charset="-122"/>
                <a:cs typeface="Calibri" pitchFamily="34" charset="-120"/>
              </a:rPr>
              <a:t>Two- and three-block messages verified end to end</a:t>
            </a:r>
            <a:endParaRPr lang="en-US" sz="900" dirty="0"/>
          </a:p>
        </p:txBody>
      </p:sp>
      <p:sp>
        <p:nvSpPr>
          <p:cNvPr id="37" name="Shape 35"/>
          <p:cNvSpPr/>
          <p:nvPr/>
        </p:nvSpPr>
        <p:spPr>
          <a:xfrm>
            <a:off x="640080" y="4059936"/>
            <a:ext cx="10972800" cy="585216"/>
          </a:xfrm>
          <a:prstGeom prst="roundRect">
            <a:avLst>
              <a:gd name="adj" fmla="val 6250"/>
            </a:avLst>
          </a:prstGeom>
          <a:solidFill>
            <a:srgbClr val="EEF1F4"/>
          </a:solidFill>
          <a:ln w="9525">
            <a:solidFill>
              <a:srgbClr val="DAE0E6"/>
            </a:solidFill>
            <a:prstDash val="solid"/>
          </a:ln>
        </p:spPr>
      </p:sp>
      <p:sp>
        <p:nvSpPr>
          <p:cNvPr id="38" name="Shape 36"/>
          <p:cNvSpPr/>
          <p:nvPr/>
        </p:nvSpPr>
        <p:spPr>
          <a:xfrm>
            <a:off x="822960" y="4197096"/>
            <a:ext cx="310896" cy="310896"/>
          </a:xfrm>
          <a:prstGeom prst="ellipse">
            <a:avLst/>
          </a:prstGeom>
          <a:solidFill>
            <a:srgbClr val="DE9A3E"/>
          </a:solidFill>
          <a:ln/>
        </p:spPr>
      </p:sp>
      <p:sp>
        <p:nvSpPr>
          <p:cNvPr id="39" name="Text 37"/>
          <p:cNvSpPr/>
          <p:nvPr/>
        </p:nvSpPr>
        <p:spPr>
          <a:xfrm>
            <a:off x="822960" y="4197096"/>
            <a:ext cx="310896" cy="31089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R5</a:t>
            </a:r>
            <a:endParaRPr lang="en-US" sz="800" dirty="0"/>
          </a:p>
        </p:txBody>
      </p:sp>
      <p:sp>
        <p:nvSpPr>
          <p:cNvPr id="40" name="Text 38"/>
          <p:cNvSpPr/>
          <p:nvPr/>
        </p:nvSpPr>
        <p:spPr>
          <a:xfrm>
            <a:off x="1280160" y="4096512"/>
            <a:ext cx="3017520" cy="512064"/>
          </a:xfrm>
          <a:prstGeom prst="rect">
            <a:avLst/>
          </a:prstGeom>
          <a:noFill/>
          <a:ln/>
        </p:spPr>
        <p:txBody>
          <a:bodyPr wrap="square" lIns="0" tIns="0" rIns="0" bIns="0" rtlCol="0" anchor="ctr"/>
          <a:lstStyle/>
          <a:p>
            <a:pPr indent="0" marL="0">
              <a:buNone/>
            </a:pPr>
            <a:r>
              <a:rPr lang="en-US" sz="1050" b="1" dirty="0">
                <a:solidFill>
                  <a:srgbClr val="15191F"/>
                </a:solidFill>
                <a:latin typeface="Calibri" pitchFamily="34" charset="0"/>
                <a:ea typeface="Calibri" pitchFamily="34" charset="-122"/>
                <a:cs typeface="Calibri" pitchFamily="34" charset="-120"/>
              </a:rPr>
              <a:t>Config B fails timing badly</a:t>
            </a:r>
            <a:endParaRPr lang="en-US" sz="1050" dirty="0"/>
          </a:p>
        </p:txBody>
      </p:sp>
      <p:sp>
        <p:nvSpPr>
          <p:cNvPr id="41" name="Text 39"/>
          <p:cNvSpPr/>
          <p:nvPr/>
        </p:nvSpPr>
        <p:spPr>
          <a:xfrm>
            <a:off x="4389120" y="4096512"/>
            <a:ext cx="1097280" cy="512064"/>
          </a:xfrm>
          <a:prstGeom prst="rect">
            <a:avLst/>
          </a:prstGeom>
          <a:noFill/>
          <a:ln/>
        </p:spPr>
        <p:txBody>
          <a:bodyPr wrap="square" lIns="0" tIns="0" rIns="0" bIns="0" rtlCol="0" anchor="ctr"/>
          <a:lstStyle/>
          <a:p>
            <a:pPr indent="0" marL="0">
              <a:buNone/>
            </a:pPr>
            <a:r>
              <a:rPr lang="en-US" sz="950" b="1" dirty="0">
                <a:solidFill>
                  <a:srgbClr val="DE9A3E"/>
                </a:solidFill>
                <a:latin typeface="Calibri" pitchFamily="34" charset="0"/>
                <a:ea typeface="Calibri" pitchFamily="34" charset="-122"/>
                <a:cs typeface="Calibri" pitchFamily="34" charset="-120"/>
              </a:rPr>
              <a:t>OPEN</a:t>
            </a:r>
            <a:endParaRPr lang="en-US" sz="950" dirty="0"/>
          </a:p>
        </p:txBody>
      </p:sp>
      <p:sp>
        <p:nvSpPr>
          <p:cNvPr id="42" name="Text 40"/>
          <p:cNvSpPr/>
          <p:nvPr/>
        </p:nvSpPr>
        <p:spPr>
          <a:xfrm>
            <a:off x="5577840" y="4096512"/>
            <a:ext cx="5852160" cy="512064"/>
          </a:xfrm>
          <a:prstGeom prst="rect">
            <a:avLst/>
          </a:prstGeom>
          <a:noFill/>
          <a:ln/>
        </p:spPr>
        <p:txBody>
          <a:bodyPr wrap="square" lIns="0" tIns="0" rIns="0" bIns="0" rtlCol="0" anchor="ctr"/>
          <a:lstStyle/>
          <a:p>
            <a:pPr indent="0" marL="0">
              <a:buNone/>
            </a:pPr>
            <a:r>
              <a:rPr lang="en-US" sz="900" dirty="0">
                <a:solidFill>
                  <a:srgbClr val="5F6B76"/>
                </a:solidFill>
                <a:latin typeface="Calibri" pitchFamily="34" charset="0"/>
                <a:ea typeface="Calibri" pitchFamily="34" charset="-122"/>
                <a:cs typeface="Calibri" pitchFamily="34" charset="-120"/>
              </a:rPr>
              <a:t>Expected. This is the result, not a failure — the revised 0.624 threshold makes it more likely</a:t>
            </a:r>
            <a:endParaRPr lang="en-US" sz="900" dirty="0"/>
          </a:p>
        </p:txBody>
      </p:sp>
      <p:sp>
        <p:nvSpPr>
          <p:cNvPr id="43" name="Shape 41"/>
          <p:cNvSpPr/>
          <p:nvPr/>
        </p:nvSpPr>
        <p:spPr>
          <a:xfrm>
            <a:off x="640080" y="4718304"/>
            <a:ext cx="10972800" cy="585216"/>
          </a:xfrm>
          <a:prstGeom prst="roundRect">
            <a:avLst>
              <a:gd name="adj" fmla="val 6250"/>
            </a:avLst>
          </a:prstGeom>
          <a:solidFill>
            <a:srgbClr val="F9FAFC"/>
          </a:solidFill>
          <a:ln w="9525">
            <a:solidFill>
              <a:srgbClr val="DAE0E6"/>
            </a:solidFill>
            <a:prstDash val="solid"/>
          </a:ln>
        </p:spPr>
      </p:sp>
      <p:sp>
        <p:nvSpPr>
          <p:cNvPr id="44" name="Shape 42"/>
          <p:cNvSpPr/>
          <p:nvPr/>
        </p:nvSpPr>
        <p:spPr>
          <a:xfrm>
            <a:off x="822960" y="4855464"/>
            <a:ext cx="310896" cy="310896"/>
          </a:xfrm>
          <a:prstGeom prst="ellipse">
            <a:avLst/>
          </a:prstGeom>
          <a:solidFill>
            <a:srgbClr val="DE9A3E"/>
          </a:solidFill>
          <a:ln/>
        </p:spPr>
      </p:sp>
      <p:sp>
        <p:nvSpPr>
          <p:cNvPr id="45" name="Text 43"/>
          <p:cNvSpPr/>
          <p:nvPr/>
        </p:nvSpPr>
        <p:spPr>
          <a:xfrm>
            <a:off x="822960" y="4855464"/>
            <a:ext cx="310896" cy="31089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R6</a:t>
            </a:r>
            <a:endParaRPr lang="en-US" sz="800" dirty="0"/>
          </a:p>
        </p:txBody>
      </p:sp>
      <p:sp>
        <p:nvSpPr>
          <p:cNvPr id="46" name="Text 44"/>
          <p:cNvSpPr/>
          <p:nvPr/>
        </p:nvSpPr>
        <p:spPr>
          <a:xfrm>
            <a:off x="1280160" y="4754880"/>
            <a:ext cx="3017520" cy="512064"/>
          </a:xfrm>
          <a:prstGeom prst="rect">
            <a:avLst/>
          </a:prstGeom>
          <a:noFill/>
          <a:ln/>
        </p:spPr>
        <p:txBody>
          <a:bodyPr wrap="square" lIns="0" tIns="0" rIns="0" bIns="0" rtlCol="0" anchor="ctr"/>
          <a:lstStyle/>
          <a:p>
            <a:pPr indent="0" marL="0">
              <a:buNone/>
            </a:pPr>
            <a:r>
              <a:rPr lang="en-US" sz="1050" b="1" dirty="0">
                <a:solidFill>
                  <a:srgbClr val="15191F"/>
                </a:solidFill>
                <a:latin typeface="Calibri" pitchFamily="34" charset="0"/>
                <a:ea typeface="Calibri" pitchFamily="34" charset="-122"/>
                <a:cs typeface="Calibri" pitchFamily="34" charset="-120"/>
              </a:rPr>
              <a:t>Cache coherency on the board</a:t>
            </a:r>
            <a:endParaRPr lang="en-US" sz="1050" dirty="0"/>
          </a:p>
        </p:txBody>
      </p:sp>
      <p:sp>
        <p:nvSpPr>
          <p:cNvPr id="47" name="Text 45"/>
          <p:cNvSpPr/>
          <p:nvPr/>
        </p:nvSpPr>
        <p:spPr>
          <a:xfrm>
            <a:off x="4389120" y="4754880"/>
            <a:ext cx="1097280" cy="512064"/>
          </a:xfrm>
          <a:prstGeom prst="rect">
            <a:avLst/>
          </a:prstGeom>
          <a:noFill/>
          <a:ln/>
        </p:spPr>
        <p:txBody>
          <a:bodyPr wrap="square" lIns="0" tIns="0" rIns="0" bIns="0" rtlCol="0" anchor="ctr"/>
          <a:lstStyle/>
          <a:p>
            <a:pPr indent="0" marL="0">
              <a:buNone/>
            </a:pPr>
            <a:r>
              <a:rPr lang="en-US" sz="950" b="1" dirty="0">
                <a:solidFill>
                  <a:srgbClr val="DE9A3E"/>
                </a:solidFill>
                <a:latin typeface="Calibri" pitchFamily="34" charset="0"/>
                <a:ea typeface="Calibri" pitchFamily="34" charset="-122"/>
                <a:cs typeface="Calibri" pitchFamily="34" charset="-120"/>
              </a:rPr>
              <a:t>OPEN</a:t>
            </a:r>
            <a:endParaRPr lang="en-US" sz="950" dirty="0"/>
          </a:p>
        </p:txBody>
      </p:sp>
      <p:sp>
        <p:nvSpPr>
          <p:cNvPr id="48" name="Text 46"/>
          <p:cNvSpPr/>
          <p:nvPr/>
        </p:nvSpPr>
        <p:spPr>
          <a:xfrm>
            <a:off x="5577840" y="4754880"/>
            <a:ext cx="5852160" cy="512064"/>
          </a:xfrm>
          <a:prstGeom prst="rect">
            <a:avLst/>
          </a:prstGeom>
          <a:noFill/>
          <a:ln/>
        </p:spPr>
        <p:txBody>
          <a:bodyPr wrap="square" lIns="0" tIns="0" rIns="0" bIns="0" rtlCol="0" anchor="ctr"/>
          <a:lstStyle/>
          <a:p>
            <a:pPr indent="0" marL="0">
              <a:buNone/>
            </a:pPr>
            <a:r>
              <a:rPr lang="en-US" sz="900" dirty="0">
                <a:solidFill>
                  <a:srgbClr val="5F6B76"/>
                </a:solidFill>
                <a:latin typeface="Calibri" pitchFamily="34" charset="0"/>
                <a:ea typeface="Calibri" pitchFamily="34" charset="-122"/>
                <a:cs typeface="Calibri" pitchFamily="34" charset="-120"/>
              </a:rPr>
              <a:t>Not yet exercised. Xil_DCacheFlushRange is in the driver; documented as the first thing to check</a:t>
            </a:r>
            <a:endParaRPr lang="en-US" sz="900" dirty="0"/>
          </a:p>
        </p:txBody>
      </p:sp>
      <p:sp>
        <p:nvSpPr>
          <p:cNvPr id="49" name="Shape 47"/>
          <p:cNvSpPr/>
          <p:nvPr/>
        </p:nvSpPr>
        <p:spPr>
          <a:xfrm>
            <a:off x="640080" y="5376672"/>
            <a:ext cx="10972800" cy="585216"/>
          </a:xfrm>
          <a:prstGeom prst="roundRect">
            <a:avLst>
              <a:gd name="adj" fmla="val 6250"/>
            </a:avLst>
          </a:prstGeom>
          <a:solidFill>
            <a:srgbClr val="EEF1F4"/>
          </a:solidFill>
          <a:ln w="9525">
            <a:solidFill>
              <a:srgbClr val="DAE0E6"/>
            </a:solidFill>
            <a:prstDash val="solid"/>
          </a:ln>
        </p:spPr>
      </p:sp>
      <p:sp>
        <p:nvSpPr>
          <p:cNvPr id="50" name="Shape 48"/>
          <p:cNvSpPr/>
          <p:nvPr/>
        </p:nvSpPr>
        <p:spPr>
          <a:xfrm>
            <a:off x="822960" y="5513832"/>
            <a:ext cx="310896" cy="310896"/>
          </a:xfrm>
          <a:prstGeom prst="ellipse">
            <a:avLst/>
          </a:prstGeom>
          <a:solidFill>
            <a:srgbClr val="DE9A3E"/>
          </a:solidFill>
          <a:ln/>
        </p:spPr>
      </p:sp>
      <p:sp>
        <p:nvSpPr>
          <p:cNvPr id="51" name="Text 49"/>
          <p:cNvSpPr/>
          <p:nvPr/>
        </p:nvSpPr>
        <p:spPr>
          <a:xfrm>
            <a:off x="822960" y="5513832"/>
            <a:ext cx="310896" cy="31089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R7</a:t>
            </a:r>
            <a:endParaRPr lang="en-US" sz="800" dirty="0"/>
          </a:p>
        </p:txBody>
      </p:sp>
      <p:sp>
        <p:nvSpPr>
          <p:cNvPr id="52" name="Text 50"/>
          <p:cNvSpPr/>
          <p:nvPr/>
        </p:nvSpPr>
        <p:spPr>
          <a:xfrm>
            <a:off x="1280160" y="5413248"/>
            <a:ext cx="3017520" cy="512064"/>
          </a:xfrm>
          <a:prstGeom prst="rect">
            <a:avLst/>
          </a:prstGeom>
          <a:noFill/>
          <a:ln/>
        </p:spPr>
        <p:txBody>
          <a:bodyPr wrap="square" lIns="0" tIns="0" rIns="0" bIns="0" rtlCol="0" anchor="ctr"/>
          <a:lstStyle/>
          <a:p>
            <a:pPr indent="0" marL="0">
              <a:buNone/>
            </a:pPr>
            <a:r>
              <a:rPr lang="en-US" sz="1050" b="1" dirty="0">
                <a:solidFill>
                  <a:srgbClr val="15191F"/>
                </a:solidFill>
                <a:latin typeface="Calibri" pitchFamily="34" charset="0"/>
                <a:ea typeface="Calibri" pitchFamily="34" charset="-122"/>
                <a:cs typeface="Calibri" pitchFamily="34" charset="-120"/>
              </a:rPr>
              <a:t>Board access in Weeks 8-9</a:t>
            </a:r>
            <a:endParaRPr lang="en-US" sz="1050" dirty="0"/>
          </a:p>
        </p:txBody>
      </p:sp>
      <p:sp>
        <p:nvSpPr>
          <p:cNvPr id="53" name="Text 51"/>
          <p:cNvSpPr/>
          <p:nvPr/>
        </p:nvSpPr>
        <p:spPr>
          <a:xfrm>
            <a:off x="4389120" y="5413248"/>
            <a:ext cx="1097280" cy="512064"/>
          </a:xfrm>
          <a:prstGeom prst="rect">
            <a:avLst/>
          </a:prstGeom>
          <a:noFill/>
          <a:ln/>
        </p:spPr>
        <p:txBody>
          <a:bodyPr wrap="square" lIns="0" tIns="0" rIns="0" bIns="0" rtlCol="0" anchor="ctr"/>
          <a:lstStyle/>
          <a:p>
            <a:pPr indent="0" marL="0">
              <a:buNone/>
            </a:pPr>
            <a:r>
              <a:rPr lang="en-US" sz="950" b="1" dirty="0">
                <a:solidFill>
                  <a:srgbClr val="DE9A3E"/>
                </a:solidFill>
                <a:latin typeface="Calibri" pitchFamily="34" charset="0"/>
                <a:ea typeface="Calibri" pitchFamily="34" charset="-122"/>
                <a:cs typeface="Calibri" pitchFamily="34" charset="-120"/>
              </a:rPr>
              <a:t>OPEN</a:t>
            </a:r>
            <a:endParaRPr lang="en-US" sz="950" dirty="0"/>
          </a:p>
        </p:txBody>
      </p:sp>
      <p:sp>
        <p:nvSpPr>
          <p:cNvPr id="54" name="Text 52"/>
          <p:cNvSpPr/>
          <p:nvPr/>
        </p:nvSpPr>
        <p:spPr>
          <a:xfrm>
            <a:off x="5577840" y="5413248"/>
            <a:ext cx="5852160" cy="512064"/>
          </a:xfrm>
          <a:prstGeom prst="rect">
            <a:avLst/>
          </a:prstGeom>
          <a:noFill/>
          <a:ln/>
        </p:spPr>
        <p:txBody>
          <a:bodyPr wrap="square" lIns="0" tIns="0" rIns="0" bIns="0" rtlCol="0" anchor="ctr"/>
          <a:lstStyle/>
          <a:p>
            <a:pPr indent="0" marL="0">
              <a:buNone/>
            </a:pPr>
            <a:r>
              <a:rPr lang="en-US" sz="900" dirty="0">
                <a:solidFill>
                  <a:srgbClr val="5F6B76"/>
                </a:solidFill>
                <a:latin typeface="Calibri" pitchFamily="34" charset="0"/>
                <a:ea typeface="Calibri" pitchFamily="34" charset="-122"/>
                <a:cs typeface="Calibri" pitchFamily="34" charset="-120"/>
              </a:rPr>
              <a:t>Only remaining schedule risk. Fallback is synthesis-only results at Review 3</a:t>
            </a:r>
            <a:endParaRPr lang="en-US" sz="900" dirty="0"/>
          </a:p>
        </p:txBody>
      </p:sp>
      <p:sp>
        <p:nvSpPr>
          <p:cNvPr id="55" name="Shape 53"/>
          <p:cNvSpPr/>
          <p:nvPr/>
        </p:nvSpPr>
        <p:spPr>
          <a:xfrm>
            <a:off x="640080" y="6126480"/>
            <a:ext cx="10972800" cy="0"/>
          </a:xfrm>
          <a:prstGeom prst="roundRect">
            <a:avLst>
              <a:gd name="adj" fmla="val Infinity"/>
            </a:avLst>
          </a:prstGeom>
          <a:solidFill>
            <a:srgbClr val="EEF1F4"/>
          </a:solidFill>
          <a:ln/>
          <a:effectLst>
            <a:outerShdw sx="100000" sy="100000" kx="0" ky="0" algn="bl" rotWithShape="0" blurRad="76200" dist="12700" dir="5400000">
              <a:srgbClr val="A6AFB8">
                <a:alpha val="25000"/>
              </a:srgbClr>
            </a:outerShdw>
          </a:effectLst>
        </p:spPr>
      </p:sp>
      <p:sp>
        <p:nvSpPr>
          <p:cNvPr id="56" name="Text 54"/>
          <p:cNvSpPr/>
          <p:nvPr/>
        </p:nvSpPr>
        <p:spPr>
          <a:xfrm>
            <a:off x="640080" y="6035040"/>
            <a:ext cx="10972800" cy="274320"/>
          </a:xfrm>
          <a:prstGeom prst="rect">
            <a:avLst/>
          </a:prstGeom>
          <a:noFill/>
          <a:ln/>
        </p:spPr>
        <p:txBody>
          <a:bodyPr wrap="square" lIns="0" tIns="0" rIns="0" bIns="0" rtlCol="0" anchor="ctr"/>
          <a:lstStyle/>
          <a:p>
            <a:pPr indent="0" marL="0">
              <a:buNone/>
            </a:pPr>
            <a:r>
              <a:rPr lang="en-US" sz="1050" b="1" dirty="0">
                <a:solidFill>
                  <a:srgbClr val="00756F"/>
                </a:solidFill>
                <a:latin typeface="Calibri" pitchFamily="34" charset="0"/>
                <a:ea typeface="Calibri" pitchFamily="34" charset="-122"/>
                <a:cs typeface="Calibri" pitchFamily="34" charset="-120"/>
              </a:rPr>
              <a:t>The retired risks were retired by evidence, not by assertion — each one names the test that closed it.</a:t>
            </a:r>
            <a:endParaRPr lang="en-US" sz="1050" dirty="0"/>
          </a:p>
        </p:txBody>
      </p:sp>
      <p:sp>
        <p:nvSpPr>
          <p:cNvPr id="57" name="Text 55"/>
          <p:cNvSpPr/>
          <p:nvPr/>
        </p:nvSpPr>
        <p:spPr>
          <a:xfrm>
            <a:off x="548640" y="6419088"/>
            <a:ext cx="11064240" cy="274320"/>
          </a:xfrm>
          <a:prstGeom prst="rect">
            <a:avLst/>
          </a:prstGeom>
          <a:noFill/>
          <a:ln/>
        </p:spPr>
        <p:txBody>
          <a:bodyPr wrap="square" lIns="0" tIns="0" rIns="0" bIns="0" rtlCol="0" anchor="ctr"/>
          <a:lstStyle/>
          <a:p>
            <a:pPr algn="r" indent="0" marL="0">
              <a:buNone/>
            </a:pPr>
            <a:r>
              <a:rPr lang="en-US" sz="900" dirty="0">
                <a:solidFill>
                  <a:srgbClr val="97A2AC"/>
                </a:solidFill>
                <a:latin typeface="Calibri" pitchFamily="34" charset="0"/>
                <a:ea typeface="Calibri" pitchFamily="34" charset="-122"/>
                <a:cs typeface="Calibri" pitchFamily="34" charset="-120"/>
              </a:rPr>
              <a:t>Review 2  ·  Amritha S  ·  23BEC1368  ·  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5191F"/>
        </a:solidFill>
      </p:bgPr>
    </p:bg>
    <p:spTree>
      <p:nvGrpSpPr>
        <p:cNvPr id="1" name=""/>
        <p:cNvGrpSpPr/>
        <p:nvPr/>
      </p:nvGrpSpPr>
      <p:grpSpPr>
        <a:xfrm>
          <a:off x="0" y="0"/>
          <a:ext cx="0" cy="0"/>
          <a:chOff x="0" y="0"/>
          <a:chExt cx="0" cy="0"/>
        </a:xfrm>
      </p:grpSpPr>
      <p:sp>
        <p:nvSpPr>
          <p:cNvPr id="2" name="Shape 0"/>
          <p:cNvSpPr/>
          <p:nvPr/>
        </p:nvSpPr>
        <p:spPr>
          <a:xfrm>
            <a:off x="822960" y="1371600"/>
            <a:ext cx="164592" cy="164592"/>
          </a:xfrm>
          <a:prstGeom prst="rect">
            <a:avLst/>
          </a:prstGeom>
          <a:solidFill>
            <a:srgbClr val="00A39B"/>
          </a:solidFill>
          <a:ln/>
        </p:spPr>
      </p:sp>
      <p:sp>
        <p:nvSpPr>
          <p:cNvPr id="3" name="Shape 1"/>
          <p:cNvSpPr/>
          <p:nvPr/>
        </p:nvSpPr>
        <p:spPr>
          <a:xfrm>
            <a:off x="1042416" y="1371600"/>
            <a:ext cx="164592" cy="164592"/>
          </a:xfrm>
          <a:prstGeom prst="rect">
            <a:avLst/>
          </a:prstGeom>
          <a:solidFill>
            <a:srgbClr val="2A3038"/>
          </a:solidFill>
          <a:ln/>
        </p:spPr>
      </p:sp>
      <p:sp>
        <p:nvSpPr>
          <p:cNvPr id="4" name="Shape 2"/>
          <p:cNvSpPr/>
          <p:nvPr/>
        </p:nvSpPr>
        <p:spPr>
          <a:xfrm>
            <a:off x="1261872" y="1371600"/>
            <a:ext cx="164592" cy="164592"/>
          </a:xfrm>
          <a:prstGeom prst="rect">
            <a:avLst/>
          </a:prstGeom>
          <a:solidFill>
            <a:srgbClr val="2A3038"/>
          </a:solidFill>
          <a:ln/>
        </p:spPr>
      </p:sp>
      <p:sp>
        <p:nvSpPr>
          <p:cNvPr id="5" name="Shape 3"/>
          <p:cNvSpPr/>
          <p:nvPr/>
        </p:nvSpPr>
        <p:spPr>
          <a:xfrm>
            <a:off x="1481328" y="1371600"/>
            <a:ext cx="164592" cy="164592"/>
          </a:xfrm>
          <a:prstGeom prst="rect">
            <a:avLst/>
          </a:prstGeom>
          <a:solidFill>
            <a:srgbClr val="2A3038"/>
          </a:solidFill>
          <a:ln/>
        </p:spPr>
      </p:sp>
      <p:sp>
        <p:nvSpPr>
          <p:cNvPr id="6" name="Shape 4"/>
          <p:cNvSpPr/>
          <p:nvPr/>
        </p:nvSpPr>
        <p:spPr>
          <a:xfrm>
            <a:off x="1700784" y="1371600"/>
            <a:ext cx="164592" cy="164592"/>
          </a:xfrm>
          <a:prstGeom prst="rect">
            <a:avLst/>
          </a:prstGeom>
          <a:solidFill>
            <a:srgbClr val="00A39B"/>
          </a:solidFill>
          <a:ln/>
        </p:spPr>
      </p:sp>
      <p:sp>
        <p:nvSpPr>
          <p:cNvPr id="7" name="Shape 5"/>
          <p:cNvSpPr/>
          <p:nvPr/>
        </p:nvSpPr>
        <p:spPr>
          <a:xfrm>
            <a:off x="1920240" y="1371600"/>
            <a:ext cx="164592" cy="164592"/>
          </a:xfrm>
          <a:prstGeom prst="rect">
            <a:avLst/>
          </a:prstGeom>
          <a:solidFill>
            <a:srgbClr val="2A3038"/>
          </a:solidFill>
          <a:ln/>
        </p:spPr>
      </p:sp>
      <p:sp>
        <p:nvSpPr>
          <p:cNvPr id="8" name="Shape 6"/>
          <p:cNvSpPr/>
          <p:nvPr/>
        </p:nvSpPr>
        <p:spPr>
          <a:xfrm>
            <a:off x="2139696" y="1371600"/>
            <a:ext cx="164592" cy="164592"/>
          </a:xfrm>
          <a:prstGeom prst="rect">
            <a:avLst/>
          </a:prstGeom>
          <a:solidFill>
            <a:srgbClr val="2A3038"/>
          </a:solidFill>
          <a:ln/>
        </p:spPr>
      </p:sp>
      <p:sp>
        <p:nvSpPr>
          <p:cNvPr id="9" name="Shape 7"/>
          <p:cNvSpPr/>
          <p:nvPr/>
        </p:nvSpPr>
        <p:spPr>
          <a:xfrm>
            <a:off x="2359152" y="1371600"/>
            <a:ext cx="164592" cy="164592"/>
          </a:xfrm>
          <a:prstGeom prst="rect">
            <a:avLst/>
          </a:prstGeom>
          <a:solidFill>
            <a:srgbClr val="2A3038"/>
          </a:solidFill>
          <a:ln/>
        </p:spPr>
      </p:sp>
      <p:sp>
        <p:nvSpPr>
          <p:cNvPr id="10" name="Text 8"/>
          <p:cNvSpPr/>
          <p:nvPr/>
        </p:nvSpPr>
        <p:spPr>
          <a:xfrm>
            <a:off x="822960" y="2103120"/>
            <a:ext cx="10515600" cy="329184"/>
          </a:xfrm>
          <a:prstGeom prst="rect">
            <a:avLst/>
          </a:prstGeom>
          <a:noFill/>
          <a:ln/>
        </p:spPr>
        <p:txBody>
          <a:bodyPr wrap="square" lIns="0" tIns="0" rIns="0" bIns="0" rtlCol="0" anchor="ctr"/>
          <a:lstStyle/>
          <a:p>
            <a:pPr indent="0" marL="0">
              <a:buNone/>
            </a:pPr>
            <a:r>
              <a:rPr lang="en-US" sz="1250" b="1" spc="150" kern="0" dirty="0">
                <a:solidFill>
                  <a:srgbClr val="00A39B"/>
                </a:solidFill>
                <a:latin typeface="Calibri" pitchFamily="34" charset="0"/>
                <a:ea typeface="Calibri" pitchFamily="34" charset="-122"/>
                <a:cs typeface="Calibri" pitchFamily="34" charset="-120"/>
              </a:rPr>
              <a:t>Where we are</a:t>
            </a:r>
            <a:endParaRPr lang="en-US" sz="1250" dirty="0"/>
          </a:p>
        </p:txBody>
      </p:sp>
      <p:sp>
        <p:nvSpPr>
          <p:cNvPr id="11" name="Text 9"/>
          <p:cNvSpPr/>
          <p:nvPr/>
        </p:nvSpPr>
        <p:spPr>
          <a:xfrm>
            <a:off x="822960" y="2560320"/>
            <a:ext cx="10515600" cy="1554480"/>
          </a:xfrm>
          <a:prstGeom prst="rect">
            <a:avLst/>
          </a:prstGeom>
          <a:noFill/>
          <a:ln/>
        </p:spPr>
        <p:txBody>
          <a:bodyPr wrap="square" lIns="0" tIns="0" rIns="0" bIns="0" rtlCol="0" anchor="ctr"/>
          <a:lstStyle/>
          <a:p>
            <a:pPr indent="0" marL="0">
              <a:lnSpc>
                <a:spcPts val="3200"/>
              </a:lnSpc>
              <a:buNone/>
            </a:pPr>
            <a:r>
              <a:rPr lang="en-US" sz="2300" dirty="0">
                <a:solidFill>
                  <a:srgbClr val="FFFFFF"/>
                </a:solidFill>
                <a:latin typeface="Cambria" pitchFamily="34" charset="0"/>
                <a:ea typeface="Cambria" pitchFamily="34" charset="-122"/>
                <a:cs typeface="Cambria" pitchFamily="34" charset="-120"/>
              </a:rPr>
              <a:t>Design and verification are complete and reproducible. Integration measurement has already sharpened the research question. What remains is two synthesis runs, one board session, and arithmetic.</a:t>
            </a:r>
            <a:endParaRPr lang="en-US" sz="2300" dirty="0"/>
          </a:p>
        </p:txBody>
      </p:sp>
      <p:sp>
        <p:nvSpPr>
          <p:cNvPr id="12" name="Shape 10"/>
          <p:cNvSpPr/>
          <p:nvPr/>
        </p:nvSpPr>
        <p:spPr>
          <a:xfrm>
            <a:off x="822960" y="4352544"/>
            <a:ext cx="3383280" cy="1005840"/>
          </a:xfrm>
          <a:prstGeom prst="roundRect">
            <a:avLst>
              <a:gd name="adj" fmla="val 4545"/>
            </a:avLst>
          </a:prstGeom>
          <a:solidFill>
            <a:srgbClr val="222831"/>
          </a:solidFill>
          <a:ln/>
        </p:spPr>
      </p:sp>
      <p:sp>
        <p:nvSpPr>
          <p:cNvPr id="13" name="Text 11"/>
          <p:cNvSpPr/>
          <p:nvPr/>
        </p:nvSpPr>
        <p:spPr>
          <a:xfrm>
            <a:off x="1042416" y="4498848"/>
            <a:ext cx="2971800" cy="274320"/>
          </a:xfrm>
          <a:prstGeom prst="rect">
            <a:avLst/>
          </a:prstGeom>
          <a:noFill/>
          <a:ln/>
        </p:spPr>
        <p:txBody>
          <a:bodyPr wrap="square" lIns="0" tIns="0" rIns="0" bIns="0" rtlCol="0" anchor="ctr"/>
          <a:lstStyle/>
          <a:p>
            <a:pPr indent="0" marL="0">
              <a:buNone/>
            </a:pPr>
            <a:r>
              <a:rPr lang="en-US" sz="1200" b="1" dirty="0">
                <a:solidFill>
                  <a:srgbClr val="00A39B"/>
                </a:solidFill>
                <a:latin typeface="Calibri" pitchFamily="34" charset="0"/>
                <a:ea typeface="Calibri" pitchFamily="34" charset="-122"/>
                <a:cs typeface="Calibri" pitchFamily="34" charset="-120"/>
              </a:rPr>
              <a:t>Board access</a:t>
            </a:r>
            <a:endParaRPr lang="en-US" sz="1200" dirty="0"/>
          </a:p>
        </p:txBody>
      </p:sp>
      <p:sp>
        <p:nvSpPr>
          <p:cNvPr id="14" name="Text 12"/>
          <p:cNvSpPr/>
          <p:nvPr/>
        </p:nvSpPr>
        <p:spPr>
          <a:xfrm>
            <a:off x="1042416" y="4791456"/>
            <a:ext cx="2971800" cy="457200"/>
          </a:xfrm>
          <a:prstGeom prst="rect">
            <a:avLst/>
          </a:prstGeom>
          <a:noFill/>
          <a:ln/>
        </p:spPr>
        <p:txBody>
          <a:bodyPr wrap="square" lIns="0" tIns="0" rIns="0" bIns="0" rtlCol="0" anchor="ctr"/>
          <a:lstStyle/>
          <a:p>
            <a:pPr indent="0" marL="0">
              <a:buNone/>
            </a:pPr>
            <a:r>
              <a:rPr lang="en-US" sz="1050" dirty="0">
                <a:solidFill>
                  <a:srgbClr val="D3DBE2"/>
                </a:solidFill>
                <a:latin typeface="Calibri" pitchFamily="34" charset="0"/>
                <a:ea typeface="Calibri" pitchFamily="34" charset="-122"/>
                <a:cs typeface="Calibri" pitchFamily="34" charset="-120"/>
              </a:rPr>
              <a:t>ZedBoard for Weeks 8-9</a:t>
            </a:r>
            <a:endParaRPr lang="en-US" sz="1050" dirty="0"/>
          </a:p>
        </p:txBody>
      </p:sp>
      <p:sp>
        <p:nvSpPr>
          <p:cNvPr id="15" name="Shape 13"/>
          <p:cNvSpPr/>
          <p:nvPr/>
        </p:nvSpPr>
        <p:spPr>
          <a:xfrm>
            <a:off x="4480560" y="4352544"/>
            <a:ext cx="3383280" cy="1005840"/>
          </a:xfrm>
          <a:prstGeom prst="roundRect">
            <a:avLst>
              <a:gd name="adj" fmla="val 4545"/>
            </a:avLst>
          </a:prstGeom>
          <a:solidFill>
            <a:srgbClr val="222831"/>
          </a:solidFill>
          <a:ln/>
        </p:spPr>
      </p:sp>
      <p:sp>
        <p:nvSpPr>
          <p:cNvPr id="16" name="Text 14"/>
          <p:cNvSpPr/>
          <p:nvPr/>
        </p:nvSpPr>
        <p:spPr>
          <a:xfrm>
            <a:off x="4700016" y="4498848"/>
            <a:ext cx="2971800" cy="274320"/>
          </a:xfrm>
          <a:prstGeom prst="rect">
            <a:avLst/>
          </a:prstGeom>
          <a:noFill/>
          <a:ln/>
        </p:spPr>
        <p:txBody>
          <a:bodyPr wrap="square" lIns="0" tIns="0" rIns="0" bIns="0" rtlCol="0" anchor="ctr"/>
          <a:lstStyle/>
          <a:p>
            <a:pPr indent="0" marL="0">
              <a:buNone/>
            </a:pPr>
            <a:r>
              <a:rPr lang="en-US" sz="1200" b="1" dirty="0">
                <a:solidFill>
                  <a:srgbClr val="00A39B"/>
                </a:solidFill>
                <a:latin typeface="Calibri" pitchFamily="34" charset="0"/>
                <a:ea typeface="Calibri" pitchFamily="34" charset="-122"/>
                <a:cs typeface="Calibri" pitchFamily="34" charset="-120"/>
              </a:rPr>
              <a:t>Confirmation</a:t>
            </a:r>
            <a:endParaRPr lang="en-US" sz="1200" dirty="0"/>
          </a:p>
        </p:txBody>
      </p:sp>
      <p:sp>
        <p:nvSpPr>
          <p:cNvPr id="17" name="Text 15"/>
          <p:cNvSpPr/>
          <p:nvPr/>
        </p:nvSpPr>
        <p:spPr>
          <a:xfrm>
            <a:off x="4700016" y="4791456"/>
            <a:ext cx="2971800" cy="457200"/>
          </a:xfrm>
          <a:prstGeom prst="rect">
            <a:avLst/>
          </a:prstGeom>
          <a:noFill/>
          <a:ln/>
        </p:spPr>
        <p:txBody>
          <a:bodyPr wrap="square" lIns="0" tIns="0" rIns="0" bIns="0" rtlCol="0" anchor="ctr"/>
          <a:lstStyle/>
          <a:p>
            <a:pPr indent="0" marL="0">
              <a:buNone/>
            </a:pPr>
            <a:r>
              <a:rPr lang="en-US" sz="1050" dirty="0">
                <a:solidFill>
                  <a:srgbClr val="D3DBE2"/>
                </a:solidFill>
                <a:latin typeface="Calibri" pitchFamily="34" charset="0"/>
                <a:ea typeface="Calibri" pitchFamily="34" charset="-122"/>
                <a:cs typeface="Calibri" pitchFamily="34" charset="-120"/>
              </a:rPr>
              <a:t>Is the revised 0.624 threshold accepted?</a:t>
            </a:r>
            <a:endParaRPr lang="en-US" sz="1050" dirty="0"/>
          </a:p>
        </p:txBody>
      </p:sp>
      <p:sp>
        <p:nvSpPr>
          <p:cNvPr id="18" name="Shape 16"/>
          <p:cNvSpPr/>
          <p:nvPr/>
        </p:nvSpPr>
        <p:spPr>
          <a:xfrm>
            <a:off x="8138160" y="4352544"/>
            <a:ext cx="3383280" cy="1005840"/>
          </a:xfrm>
          <a:prstGeom prst="roundRect">
            <a:avLst>
              <a:gd name="adj" fmla="val 4545"/>
            </a:avLst>
          </a:prstGeom>
          <a:solidFill>
            <a:srgbClr val="222831"/>
          </a:solidFill>
          <a:ln/>
        </p:spPr>
      </p:sp>
      <p:sp>
        <p:nvSpPr>
          <p:cNvPr id="19" name="Text 17"/>
          <p:cNvSpPr/>
          <p:nvPr/>
        </p:nvSpPr>
        <p:spPr>
          <a:xfrm>
            <a:off x="8357616" y="4498848"/>
            <a:ext cx="2971800" cy="274320"/>
          </a:xfrm>
          <a:prstGeom prst="rect">
            <a:avLst/>
          </a:prstGeom>
          <a:noFill/>
          <a:ln/>
        </p:spPr>
        <p:txBody>
          <a:bodyPr wrap="square" lIns="0" tIns="0" rIns="0" bIns="0" rtlCol="0" anchor="ctr"/>
          <a:lstStyle/>
          <a:p>
            <a:pPr indent="0" marL="0">
              <a:buNone/>
            </a:pPr>
            <a:r>
              <a:rPr lang="en-US" sz="1200" b="1" dirty="0">
                <a:solidFill>
                  <a:srgbClr val="00A39B"/>
                </a:solidFill>
                <a:latin typeface="Calibri" pitchFamily="34" charset="0"/>
                <a:ea typeface="Calibri" pitchFamily="34" charset="-122"/>
                <a:cs typeface="Calibri" pitchFamily="34" charset="-120"/>
              </a:rPr>
              <a:t>Review 3 scope</a:t>
            </a:r>
            <a:endParaRPr lang="en-US" sz="1200" dirty="0"/>
          </a:p>
        </p:txBody>
      </p:sp>
      <p:sp>
        <p:nvSpPr>
          <p:cNvPr id="20" name="Text 18"/>
          <p:cNvSpPr/>
          <p:nvPr/>
        </p:nvSpPr>
        <p:spPr>
          <a:xfrm>
            <a:off x="8357616" y="4791456"/>
            <a:ext cx="2971800" cy="457200"/>
          </a:xfrm>
          <a:prstGeom prst="rect">
            <a:avLst/>
          </a:prstGeom>
          <a:noFill/>
          <a:ln/>
        </p:spPr>
        <p:txBody>
          <a:bodyPr wrap="square" lIns="0" tIns="0" rIns="0" bIns="0" rtlCol="0" anchor="ctr"/>
          <a:lstStyle/>
          <a:p>
            <a:pPr indent="0" marL="0">
              <a:buNone/>
            </a:pPr>
            <a:r>
              <a:rPr lang="en-US" sz="1050" dirty="0">
                <a:solidFill>
                  <a:srgbClr val="D3DBE2"/>
                </a:solidFill>
                <a:latin typeface="Calibri" pitchFamily="34" charset="0"/>
                <a:ea typeface="Calibri" pitchFamily="34" charset="-122"/>
                <a:cs typeface="Calibri" pitchFamily="34" charset="-120"/>
              </a:rPr>
              <a:t>Full results, or results plus live demo?</a:t>
            </a:r>
            <a:endParaRPr lang="en-US" sz="1050" dirty="0"/>
          </a:p>
        </p:txBody>
      </p:sp>
      <p:sp>
        <p:nvSpPr>
          <p:cNvPr id="21" name="Text 19"/>
          <p:cNvSpPr/>
          <p:nvPr/>
        </p:nvSpPr>
        <p:spPr>
          <a:xfrm>
            <a:off x="822960" y="5632704"/>
            <a:ext cx="1051560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Thank you  —  questions welcome</a:t>
            </a:r>
            <a:endParaRPr lang="en-US" sz="1800" dirty="0"/>
          </a:p>
        </p:txBody>
      </p:sp>
      <p:sp>
        <p:nvSpPr>
          <p:cNvPr id="22" name="Text 20"/>
          <p:cNvSpPr/>
          <p:nvPr/>
        </p:nvSpPr>
        <p:spPr>
          <a:xfrm>
            <a:off x="822960" y="6016752"/>
            <a:ext cx="10515600" cy="274320"/>
          </a:xfrm>
          <a:prstGeom prst="rect">
            <a:avLst/>
          </a:prstGeom>
          <a:noFill/>
          <a:ln/>
        </p:spPr>
        <p:txBody>
          <a:bodyPr wrap="square" lIns="0" tIns="0" rIns="0" bIns="0" rtlCol="0" anchor="ctr"/>
          <a:lstStyle/>
          <a:p>
            <a:pPr indent="0" marL="0">
              <a:buNone/>
            </a:pPr>
            <a:r>
              <a:rPr lang="en-US" sz="1100" dirty="0">
                <a:solidFill>
                  <a:srgbClr val="7A848E"/>
                </a:solidFill>
                <a:latin typeface="Calibri" pitchFamily="34" charset="0"/>
                <a:ea typeface="Calibri" pitchFamily="34" charset="-122"/>
                <a:cs typeface="Calibri" pitchFamily="34" charset="-120"/>
              </a:rPr>
              <a:t>Amritha S  ·  23BEC1368  ·  amritha.s2023@vitstudent.ac.in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SHA-256 Accelerator — Review 2 Progress</dc:title>
  <dc:subject>PptxGenJS Presentation</dc:subject>
  <dc:creator>Amritha S</dc:creator>
  <cp:lastModifiedBy>Amritha S</cp:lastModifiedBy>
  <cp:revision>1</cp:revision>
  <dcterms:created xsi:type="dcterms:W3CDTF">2026-07-28T04:37:34Z</dcterms:created>
  <dcterms:modified xsi:type="dcterms:W3CDTF">2026-07-28T04:37:34Z</dcterms:modified>
</cp:coreProperties>
</file>