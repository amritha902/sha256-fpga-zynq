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B7078"/>
                </a:solidFill>
                <a:latin typeface="Arial"/>
              </a:rPr>
              <a:t>Fmax (MHz)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Fmax (MHz)</c:v>
                </c:pt>
              </c:strCache>
            </c:strRef>
          </c:tx>
          <c:spPr>
            <a:solidFill>
              <a:srgbClr val="2B33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3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B′</c:v>
                  </c:pt>
                  <c:pt idx="3">
                    <c:v>C</c:v>
                  </c:pt>
                  <c:pt idx="4">
                    <c:v>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68.24</c:v>
                </c:pt>
                <c:pt idx="1">
                  <c:v>45.92</c:v>
                </c:pt>
                <c:pt idx="2">
                  <c:v>44.41</c:v>
                </c:pt>
                <c:pt idx="3">
                  <c:v>68.2</c:v>
                </c:pt>
                <c:pt idx="4">
                  <c:v>40.18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33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6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Logic (ns)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</c:v>
                </c:pt>
                <c:pt idx="1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Routing (ns)</c:v>
                </c:pt>
              </c:strCache>
            </c:strRef>
          </c:tx>
          <c:spPr>
            <a:solidFill>
              <a:srgbClr val="8A90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10.9</c:v>
                </c:pt>
                <c:pt idx="1">
                  <c:v>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0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</c:v>
                </c:pt>
              </c:strCache>
            </c:strRef>
          </c:tx>
          <c:spPr>
            <a:solidFill>
              <a:srgbClr val="C1440E"/>
            </a:solidFill>
            <a:ln w="25400" cap="flat">
              <a:solidFill>
                <a:srgbClr val="C144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1440E"/>
              </a:solidFill>
              <a:ln w="9525" cap="flat">
                <a:solidFill>
                  <a:srgbClr val="C144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0.5506</c:v>
                </c:pt>
                <c:pt idx="1">
                  <c:v>0.8461</c:v>
                </c:pt>
                <c:pt idx="2">
                  <c:v>1.089</c:v>
                </c:pt>
                <c:pt idx="3">
                  <c:v>1.8387</c:v>
                </c:pt>
                <c:pt idx="4">
                  <c:v>2.4562</c:v>
                </c:pt>
                <c:pt idx="5">
                  <c:v>3.3595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Fit 0.2110 + 0.3169 N</c:v>
                </c:pt>
              </c:strCache>
            </c:strRef>
          </c:tx>
          <c:spPr>
            <a:solidFill>
              <a:srgbClr val="8A9099"/>
            </a:solidFill>
            <a:ln w="25400" cap="flat">
              <a:solidFill>
                <a:srgbClr val="8A90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099"/>
              </a:solidFill>
              <a:ln w="9525" cap="flat">
                <a:solidFill>
                  <a:srgbClr val="8A90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7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0.5279</c:v>
                </c:pt>
                <c:pt idx="1">
                  <c:v>0.8448</c:v>
                </c:pt>
                <c:pt idx="2">
                  <c:v>1.1617</c:v>
                </c:pt>
                <c:pt idx="3">
                  <c:v>1.7955</c:v>
                </c:pt>
                <c:pt idx="4">
                  <c:v>2.4293</c:v>
                </c:pt>
                <c:pt idx="5">
                  <c:v>3.38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0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078"/>
                    </a:solidFill>
                    <a:latin typeface="Arial"/>
                  </a:rPr>
                  <a:t>adders in series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0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078"/>
                    </a:solidFill>
                    <a:latin typeface="Arial"/>
                  </a:rPr>
                  <a:t>delay (ns)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0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(Mbit/s)</c:v>
                </c:pt>
              </c:strCache>
            </c:strRef>
          </c:tx>
          <c:spPr>
            <a:solidFill>
              <a:srgbClr val="2B333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33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529.4</c:v>
                </c:pt>
                <c:pt idx="1">
                  <c:v>691.5</c:v>
                </c:pt>
                <c:pt idx="2">
                  <c:v>1058.1</c:v>
                </c:pt>
                <c:pt idx="3">
                  <c:v>1210.1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(Mbit/s)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33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411</c:v>
                </c:pt>
                <c:pt idx="1">
                  <c:v>443.6</c:v>
                </c:pt>
                <c:pt idx="2">
                  <c:v>684.7</c:v>
                </c:pt>
                <c:pt idx="3">
                  <c:v>587.8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2B33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6350" cap="flat">
              <a:solidFill>
                <a:srgbClr val="E6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0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3. Results of the controlled 2x2 measurement, the verification stack, the toolchain, and the patent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Absolute MHz come from the open-source timing model and are conservative; the ratios are the measurement. Seed ranges: A 64.5-70.5, B 44.5-48.2, B' 41.5-45.7, C 65.8-70.6, D 39.6-46.4.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pre-registered prediction was a net loss (ratio below 0.515). The measurement falsifies it on this flow; the thresholds themselves were not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 of unrolling is decided by how synthesis structures the T1 adder, not by unroll depth and not by the operand order written in RTL.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RTL: 103 checks for A-D plus 26 for B'. Gate-level: synthesised netlists of A, B, B', C, D under the unchanged RTL testbenches with Xilinx cell models. Formal: one round over all inputs, and the whole core over every state (4599 equivalence points). Virtual board: the bare-metal program runs against a Verilator model with real AXI4-Lite and AXI4-Stream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Accelerator on Zynq-7000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· verification · patent assessment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23BEC1368  ·  ZedBoard XC7Z020-1CLG484  ·  Review 3,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Space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module · five configurations · one constraint set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9834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160020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cycles / block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83480" y="160020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unrolled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cycles / block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30632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32461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2-message interleaved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cycles / block (eff.)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83480" y="30632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32461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+ interleaved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cycles / block (eff.)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B′ = B with h + K + W summed in parallel with the first round (operand-scheduled)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Frequency on XC7Z020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Post-route · median of 5 placement seeds · Yosys + nextpnr-xilinx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258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0.673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Fmax(B) / Fmax(A)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5146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Fmax(C) / Fmax(A)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70332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9788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4343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Fmax(B′) / Fmax(A)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Thresholds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Review 1 · not moved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7680960" cy="0"/>
          </a:xfrm>
          <a:prstGeom prst="line">
            <a:avLst/>
          </a:prstGeom>
          <a:noFill/>
          <a:ln w="19050">
            <a:solidFill>
              <a:srgbClr val="2B3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59057" y="2377440"/>
            <a:ext cx="2653423" cy="640080"/>
          </a:xfrm>
          <a:prstGeom prst="rect">
            <a:avLst/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2743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both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53491" y="2240280"/>
            <a:ext cx="0" cy="713232"/>
          </a:xfrm>
          <a:prstGeom prst="line">
            <a:avLst/>
          </a:prstGeom>
          <a:noFill/>
          <a:ln w="12700">
            <a:solidFill>
              <a:srgbClr val="2B33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99211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0.515  core break-even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59057" y="2240280"/>
            <a:ext cx="0" cy="713232"/>
          </a:xfrm>
          <a:prstGeom prst="line">
            <a:avLst/>
          </a:prstGeom>
          <a:noFill/>
          <a:ln w="12700">
            <a:solidFill>
              <a:srgbClr val="2B33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4777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  system break-even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14211" y="1828800"/>
            <a:ext cx="0" cy="1124712"/>
          </a:xfrm>
          <a:prstGeom prst="line">
            <a:avLst/>
          </a:prstGeom>
          <a:noFill/>
          <a:ln w="12700">
            <a:solidFill>
              <a:srgbClr val="6B70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73931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  ngspice, scheduled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29789" y="2697480"/>
            <a:ext cx="0" cy="521208"/>
          </a:xfrm>
          <a:prstGeom prst="line">
            <a:avLst/>
          </a:prstGeom>
          <a:noFill/>
          <a:ln w="12700">
            <a:solidFill>
              <a:srgbClr val="6B70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75509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  ngspice, serial 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01721" y="2697480"/>
            <a:ext cx="0" cy="521208"/>
          </a:xfrm>
          <a:prstGeom prst="line">
            <a:avLst/>
          </a:prstGeom>
          <a:noFill/>
          <a:ln w="12700">
            <a:solidFill>
              <a:srgbClr val="C144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1441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  B′ measured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69817" y="2697480"/>
            <a:ext cx="0" cy="932688"/>
          </a:xfrm>
          <a:prstGeom prst="line">
            <a:avLst/>
          </a:prstGeom>
          <a:noFill/>
          <a:ln w="31750">
            <a:solidFill>
              <a:srgbClr val="C1440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29537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0.673  B measured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Unrolling is a net throughput gain on this device: </a:t>
            </a:r>
            <a:pPr indent="0" marL="0">
              <a:buNone/>
            </a:pPr>
            <a:r>
              <a:rPr lang="en-US" sz="15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1.31× core, 1.08× system.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composition, post-route (seed 3)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1444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Carry-chain stages on path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· B 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0" y="219456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delay, B vs 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+30 %, not +100 %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30906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T1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 tree, not serial chain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3840480"/>
            <a:ext cx="3474720" cy="685800"/>
          </a:xfrm>
          <a:prstGeom prst="roundRect">
            <a:avLst>
              <a:gd name="adj" fmla="val 8000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3913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Hand-scheduled RTL (B′)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 · B′ ≡ B proven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Transistor-Level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· Σ1 + N chained 32-bit adders · 180 nm LEVEL-1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258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0.998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linear in chain depth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514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 → 0.680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A: serial vs scheduled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7033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0.06 %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deviation, 1 Oct 2026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and Area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level at measured Fmax · system level with measured AXI cycles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71600"/>
          <a:ext cx="29260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73152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Mb/s/LUT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DSP · 0 BRAM in every configuration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throughput: D, 2.29×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 LUT: B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runs in one command · all passing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checks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35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checks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35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checks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netlist + Icarus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proofs, B′ ≡ 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SAT + induction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on virtual board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+ unmodified main.c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build warnings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arm-none-eabi-gcc -Werror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Identified and Corrected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gate-level simulation and the virtual board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2918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Single-message hash stalled on dual-stream cores (C, 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Lone message issued as a pair; one slot unused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Testbench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 applied at the clock edge (race)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and sample 1 ns after the edge; 66 / 34 cycles confirmed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112-byte NIST vector labelled 3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to 2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was visible to the original 103 RTL checks.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Toolchain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verification flow · vendor flow for the 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this project's cloud environment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12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and gate-level simulation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0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5.020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board (RTL + firmware)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609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0.69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to LUT6 / CARRY4 · formal equivalence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91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nextpnr-xilinx + Project X-Ray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route, timing on XC7Z020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21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ngspice 42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transistor-level delay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arm-none-eabi-gcc 13.2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Cortex-A9 cross-compilation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flow (scripts ready)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737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Vivado 2022.2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design · bitstream · OOC Fmax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423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Vitis 2022.2 (XSCT)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application · JTAG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108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ZedBoard XC7Z020-1CLG484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977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board/run_zedboard.sh 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Realisation — ZedBoard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→ Vitis → JTAG → UART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PS7 + AXI DMA + accelerator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· XSA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645920"/>
            <a:ext cx="1280160" cy="0"/>
          </a:xfrm>
          <a:prstGeom prst="line">
            <a:avLst/>
          </a:prstGeom>
          <a:noFill/>
          <a:ln w="19050">
            <a:solidFill>
              <a:srgbClr val="D5D8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1371600"/>
            <a:ext cx="548640" cy="5486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Vitis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sha256_app.elf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1645920"/>
            <a:ext cx="1280160" cy="0"/>
          </a:xfrm>
          <a:prstGeom prst="line">
            <a:avLst/>
          </a:prstGeom>
          <a:noFill/>
          <a:ln w="19050">
            <a:solidFill>
              <a:srgbClr val="D5D8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371600"/>
            <a:ext cx="548640" cy="5486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JTAG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· ps7_init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· run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645920"/>
            <a:ext cx="1280160" cy="0"/>
          </a:xfrm>
          <a:prstGeom prst="line">
            <a:avLst/>
          </a:prstGeom>
          <a:noFill/>
          <a:ln w="19050">
            <a:solidFill>
              <a:srgbClr val="D5D8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1371600"/>
            <a:ext cx="548640" cy="5486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8N1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report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system build, Vitis build, JTAG run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UART transcript (virtual board, A–D)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OOC Fmax, on-board run, measured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pending: Vivado host, ZedBoard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Assessment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claim tested against prior art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claim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Two-message interleaved core (C)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Helion 2010 (commercial IP) · IBM US20250070957A1 · SHARMONY, TCHES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Unrolling with pipelining (D)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McEvoy, ISVLSI 2006 · Gamgam, ISCTürkiye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 rescheduling of 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Chaves, CHES 2006 · Yao et al., Comput. J. 2025 · Intel SHA256RNDS2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Independence of the two axes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Leiserson &amp; Saxe, Algorithmica 1991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28016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B333C"/>
          </a:solidFill>
          <a:ln w="12700">
            <a:solidFill>
              <a:srgbClr val="2B33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patentable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F3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inventive step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92240" y="2834640"/>
            <a:ext cx="2194560" cy="1783080"/>
          </a:xfrm>
          <a:prstGeom prst="roundRect">
            <a:avLst>
              <a:gd name="adj" fmla="val 4103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9718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re-test of a published result, with a measured mechanism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in the Literature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works reviewed · 2002–2026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tracked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tested against prior 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 re-tested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claim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work, XC7Z020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Unfolding ×2 raises Fmax (Suhaili &amp; Julai 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reproduce — 0.673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Unfolding ×2 raises throughput (Suhaili &amp; Julai 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reproduces — 1.31×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Serial-chain model: Fmax halves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hold — synthesis builds a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Interleaving preserves Fmax (structural)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— 0.999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3258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Unrolling clears both pre-registered thresholds on XC7Z020.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1945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not unroll depth or RTL operand order, decides the outcome.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0632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preserves Fmax; 2.00× throughput for independent messages.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9319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flow scripted; Vivado Fmax and on-board run remain.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SHA-256 Accelerator on Zynq-7000 — Results</dc:title>
  <dc:subject>PptxGenJS Presentation</dc:subject>
  <dc:creator>Amritha S (23BEC1368)</dc:creator>
  <cp:lastModifiedBy>Amritha S (23BEC1368)</cp:lastModifiedBy>
  <cp:revision>1</cp:revision>
  <dcterms:created xsi:type="dcterms:W3CDTF">2026-10-01T09:08:11Z</dcterms:created>
  <dcterms:modified xsi:type="dcterms:W3CDTF">2026-10-01T09:08:11Z</dcterms:modified>
</cp:coreProperties>
</file>